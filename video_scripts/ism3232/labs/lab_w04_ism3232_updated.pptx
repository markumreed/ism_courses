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 — INTRO</a:t>
            </a:r>
          </a:p>
          <a:p>
            <a:r>
              <a:t> </a:t>
            </a:r>
          </a:p>
          <a:p>
            <a:r>
              <a:rPr b="1"/>
              <a:t>SAY:</a:t>
            </a:r>
            <a:r>
              <a:t> </a:t>
            </a:r>
            <a:r>
              <a:t>"Lab 4 — search tools, the submission ritual, and Git. This is the single most important lab in Unit 1. The ritual we build today — format, lint, test, commit, push — is required before every major assignment for the rest of the semester. Instructors check your Git log. A missing </a:t>
            </a:r>
            <a:r>
              <a:rPr sz="1100">
                <a:latin typeface="Courier New"/>
              </a:rPr>
              <a:t>ruff</a:t>
            </a:r>
            <a:r>
              <a:t> or </a:t>
            </a:r>
            <a:r>
              <a:rPr sz="1100">
                <a:latin typeface="Courier New"/>
              </a:rPr>
              <a:t>pytest</a:t>
            </a:r>
            <a:r>
              <a:t> step is visible there, so we're building the habit correctly, right now, on camera."</a:t>
            </a:r>
          </a:p>
          <a:p>
            <a:r>
              <a:t> </a:t>
            </a:r>
          </a:p>
          <a:p>
            <a:r>
              <a:rPr b="1"/>
              <a:t>SLIDE NOTES</a:t>
            </a:r>
          </a:p>
          <a:p>
            <a:r>
              <a:t> </a:t>
            </a:r>
          </a:p>
          <a:p>
            <a:r>
              <a:t>Welcome to Lab 4: search tools, the submission ritual, and Git. Today you'll search a codebase with ripgrep, find, and tree; write and pass three pytest tests; run the full pre-submission ritual; and push to GitHub for the first time. Have your terminal open in ~/ism3232 and follow along, typing each command yourself rather than pasting. (Video runtime ~12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2</a:t>
            </a:r>
          </a:p>
          <a:p>
            <a:r>
              <a:t> </a:t>
            </a:r>
          </a:p>
          <a:p>
            <a:r>
              <a:t>This is the single most important habit of Unit 1. The ritual is the exact sequence we run before every major assignment for the rest of the semester: format, lint, test, commit, push. Point at the commit graph: your Git log is a permanent record, and instructors read it. A skipped ruff or pytest step is visible there. So we are building the habit correctly, right now, on camera. Set expectations: descriptive commit messages are graded from here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3 — Step 1 — Search file contents with ripgrep</a:t>
            </a:r>
          </a:p>
          <a:p>
            <a:r>
              <a:t> </a:t>
            </a:r>
          </a:p>
          <a:p>
            <a:r>
              <a:rPr b="1"/>
              <a:t>Step 1 — Search file contents with ripgrep</a:t>
            </a:r>
          </a:p>
          <a:p>
            <a:r>
              <a:rPr b="1"/>
              <a:t>SAY:</a:t>
            </a:r>
            <a:r>
              <a:t> </a:t>
            </a:r>
            <a:r>
              <a:t>"</a:t>
            </a:r>
            <a:r>
              <a:rPr sz="1100">
                <a:latin typeface="Courier New"/>
              </a:rPr>
              <a:t>rg</a:t>
            </a:r>
            <a:r>
              <a:t> — ripgrep — searches inside every file's contents, fast. Let's find every </a:t>
            </a:r>
            <a:r>
              <a:rPr sz="1100">
                <a:latin typeface="Courier New"/>
              </a:rPr>
              <a:t>print</a:t>
            </a:r>
            <a:r>
              <a:t> statement across the whole course folder."</a:t>
            </a:r>
          </a:p>
          <a:p>
            <a:r>
              <a:t> </a:t>
            </a:r>
          </a:p>
          <a:p>
            <a:r>
              <a:rPr b="1"/>
              <a:t>DO:</a:t>
            </a:r>
          </a:p>
          <a:p>
            <a:r>
              <a:rPr sz="1100">
                <a:latin typeface="Courier New"/>
              </a:rPr>
              <a:t>cd ~/ism3232</a:t>
            </a:r>
          </a:p>
          <a:p>
            <a:r>
              <a:rPr sz="1100">
                <a:latin typeface="Courier New"/>
              </a:rPr>
              <a:t>rg 'print'</a:t>
            </a:r>
          </a:p>
          <a:p>
            <a:r>
              <a:t> </a:t>
            </a:r>
          </a:p>
          <a:p>
            <a:r>
              <a:rPr b="1"/>
              <a:t>CHECK:</a:t>
            </a:r>
            <a:r>
              <a:t> </a:t>
            </a:r>
            <a:r>
              <a:t>A list of file paths and line numbers, each showing a line containing </a:t>
            </a:r>
            <a:r>
              <a:rPr sz="1100">
                <a:latin typeface="Courier New"/>
              </a:rPr>
              <a:t>print</a:t>
            </a:r>
            <a:r>
              <a:t> — for example, the two </a:t>
            </a:r>
            <a:r>
              <a:rPr sz="1100">
                <a:latin typeface="Courier New"/>
              </a:rPr>
              <a:t>print()</a:t>
            </a:r>
            <a:r>
              <a:t> lines from </a:t>
            </a:r>
            <a:r>
              <a:rPr sz="1100">
                <a:latin typeface="Courier New"/>
              </a:rPr>
              <a:t>module01_setup/hello_ism3232.py</a:t>
            </a:r>
            <a:r>
              <a:t>.</a:t>
            </a:r>
          </a:p>
          <a:p>
            <a:r>
              <a:t> </a:t>
            </a:r>
          </a:p>
          <a:p>
            <a:r>
              <a:rPr b="1"/>
              <a:t>FIX:</a:t>
            </a:r>
            <a:r>
              <a:t> </a:t>
            </a:r>
            <a:r>
              <a:t>If </a:t>
            </a:r>
            <a:r>
              <a:rPr sz="1100">
                <a:latin typeface="Courier New"/>
              </a:rPr>
              <a:t>rg: command not found</a:t>
            </a:r>
            <a:r>
              <a:t>, install it — macOS: </a:t>
            </a:r>
            <a:r>
              <a:rPr sz="1100">
                <a:latin typeface="Courier New"/>
              </a:rPr>
              <a:t>brew install ripgrep</a:t>
            </a:r>
            <a:r>
              <a:t>; Ubuntu: </a:t>
            </a:r>
            <a:r>
              <a:rPr sz="1100">
                <a:latin typeface="Courier New"/>
              </a:rPr>
              <a:t>sudo apt install ripgrep</a:t>
            </a:r>
            <a:r>
              <a:t>.</a:t>
            </a:r>
          </a:p>
          <a:p>
            <a:r>
              <a:t> </a:t>
            </a:r>
          </a:p>
          <a:p>
            <a:r>
              <a:rPr b="1"/>
              <a:t>Step 2 — Search for function definitions</a:t>
            </a:r>
          </a:p>
          <a:p>
            <a:r>
              <a:rPr b="1"/>
              <a:t>SAY:</a:t>
            </a:r>
            <a:r>
              <a:t> </a:t>
            </a:r>
            <a:r>
              <a:t>"Now every function definition in the whole project, in one command."</a:t>
            </a:r>
          </a:p>
          <a:p>
            <a:r>
              <a:t> </a:t>
            </a:r>
          </a:p>
          <a:p>
            <a:r>
              <a:rPr b="1"/>
              <a:t>DO:</a:t>
            </a:r>
          </a:p>
          <a:p>
            <a:r>
              <a:rPr sz="1100">
                <a:latin typeface="Courier New"/>
              </a:rPr>
              <a:t>rg 'def '</a:t>
            </a:r>
          </a:p>
          <a:p>
            <a:r>
              <a:t> </a:t>
            </a:r>
          </a:p>
          <a:p>
            <a:r>
              <a:rPr b="1"/>
              <a:t>CHECK:</a:t>
            </a:r>
            <a:r>
              <a:t> </a:t>
            </a:r>
            <a:r>
              <a:t>Lines like </a:t>
            </a:r>
            <a:r>
              <a:rPr sz="1100">
                <a:latin typeface="Courier New"/>
              </a:rPr>
              <a:t>module02_zsh/tests/test_week4.py:2:def test_always_passes():</a:t>
            </a:r>
            <a:r>
              <a:t> — file, line number, and the matching line itself.</a:t>
            </a:r>
          </a:p>
          <a:p>
            <a:r>
              <a:t> </a:t>
            </a:r>
          </a:p>
          <a:p>
            <a:r>
              <a:rPr b="1"/>
              <a:t>SLIDE NOTES</a:t>
            </a:r>
          </a:p>
          <a:p>
            <a:r>
              <a:t> </a:t>
            </a:r>
          </a:p>
          <a:p>
            <a:r>
              <a:t>Three tools, three different questions. rg (ripgrep) searches file contents: use it to find a function, a print statement, a variable across every file. find searches file names: use it to locate a file by name or extension. tree shows directory structure: use it to see the whole project at a glance. Each has an example command at the bottom of its column. Note: if rg is not found, install with brew install ripgrep (macOS) or sudo apt install ripgrep (Ubuntu).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4 — Step 4 — Search by filename with find</a:t>
            </a:r>
          </a:p>
          <a:p>
            <a:r>
              <a:t> </a:t>
            </a:r>
          </a:p>
          <a:p>
            <a:r>
              <a:rPr b="1"/>
              <a:t>SAY:</a:t>
            </a:r>
            <a:r>
              <a:t> </a:t>
            </a:r>
            <a:r>
              <a:t>"</a:t>
            </a:r>
            <a:r>
              <a:rPr sz="1100">
                <a:latin typeface="Courier New"/>
              </a:rPr>
              <a:t>rg</a:t>
            </a:r>
            <a:r>
              <a:t> searches file contents. </a:t>
            </a:r>
            <a:r>
              <a:rPr sz="1100">
                <a:latin typeface="Courier New"/>
              </a:rPr>
              <a:t>find</a:t>
            </a:r>
            <a:r>
              <a:t> searches file names. Three quick examples."</a:t>
            </a:r>
          </a:p>
          <a:p>
            <a:r>
              <a:t> </a:t>
            </a:r>
          </a:p>
          <a:p>
            <a:r>
              <a:rPr b="1"/>
              <a:t>DO:</a:t>
            </a:r>
          </a:p>
          <a:p>
            <a:r>
              <a:rPr sz="1100">
                <a:latin typeface="Courier New"/>
              </a:rPr>
              <a:t>find . -name '*.py'</a:t>
            </a:r>
          </a:p>
          <a:p>
            <a:r>
              <a:rPr sz="1100">
                <a:latin typeface="Courier New"/>
              </a:rPr>
              <a:t>find . -name '*.md'</a:t>
            </a:r>
          </a:p>
          <a:p>
            <a:r>
              <a:rPr sz="1100">
                <a:latin typeface="Courier New"/>
              </a:rPr>
              <a:t>find . -name '*.txt'</a:t>
            </a:r>
          </a:p>
          <a:p>
            <a:r>
              <a:t> </a:t>
            </a:r>
          </a:p>
          <a:p>
            <a:r>
              <a:rPr b="1"/>
              <a:t>CHECK:</a:t>
            </a:r>
            <a:r>
              <a:t> </a:t>
            </a:r>
            <a:r>
              <a:t>Three separate lists — every </a:t>
            </a:r>
            <a:r>
              <a:rPr sz="1100">
                <a:latin typeface="Courier New"/>
              </a:rPr>
              <a:t>.py</a:t>
            </a:r>
            <a:r>
              <a:t> file, every </a:t>
            </a:r>
            <a:r>
              <a:rPr sz="1100">
                <a:latin typeface="Courier New"/>
              </a:rPr>
              <a:t>.md</a:t>
            </a:r>
            <a:r>
              <a:t> file, every </a:t>
            </a:r>
            <a:r>
              <a:rPr sz="1100">
                <a:latin typeface="Courier New"/>
              </a:rPr>
              <a:t>.txt</a:t>
            </a:r>
            <a:r>
              <a:t> file in the current tree, each printed with its relative path (e.g. </a:t>
            </a:r>
            <a:r>
              <a:rPr sz="1100">
                <a:latin typeface="Courier New"/>
              </a:rPr>
              <a:t>./module01_setup/hello_ism3232.py</a:t>
            </a:r>
            <a:r>
              <a:t>).</a:t>
            </a:r>
          </a:p>
          <a:p>
            <a:r>
              <a:t> </a:t>
            </a:r>
          </a:p>
          <a:p>
            <a:r>
              <a:rPr b="1"/>
              <a:t>SLIDE NOTES</a:t>
            </a:r>
          </a:p>
          <a:p>
            <a:r>
              <a:t> </a:t>
            </a:r>
          </a:p>
          <a:p>
            <a:r>
              <a:t>The key distinction to land: find looks at the wrapper, the names of files, and ignores what is written inside. rg looks inside the documents, scanning every line of every file, extremely fast. Students often reach for the wrong one. Ask: "If I want every file ending in .py, which tool?" (find.) "If I want every place I wrote def?" (rg).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5 — Step 3 — List just the matching filenames</a:t>
            </a:r>
          </a:p>
          <a:p>
            <a:r>
              <a:t> </a:t>
            </a:r>
          </a:p>
          <a:p>
            <a:r>
              <a:rPr b="1"/>
              <a:t>Step 3 — List just the matching filenames</a:t>
            </a:r>
          </a:p>
          <a:p>
            <a:r>
              <a:rPr b="1"/>
              <a:t>SAY:</a:t>
            </a:r>
            <a:r>
              <a:t> </a:t>
            </a:r>
            <a:r>
              <a:t>"Sometimes you don't want to see every matching line — just which files contain a match. That's the </a:t>
            </a:r>
            <a:r>
              <a:rPr sz="1100">
                <a:latin typeface="Courier New"/>
              </a:rPr>
              <a:t>-l</a:t>
            </a:r>
            <a:r>
              <a:t> flag."</a:t>
            </a:r>
          </a:p>
          <a:p>
            <a:r>
              <a:t> </a:t>
            </a:r>
          </a:p>
          <a:p>
            <a:r>
              <a:rPr b="1"/>
              <a:t>DO:</a:t>
            </a:r>
          </a:p>
          <a:p>
            <a:r>
              <a:rPr sz="1100">
                <a:latin typeface="Courier New"/>
              </a:rPr>
              <a:t>rg -l 'import'</a:t>
            </a:r>
          </a:p>
          <a:p>
            <a:r>
              <a:t> </a:t>
            </a:r>
          </a:p>
          <a:p>
            <a:r>
              <a:rPr b="1"/>
              <a:t>CHECK:</a:t>
            </a:r>
            <a:r>
              <a:t> </a:t>
            </a:r>
            <a:r>
              <a:t>A short list of filenames only — no line numbers, no matched text, just paths.</a:t>
            </a:r>
          </a:p>
          <a:p>
            <a:r>
              <a:t> </a:t>
            </a:r>
          </a:p>
          <a:p>
            <a:r>
              <a:rPr b="1"/>
              <a:t>Step 5 — Visualize with tree</a:t>
            </a:r>
          </a:p>
          <a:p>
            <a:r>
              <a:rPr b="1"/>
              <a:t>SAY:</a:t>
            </a:r>
            <a:r>
              <a:t> </a:t>
            </a:r>
            <a:r>
              <a:t>"And one more look at the whole structure, three levels deep this time — deeper than the </a:t>
            </a:r>
            <a:r>
              <a:rPr sz="1100">
                <a:latin typeface="Courier New"/>
              </a:rPr>
              <a:t>-L 2</a:t>
            </a:r>
            <a:r>
              <a:t> we used in Week 2."</a:t>
            </a:r>
          </a:p>
          <a:p>
            <a:r>
              <a:t> </a:t>
            </a:r>
          </a:p>
          <a:p>
            <a:r>
              <a:rPr b="1"/>
              <a:t>DO:</a:t>
            </a:r>
          </a:p>
          <a:p>
            <a:r>
              <a:rPr sz="1100">
                <a:latin typeface="Courier New"/>
              </a:rPr>
              <a:t>tree -L 3</a:t>
            </a:r>
          </a:p>
          <a:p>
            <a:r>
              <a:t> </a:t>
            </a:r>
          </a:p>
          <a:p>
            <a:r>
              <a:rPr b="1"/>
              <a:t>CHECK:</a:t>
            </a:r>
            <a:r>
              <a:t> </a:t>
            </a:r>
            <a:r>
              <a:t>The full </a:t>
            </a:r>
            <a:r>
              <a:rPr sz="1100">
                <a:latin typeface="Courier New"/>
              </a:rPr>
              <a:t>ism3232/</a:t>
            </a:r>
            <a:r>
              <a:t> tree, now showing files inside </a:t>
            </a:r>
            <a:r>
              <a:rPr sz="1100">
                <a:latin typeface="Courier New"/>
              </a:rPr>
              <a:t>module01_setup</a:t>
            </a:r>
            <a:r>
              <a:t>, </a:t>
            </a:r>
            <a:r>
              <a:rPr sz="1100">
                <a:latin typeface="Courier New"/>
              </a:rPr>
              <a:t>module02_zsh</a:t>
            </a:r>
            <a:r>
              <a:t>, etc. — not just the folder names.</a:t>
            </a:r>
          </a:p>
          <a:p>
            <a:r>
              <a:t> </a:t>
            </a:r>
          </a:p>
          <a:p>
            <a:r>
              <a:rPr b="1"/>
              <a:t>Screenshot 1 checkpoint</a:t>
            </a:r>
          </a:p>
          <a:p>
            <a:r>
              <a:rPr b="1"/>
              <a:t>SAY:</a:t>
            </a:r>
            <a:r>
              <a:t> </a:t>
            </a:r>
            <a:r>
              <a:t>"Screenshot 1 — at least two </a:t>
            </a:r>
            <a:r>
              <a:rPr sz="1100">
                <a:latin typeface="Courier New"/>
              </a:rPr>
              <a:t>rg</a:t>
            </a:r>
            <a:r>
              <a:t> commands and their output, plus the </a:t>
            </a:r>
            <a:r>
              <a:rPr sz="1100">
                <a:latin typeface="Courier New"/>
              </a:rPr>
              <a:t>tree -L 3</a:t>
            </a:r>
            <a:r>
              <a:t> output."</a:t>
            </a:r>
          </a:p>
          <a:p>
            <a:r>
              <a:t> </a:t>
            </a:r>
          </a:p>
          <a:p>
            <a:r>
              <a:rPr b="1"/>
              <a:t>SLIDE NOTES</a:t>
            </a:r>
          </a:p>
          <a:p>
            <a:r>
              <a:t> </a:t>
            </a:r>
          </a:p>
          <a:p>
            <a:r>
              <a:t>Anatomy of a command: the binary is the tool you're running (rg), the flag modifies its behavior (-l), and the argument is what the tool acts on ('import'). Here -l tells ripgrep to print only the filenames that contain a match, skipping line numbers and matched text. Useful when you only care which files, not which 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6 — Step 6 — Set up the tests folder</a:t>
            </a:r>
          </a:p>
          <a:p>
            <a:r>
              <a:t> </a:t>
            </a:r>
          </a:p>
          <a:p>
            <a:r>
              <a:rPr b="1"/>
              <a:t>Step 6 — Set up the tests folder</a:t>
            </a:r>
          </a:p>
          <a:p>
            <a:r>
              <a:rPr b="1"/>
              <a:t>SAY:</a:t>
            </a:r>
            <a:r>
              <a:t> </a:t>
            </a:r>
            <a:r>
              <a:t>"We're adding real tests to </a:t>
            </a:r>
            <a:r>
              <a:rPr sz="1100">
                <a:latin typeface="Courier New"/>
              </a:rPr>
              <a:t>module02_zsh</a:t>
            </a:r>
            <a:r>
              <a:t> now. Activate the venv first — pytest lives inside it, remember."</a:t>
            </a:r>
          </a:p>
          <a:p>
            <a:r>
              <a:t> </a:t>
            </a:r>
          </a:p>
          <a:p>
            <a:r>
              <a:rPr b="1"/>
              <a:t>DO:</a:t>
            </a:r>
          </a:p>
          <a:p>
            <a:r>
              <a:rPr sz="1100">
                <a:latin typeface="Courier New"/>
              </a:rPr>
              <a:t>cd ~/ism3232/module02_zsh</a:t>
            </a:r>
          </a:p>
          <a:p>
            <a:r>
              <a:rPr sz="1100">
                <a:latin typeface="Courier New"/>
              </a:rPr>
              <a:t>source .venv/bin/activate</a:t>
            </a:r>
          </a:p>
          <a:p>
            <a:r>
              <a:rPr sz="1100">
                <a:latin typeface="Courier New"/>
              </a:rPr>
              <a:t>mkdir -p tests</a:t>
            </a:r>
          </a:p>
          <a:p>
            <a:r>
              <a:rPr sz="1100">
                <a:latin typeface="Courier New"/>
              </a:rPr>
              <a:t>touch tests/__init__.py tests/test_week4.py</a:t>
            </a:r>
          </a:p>
          <a:p>
            <a:r>
              <a:rPr sz="1100">
                <a:latin typeface="Courier New"/>
              </a:rPr>
              <a:t>code tests/test_week4.py</a:t>
            </a:r>
          </a:p>
          <a:p>
            <a:r>
              <a:t> </a:t>
            </a:r>
          </a:p>
          <a:p>
            <a:r>
              <a:rPr b="1"/>
              <a:t>CHECK:</a:t>
            </a:r>
            <a:r>
              <a:t> </a:t>
            </a:r>
            <a:r>
              <a:t>Prompt shows </a:t>
            </a:r>
            <a:r>
              <a:rPr sz="1100">
                <a:latin typeface="Courier New"/>
              </a:rPr>
              <a:t>(.venv)</a:t>
            </a:r>
            <a:r>
              <a:t>, and </a:t>
            </a:r>
            <a:r>
              <a:rPr sz="1100">
                <a:latin typeface="Courier New"/>
              </a:rPr>
              <a:t>ls tests/</a:t>
            </a:r>
            <a:r>
              <a:t> shows two files: </a:t>
            </a:r>
            <a:r>
              <a:rPr sz="1100">
                <a:latin typeface="Courier New"/>
              </a:rPr>
              <a:t>__init__.py</a:t>
            </a:r>
            <a:r>
              <a:t> and </a:t>
            </a:r>
            <a:r>
              <a:rPr sz="1100">
                <a:latin typeface="Courier New"/>
              </a:rPr>
              <a:t>test_week4.py</a:t>
            </a:r>
            <a:r>
              <a:t>.</a:t>
            </a:r>
          </a:p>
          <a:p>
            <a:r>
              <a:t> </a:t>
            </a:r>
          </a:p>
          <a:p>
            <a:r>
              <a:rPr b="1"/>
              <a:t>Step 7 — Type all three tests</a:t>
            </a:r>
          </a:p>
          <a:p>
            <a:r>
              <a:rPr b="1"/>
              <a:t>SAY:</a:t>
            </a:r>
            <a:r>
              <a:t> </a:t>
            </a:r>
            <a:r>
              <a:t>"Three tests, each checking something different — a pure math fact, a string property, and a path-splitting operation. Type them in, don't paste."</a:t>
            </a:r>
          </a:p>
          <a:p>
            <a:r>
              <a:t> </a:t>
            </a:r>
          </a:p>
          <a:p>
            <a:r>
              <a:rPr b="1"/>
              <a:t>DO:</a:t>
            </a:r>
          </a:p>
          <a:p>
            <a:r>
              <a:rPr sz="1100">
                <a:latin typeface="Courier New"/>
              </a:rPr>
              <a:t># tests/test_week4.py</a:t>
            </a:r>
          </a:p>
          <a:p>
            <a:r>
              <a:rPr sz="1100">
                <a:latin typeface="Courier New"/>
              </a:rPr>
              <a:t> </a:t>
            </a:r>
          </a:p>
          <a:p>
            <a:r>
              <a:rPr sz="1100">
                <a:latin typeface="Courier New"/>
              </a:rPr>
              <a:t>def test_always_passes():</a:t>
            </a:r>
          </a:p>
          <a:p>
            <a:r>
              <a:rPr sz="1100">
                <a:latin typeface="Courier New"/>
              </a:rPr>
              <a:t>    assert 2 + 2 == 4</a:t>
            </a:r>
          </a:p>
          <a:p>
            <a:r>
              <a:rPr sz="1100">
                <a:latin typeface="Courier New"/>
              </a:rPr>
              <a:t> </a:t>
            </a:r>
          </a:p>
          <a:p>
            <a:r>
              <a:rPr sz="1100">
                <a:latin typeface="Courier New"/>
              </a:rPr>
              <a:t> </a:t>
            </a:r>
          </a:p>
          <a:p>
            <a:r>
              <a:rPr sz="1100">
                <a:latin typeface="Courier New"/>
              </a:rPr>
              <a:t>def test_string_is_lowercase():</a:t>
            </a:r>
          </a:p>
          <a:p>
            <a:r>
              <a:rPr sz="1100">
                <a:latin typeface="Courier New"/>
              </a:rPr>
              <a:t>    name = 'ism3232'</a:t>
            </a:r>
          </a:p>
          <a:p>
            <a:r>
              <a:rPr sz="1100">
                <a:latin typeface="Courier New"/>
              </a:rPr>
              <a:t>    assert name == name.lower()</a:t>
            </a:r>
          </a:p>
          <a:p>
            <a:r>
              <a:rPr sz="1100">
                <a:latin typeface="Courier New"/>
              </a:rPr>
              <a:t> </a:t>
            </a:r>
          </a:p>
          <a:p>
            <a:r>
              <a:rPr sz="1100">
                <a:latin typeface="Courier New"/>
              </a:rPr>
              <a:t> </a:t>
            </a:r>
          </a:p>
          <a:p>
            <a:r>
              <a:rPr sz="1100">
                <a:latin typeface="Courier New"/>
              </a:rPr>
              <a:t>def test_path_segments():</a:t>
            </a:r>
          </a:p>
          <a:p>
            <a:r>
              <a:rPr sz="1100">
                <a:latin typeface="Courier New"/>
              </a:rPr>
              <a:t>    path = '/Users/yourname/ism3232/module02_zsh'</a:t>
            </a:r>
          </a:p>
          <a:p>
            <a:r>
              <a:rPr sz="1100">
                <a:latin typeface="Courier New"/>
              </a:rPr>
              <a:t>    parts = path.split('/')</a:t>
            </a:r>
          </a:p>
          <a:p>
            <a:r>
              <a:rPr sz="1100">
                <a:latin typeface="Courier New"/>
              </a:rPr>
              <a:t>    assert 'ism3232' in parts</a:t>
            </a:r>
          </a:p>
          <a:p>
            <a:r>
              <a:t> </a:t>
            </a:r>
          </a:p>
          <a:p>
            <a:r>
              <a:rPr b="1"/>
              <a:t>CHECK:</a:t>
            </a:r>
            <a:r>
              <a:t> </a:t>
            </a:r>
            <a:r>
              <a:t>Read each test out loud before running it: "Test one — trivially, 2 plus 2 is 4. Test two — </a:t>
            </a:r>
            <a:r>
              <a:rPr sz="1100">
                <a:latin typeface="Courier New"/>
              </a:rPr>
              <a:t>'ism3232'</a:t>
            </a:r>
            <a:r>
              <a:t> is already all lowercase, so it equals its own </a:t>
            </a:r>
            <a:r>
              <a:rPr sz="1100">
                <a:latin typeface="Courier New"/>
              </a:rPr>
              <a:t>.lower()</a:t>
            </a:r>
            <a:r>
              <a:t>. Test three — splitting that path on </a:t>
            </a:r>
            <a:r>
              <a:rPr sz="1100">
                <a:latin typeface="Courier New"/>
              </a:rPr>
              <a:t>/</a:t>
            </a:r>
            <a:r>
              <a:t> gives a list of segments, and </a:t>
            </a:r>
            <a:r>
              <a:rPr sz="1100">
                <a:latin typeface="Courier New"/>
              </a:rPr>
              <a:t>'ism3232'</a:t>
            </a:r>
            <a:r>
              <a:t> must be one of them."</a:t>
            </a:r>
          </a:p>
          <a:p>
            <a:r>
              <a:t> </a:t>
            </a:r>
          </a:p>
          <a:p>
            <a:r>
              <a:rPr b="1"/>
              <a:t>SLIDE NOTES</a:t>
            </a:r>
          </a:p>
          <a:p>
            <a:r>
              <a:t> </a:t>
            </a:r>
          </a:p>
          <a:p>
            <a:r>
              <a:t>Now we add real tests to module02_zsh. First activate the venv, because pytest lives inside it: cd ~/ism3232/module02_zsh, source .venv/bin/activate, mkdir -p tests, touch tests/__init__.py tests/test_week4.py, code tests/test_week4.py. Check for the (.venv) prompt and two files in tests/.</a:t>
            </a:r>
          </a:p>
          <a:p>
            <a:r>
              <a:t> </a:t>
            </a:r>
          </a:p>
          <a:p>
            <a:r>
              <a:t>Test one, the math fact, is a sanity check that the test runner itself works. Test two, the string property: 'ism3232' equals its own .lower(). Test three, the path segment: splitting the path on '/' gives a list, and 'ism3232' must be in it. Have students read each test aloud before running. Type them, don't paste.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7 — Step 8 — Run pytest and confirm all three pass</a:t>
            </a:r>
          </a:p>
          <a:p>
            <a:r>
              <a:t> </a:t>
            </a:r>
          </a:p>
          <a:p>
            <a:r>
              <a:rPr b="1"/>
              <a:t>SAY:</a:t>
            </a:r>
            <a:r>
              <a:t> </a:t>
            </a:r>
            <a:r>
              <a:t>"Moment of truth — run it."</a:t>
            </a:r>
          </a:p>
          <a:p>
            <a:r>
              <a:t> </a:t>
            </a:r>
          </a:p>
          <a:p>
            <a:r>
              <a:rPr b="1"/>
              <a:t>DO:</a:t>
            </a:r>
          </a:p>
          <a:p>
            <a:r>
              <a:rPr sz="1100">
                <a:latin typeface="Courier New"/>
              </a:rPr>
              <a:t>pytest -v</a:t>
            </a:r>
          </a:p>
          <a:p>
            <a:r>
              <a:t> </a:t>
            </a:r>
          </a:p>
          <a:p>
            <a:r>
              <a:rPr b="1"/>
              <a:t>CHECK:</a:t>
            </a:r>
          </a:p>
          <a:p>
            <a:r>
              <a:rPr sz="1100">
                <a:latin typeface="Courier New"/>
              </a:rPr>
              <a:t>tests/test_week4.py::test_always_passes PASSED</a:t>
            </a:r>
          </a:p>
          <a:p>
            <a:r>
              <a:rPr sz="1100">
                <a:latin typeface="Courier New"/>
              </a:rPr>
              <a:t>tests/test_week4.py::test_string_is_lowercase PASSED</a:t>
            </a:r>
          </a:p>
          <a:p>
            <a:r>
              <a:rPr sz="1100">
                <a:latin typeface="Courier New"/>
              </a:rPr>
              <a:t>tests/test_week4.py::test_path_segments PASSED</a:t>
            </a:r>
          </a:p>
          <a:p>
            <a:r>
              <a:rPr sz="1100">
                <a:latin typeface="Courier New"/>
              </a:rPr>
              <a:t> </a:t>
            </a:r>
          </a:p>
          <a:p>
            <a:r>
              <a:rPr sz="1100">
                <a:latin typeface="Courier New"/>
              </a:rPr>
              <a:t>======================== 3 passed in 0.01s ========================</a:t>
            </a:r>
          </a:p>
          <a:p>
            <a:r>
              <a:t> </a:t>
            </a:r>
          </a:p>
          <a:p>
            <a:r>
              <a:rPr b="1"/>
              <a:t>FIX:</a:t>
            </a:r>
            <a:r>
              <a:t> </a:t>
            </a:r>
            <a:r>
              <a:t>If </a:t>
            </a:r>
            <a:r>
              <a:rPr sz="1100">
                <a:latin typeface="Courier New"/>
              </a:rPr>
              <a:t>test_path_segments</a:t>
            </a:r>
            <a:r>
              <a:t> fails, print the actual </a:t>
            </a:r>
            <a:r>
              <a:rPr sz="1100">
                <a:latin typeface="Courier New"/>
              </a:rPr>
              <a:t>parts</a:t>
            </a:r>
            <a:r>
              <a:t> list with a debug </a:t>
            </a:r>
            <a:r>
              <a:rPr sz="1100">
                <a:latin typeface="Courier New"/>
              </a:rPr>
              <a:t>print(parts)</a:t>
            </a:r>
            <a:r>
              <a:t> above the </a:t>
            </a:r>
            <a:r>
              <a:rPr sz="1100">
                <a:latin typeface="Courier New"/>
              </a:rPr>
              <a:t>assert</a:t>
            </a:r>
            <a:r>
              <a:t> and re-run with </a:t>
            </a:r>
            <a:r>
              <a:rPr sz="1100">
                <a:latin typeface="Courier New"/>
              </a:rPr>
              <a:t>pytest -v -s</a:t>
            </a:r>
            <a:r>
              <a:t> (the </a:t>
            </a:r>
            <a:r>
              <a:rPr sz="1100">
                <a:latin typeface="Courier New"/>
              </a:rPr>
              <a:t>-s</a:t>
            </a:r>
            <a:r>
              <a:t> flag lets </a:t>
            </a:r>
            <a:r>
              <a:rPr sz="1100">
                <a:latin typeface="Courier New"/>
              </a:rPr>
              <a:t>print()</a:t>
            </a:r>
            <a:r>
              <a:t> output show) to see exactly what </a:t>
            </a:r>
            <a:r>
              <a:rPr sz="1100">
                <a:latin typeface="Courier New"/>
              </a:rPr>
              <a:t>.split('/')</a:t>
            </a:r>
            <a:r>
              <a:t> produced.</a:t>
            </a:r>
          </a:p>
          <a:p>
            <a:r>
              <a:t> </a:t>
            </a:r>
          </a:p>
          <a:p>
            <a:r>
              <a:rPr b="1"/>
              <a:t>SLIDE NOTES</a:t>
            </a:r>
          </a:p>
          <a:p>
            <a:r>
              <a:t> </a:t>
            </a:r>
          </a:p>
          <a:p>
            <a:r>
              <a:t>Moment of truth: run pytest -v. Expect all three PASSED and a summary line "3 passed in 0.01s".</a:t>
            </a:r>
          </a:p>
          <a:p>
            <a:r>
              <a:t> </a:t>
            </a:r>
          </a:p>
          <a:p>
            <a:r>
              <a:t>If test_path_segments fails: add print(parts) above the assert and re-run with pytest -v -s. The -s flag lets print output show in the terminal, so you can see exactly what .split('/') produced. Common cause: a typo in the path string. Fix it before moving on; we never proceed on a red suite.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8</a:t>
            </a:r>
          </a:p>
          <a:p>
            <a:r>
              <a:t> </a:t>
            </a:r>
          </a:p>
          <a:p>
            <a:r>
              <a:t>Here is the ritual, grouped into four macro-phases so it becomes a professional habit, not rote memorization. Stage 1, Context: where am I? (pwd, tree -L 3, activate). Stage 2, Polish: is it clean? (ruff format, ruff check). Stage 3, Validate: does it work? (pytest). Stage 4, Ship: save and send (git status, add, commit, push). Ten steps, always in this order. Next four slides walk through each stage; we will then run all of it in the terminal.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9 — Step 9a — Confirm location</a:t>
            </a:r>
          </a:p>
          <a:p>
            <a:r>
              <a:t> </a:t>
            </a:r>
          </a:p>
          <a:p>
            <a:r>
              <a:rPr b="1"/>
              <a:t>Step 9a — Confirm location</a:t>
            </a:r>
          </a:p>
          <a:p>
            <a:r>
              <a:rPr b="1"/>
              <a:t>DO:</a:t>
            </a:r>
          </a:p>
          <a:p>
            <a:r>
              <a:rPr sz="1100">
                <a:latin typeface="Courier New"/>
              </a:rPr>
              <a:t>pwd</a:t>
            </a:r>
          </a:p>
          <a:p>
            <a:r>
              <a:t> </a:t>
            </a:r>
          </a:p>
          <a:p>
            <a:r>
              <a:rPr b="1"/>
              <a:t>CHECK:</a:t>
            </a:r>
          </a:p>
          <a:p>
            <a:r>
              <a:rPr sz="1100">
                <a:latin typeface="Courier New"/>
              </a:rPr>
              <a:t>/Users/yourname/ism3232/module02_zsh</a:t>
            </a:r>
          </a:p>
          <a:p>
            <a:r>
              <a:t> </a:t>
            </a:r>
          </a:p>
          <a:p>
            <a:r>
              <a:rPr b="1"/>
              <a:t>Step 9b — Confirm structure</a:t>
            </a:r>
          </a:p>
          <a:p>
            <a:r>
              <a:rPr b="1"/>
              <a:t>DO:</a:t>
            </a:r>
          </a:p>
          <a:p>
            <a:r>
              <a:rPr sz="1100">
                <a:latin typeface="Courier New"/>
              </a:rPr>
              <a:t>tree -L 3</a:t>
            </a:r>
          </a:p>
          <a:p>
            <a:r>
              <a:t> </a:t>
            </a:r>
          </a:p>
          <a:p>
            <a:r>
              <a:rPr b="1"/>
              <a:t>CHECK:</a:t>
            </a:r>
            <a:r>
              <a:t> </a:t>
            </a:r>
            <a:r>
              <a:t>Full structure including </a:t>
            </a:r>
            <a:r>
              <a:rPr sz="1100">
                <a:latin typeface="Courier New"/>
              </a:rPr>
              <a:t>.venv/</a:t>
            </a:r>
            <a:r>
              <a:t>, </a:t>
            </a:r>
            <a:r>
              <a:rPr sz="1100">
                <a:latin typeface="Courier New"/>
              </a:rPr>
              <a:t>tests/</a:t>
            </a:r>
            <a:r>
              <a:t>, </a:t>
            </a:r>
            <a:r>
              <a:rPr sz="1100">
                <a:latin typeface="Courier New"/>
              </a:rPr>
              <a:t>requirements.txt</a:t>
            </a:r>
            <a:r>
              <a:t>, </a:t>
            </a:r>
            <a:r>
              <a:rPr sz="1100">
                <a:latin typeface="Courier New"/>
              </a:rPr>
              <a:t>.gitignore</a:t>
            </a:r>
            <a:r>
              <a:t> — a snapshot of exactly what exists before you touch Git.</a:t>
            </a:r>
          </a:p>
          <a:p>
            <a:r>
              <a:t> </a:t>
            </a:r>
          </a:p>
          <a:p>
            <a:r>
              <a:rPr b="1"/>
              <a:t>Step 9c — Activate the venv</a:t>
            </a:r>
          </a:p>
          <a:p>
            <a:r>
              <a:rPr b="1"/>
              <a:t>DO:</a:t>
            </a:r>
          </a:p>
          <a:p>
            <a:r>
              <a:rPr sz="1100">
                <a:latin typeface="Courier New"/>
              </a:rPr>
              <a:t>source .venv/bin/activate</a:t>
            </a:r>
          </a:p>
          <a:p>
            <a:r>
              <a:t> </a:t>
            </a:r>
          </a:p>
          <a:p>
            <a:r>
              <a:rPr b="1"/>
              <a:t>CHECK:</a:t>
            </a:r>
            <a:r>
              <a:t> </a:t>
            </a:r>
            <a:r>
              <a:rPr sz="1100">
                <a:latin typeface="Courier New"/>
              </a:rPr>
              <a:t>(.venv)</a:t>
            </a:r>
            <a:r>
              <a:t> prefix appears in the prompt.</a:t>
            </a:r>
          </a:p>
          <a:p>
            <a:r>
              <a:t> </a:t>
            </a:r>
          </a:p>
          <a:p>
            <a:r>
              <a:rPr b="1"/>
              <a:t>SLIDE NOTES</a:t>
            </a:r>
          </a:p>
          <a:p>
            <a:r>
              <a:t> </a:t>
            </a:r>
          </a:p>
          <a:p>
            <a:r>
              <a:t>Run pwd to confirm your exact location (expect /Users/yourname/ism3232/module02_zsh), then tree -L 3 to snapshot what exists before you touch Git: .venv/, tests/, requirements.txt, .gitignore. Then source .venv/bin/activate. The visual cue is the (.venv) prefix on the prompt. Without it, pytest and ruff may not be found. Students who skip this step are the ones who commit from the wrong folder.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10 — Step 9d — Format the code</a:t>
            </a:r>
          </a:p>
          <a:p>
            <a:r>
              <a:t> </a:t>
            </a:r>
          </a:p>
          <a:p>
            <a:r>
              <a:rPr b="1"/>
              <a:t>Step 9d — Format the code</a:t>
            </a:r>
          </a:p>
          <a:p>
            <a:r>
              <a:rPr b="1"/>
              <a:t>SAY:</a:t>
            </a:r>
            <a:r>
              <a:t> </a:t>
            </a:r>
            <a:r>
              <a:t>"</a:t>
            </a:r>
            <a:r>
              <a:rPr sz="1100">
                <a:latin typeface="Courier New"/>
              </a:rPr>
              <a:t>ruff format</a:t>
            </a:r>
            <a:r>
              <a:t> rewrites your files to a consistent style automatically — spacing, quote style, line length."</a:t>
            </a:r>
          </a:p>
          <a:p>
            <a:r>
              <a:t> </a:t>
            </a:r>
          </a:p>
          <a:p>
            <a:r>
              <a:rPr b="1"/>
              <a:t>DO:</a:t>
            </a:r>
          </a:p>
          <a:p>
            <a:r>
              <a:rPr sz="1100">
                <a:latin typeface="Courier New"/>
              </a:rPr>
              <a:t>ruff format .</a:t>
            </a:r>
          </a:p>
          <a:p>
            <a:r>
              <a:t> </a:t>
            </a:r>
          </a:p>
          <a:p>
            <a:r>
              <a:rPr b="1"/>
              <a:t>CHECK:</a:t>
            </a:r>
          </a:p>
          <a:p>
            <a:r>
              <a:rPr sz="1100">
                <a:latin typeface="Courier New"/>
              </a:rPr>
              <a:t>2 files reformatted, 1 file left unchanged</a:t>
            </a:r>
          </a:p>
          <a:p>
            <a:r>
              <a:t>(Exact counts vary — the key output is that it ran without error.)</a:t>
            </a:r>
          </a:p>
          <a:p>
            <a:r>
              <a:t> </a:t>
            </a:r>
          </a:p>
          <a:p>
            <a:r>
              <a:rPr b="1"/>
              <a:t>Step 9e — Lint the code</a:t>
            </a:r>
          </a:p>
          <a:p>
            <a:r>
              <a:rPr b="1"/>
              <a:t>SAY:</a:t>
            </a:r>
            <a:r>
              <a:t> </a:t>
            </a:r>
            <a:r>
              <a:t>"</a:t>
            </a:r>
            <a:r>
              <a:rPr sz="1100">
                <a:latin typeface="Courier New"/>
              </a:rPr>
              <a:t>ruff check</a:t>
            </a:r>
            <a:r>
              <a:t> looks for actual problems — unused imports, undefined names — not just style."</a:t>
            </a:r>
          </a:p>
          <a:p>
            <a:r>
              <a:t> </a:t>
            </a:r>
          </a:p>
          <a:p>
            <a:r>
              <a:rPr b="1"/>
              <a:t>DO:</a:t>
            </a:r>
          </a:p>
          <a:p>
            <a:r>
              <a:rPr sz="1100">
                <a:latin typeface="Courier New"/>
              </a:rPr>
              <a:t>ruff check .</a:t>
            </a:r>
          </a:p>
          <a:p>
            <a:r>
              <a:t> </a:t>
            </a:r>
          </a:p>
          <a:p>
            <a:r>
              <a:rPr b="1"/>
              <a:t>CHECK:</a:t>
            </a:r>
          </a:p>
          <a:p>
            <a:r>
              <a:rPr sz="1100">
                <a:latin typeface="Courier New"/>
              </a:rPr>
              <a:t>All checks passed!</a:t>
            </a:r>
          </a:p>
          <a:p>
            <a:r>
              <a:t> </a:t>
            </a:r>
          </a:p>
          <a:p>
            <a:r>
              <a:rPr b="1"/>
              <a:t>FIX:</a:t>
            </a:r>
            <a:r>
              <a:t> </a:t>
            </a:r>
            <a:r>
              <a:t>If it lists errors instead, read the file:line references and fix each one before continuing — do not commit with lint errors present.</a:t>
            </a:r>
          </a:p>
          <a:p>
            <a:r>
              <a:t> </a:t>
            </a:r>
          </a:p>
          <a:p>
            <a:r>
              <a:rPr b="1"/>
              <a:t>SLIDE NOTES</a:t>
            </a:r>
          </a:p>
          <a:p>
            <a:r>
              <a:t> </a:t>
            </a:r>
          </a:p>
          <a:p>
            <a:r>
              <a:t>Stage 2 splits into two different jobs. ruff format . rewrites files to a consistent style automatically: spacing, quote style, line length. Expect something like "2 files reformatted, 1 file left unchanged"; exact counts vary, the key is no error. ruff check . looks for actual problems: unused imports, undefined names, syntax errors. Expect "All checks passed!". Warning callout: if it lists errors, read the file:line references and fix each one before continuing. Format is style; lint is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11</a:t>
            </a:r>
          </a:p>
          <a:p>
            <a:r>
              <a:t> </a:t>
            </a:r>
          </a:p>
          <a:p>
            <a:r>
              <a:t>The gateway protocol: code flows left to right through three gates before it reaches Git. Ruff format, then ruff check, then pytest. If any gate fails, the red arrows loop you back to your editor: fix errors before touching Git. The bold rule at the bottom is non-negotiable: NEVER commit on a red test suite. Gateways must pass for a safe deployment pathway. Pause here and let it sink in before running Stages 3 and 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12 — Step 9f — Run the tests</a:t>
            </a:r>
          </a:p>
          <a:p>
            <a:r>
              <a:t> </a:t>
            </a:r>
          </a:p>
          <a:p>
            <a:r>
              <a:rPr b="1"/>
              <a:t>Step 9f — Run the tests</a:t>
            </a:r>
          </a:p>
          <a:p>
            <a:r>
              <a:rPr b="1"/>
              <a:t>DO:</a:t>
            </a:r>
          </a:p>
          <a:p>
            <a:r>
              <a:rPr sz="1100">
                <a:latin typeface="Courier New"/>
              </a:rPr>
              <a:t>pytest</a:t>
            </a:r>
          </a:p>
          <a:p>
            <a:r>
              <a:t> </a:t>
            </a:r>
          </a:p>
          <a:p>
            <a:r>
              <a:rPr b="1"/>
              <a:t>CHECK:</a:t>
            </a:r>
          </a:p>
          <a:p>
            <a:r>
              <a:rPr sz="1100">
                <a:latin typeface="Courier New"/>
              </a:rPr>
              <a:t>3 passed in 0.01s</a:t>
            </a:r>
          </a:p>
          <a:p>
            <a:r>
              <a:t> </a:t>
            </a:r>
          </a:p>
          <a:p>
            <a:r>
              <a:rPr b="1"/>
              <a:t>FIX:</a:t>
            </a:r>
            <a:r>
              <a:t> </a:t>
            </a:r>
            <a:r>
              <a:t>If anything fails here, stop — go back and fix it before touching Git. Never commit on a red test suite.</a:t>
            </a:r>
          </a:p>
          <a:p>
            <a:r>
              <a:t> </a:t>
            </a:r>
          </a:p>
          <a:p>
            <a:r>
              <a:rPr b="1"/>
              <a:t>Step 9g — Check git status</a:t>
            </a:r>
          </a:p>
          <a:p>
            <a:r>
              <a:rPr b="1"/>
              <a:t>DO:</a:t>
            </a:r>
          </a:p>
          <a:p>
            <a:r>
              <a:rPr sz="1100">
                <a:latin typeface="Courier New"/>
              </a:rPr>
              <a:t>git status</a:t>
            </a:r>
          </a:p>
          <a:p>
            <a:r>
              <a:t> </a:t>
            </a:r>
          </a:p>
          <a:p>
            <a:r>
              <a:rPr b="1"/>
              <a:t>CHECK:</a:t>
            </a:r>
            <a:r>
              <a:t> </a:t>
            </a:r>
            <a:r>
              <a:t>A list of untracked/modified files — </a:t>
            </a:r>
            <a:r>
              <a:rPr sz="1100">
                <a:latin typeface="Courier New"/>
              </a:rPr>
              <a:t>tests/</a:t>
            </a:r>
            <a:r>
              <a:t>, any reformatted files, etc. — none of them should be </a:t>
            </a:r>
            <a:r>
              <a:rPr sz="1100">
                <a:latin typeface="Courier New"/>
              </a:rPr>
              <a:t>.venv/</a:t>
            </a:r>
            <a:r>
              <a:t> (that's what your Week 3 </a:t>
            </a:r>
            <a:r>
              <a:rPr sz="1100">
                <a:latin typeface="Courier New"/>
              </a:rPr>
              <a:t>.gitignore</a:t>
            </a:r>
            <a:r>
              <a:t> prevents).</a:t>
            </a:r>
          </a:p>
          <a:p>
            <a:r>
              <a:t> </a:t>
            </a:r>
          </a:p>
          <a:p>
            <a:r>
              <a:rPr b="1"/>
              <a:t>Step 9h — Stage everything</a:t>
            </a:r>
          </a:p>
          <a:p>
            <a:r>
              <a:rPr b="1"/>
              <a:t>DO:</a:t>
            </a:r>
          </a:p>
          <a:p>
            <a:r>
              <a:rPr sz="1100">
                <a:latin typeface="Courier New"/>
              </a:rPr>
              <a:t>git add .</a:t>
            </a:r>
          </a:p>
          <a:p>
            <a:r>
              <a:t> </a:t>
            </a:r>
          </a:p>
          <a:p>
            <a:r>
              <a:rPr b="1"/>
              <a:t>CHECK:</a:t>
            </a:r>
            <a:r>
              <a:t> </a:t>
            </a:r>
            <a:r>
              <a:t>No output. Re-run </a:t>
            </a:r>
            <a:r>
              <a:rPr sz="1100">
                <a:latin typeface="Courier New"/>
              </a:rPr>
              <a:t>git status</a:t>
            </a:r>
            <a:r>
              <a:t> mentally in your head — everything just staged should now show green/staged in a follow-up </a:t>
            </a:r>
            <a:r>
              <a:rPr sz="1100">
                <a:latin typeface="Courier New"/>
              </a:rPr>
              <a:t>git status</a:t>
            </a:r>
            <a:r>
              <a:t> if you want to double check.</a:t>
            </a:r>
          </a:p>
          <a:p>
            <a:r>
              <a:t> </a:t>
            </a:r>
          </a:p>
          <a:p>
            <a:r>
              <a:rPr b="1"/>
              <a:t>Step 9i — Commit with a descriptive message</a:t>
            </a:r>
          </a:p>
          <a:p>
            <a:r>
              <a:rPr b="1"/>
              <a:t>DO:</a:t>
            </a:r>
          </a:p>
          <a:p>
            <a:r>
              <a:rPr sz="1100">
                <a:latin typeface="Courier New"/>
              </a:rPr>
              <a:t>git commit -m 'lab 4: search ritual and git'</a:t>
            </a:r>
          </a:p>
          <a:p>
            <a:r>
              <a:t> </a:t>
            </a:r>
          </a:p>
          <a:p>
            <a:r>
              <a:rPr b="1"/>
              <a:t>CHECK:</a:t>
            </a:r>
          </a:p>
          <a:p>
            <a:r>
              <a:rPr sz="1100">
                <a:latin typeface="Courier New"/>
              </a:rPr>
              <a:t>[main abc1234] lab 4: search ritual and git</a:t>
            </a:r>
          </a:p>
          <a:p>
            <a:r>
              <a:rPr sz="1100">
                <a:latin typeface="Courier New"/>
              </a:rPr>
              <a:t> 4 files changed, 32 insertions(+)</a:t>
            </a:r>
          </a:p>
          <a:p>
            <a:r>
              <a:t> </a:t>
            </a:r>
          </a:p>
          <a:p>
            <a:r>
              <a:rPr b="1"/>
              <a:t>Step 9j — Push</a:t>
            </a:r>
          </a:p>
          <a:p>
            <a:r>
              <a:rPr b="1"/>
              <a:t>DO:</a:t>
            </a:r>
          </a:p>
          <a:p>
            <a:r>
              <a:rPr sz="1100">
                <a:latin typeface="Courier New"/>
              </a:rPr>
              <a:t>git push</a:t>
            </a:r>
          </a:p>
          <a:p>
            <a:r>
              <a:t> </a:t>
            </a:r>
          </a:p>
          <a:p>
            <a:r>
              <a:rPr b="1"/>
              <a:t>CHECK:</a:t>
            </a:r>
            <a:r>
              <a:t> </a:t>
            </a:r>
            <a:r>
              <a:t>Output ending in something like </a:t>
            </a:r>
            <a:r>
              <a:rPr sz="1100">
                <a:latin typeface="Courier New"/>
              </a:rPr>
              <a:t>main -&gt; main</a:t>
            </a:r>
            <a:r>
              <a:t> with no errors. (If this is your very first push, see Part 4 below first — you need a remote configured before </a:t>
            </a:r>
            <a:r>
              <a:rPr sz="1100">
                <a:latin typeface="Courier New"/>
              </a:rPr>
              <a:t>push</a:t>
            </a:r>
            <a:r>
              <a:t> works.)</a:t>
            </a:r>
          </a:p>
          <a:p>
            <a:r>
              <a:rPr b="1"/>
              <a:t>Ritual complete when:</a:t>
            </a:r>
            <a:r>
              <a:t> </a:t>
            </a:r>
            <a:r>
              <a:rPr sz="1100">
                <a:latin typeface="Courier New"/>
              </a:rPr>
              <a:t>ruff check</a:t>
            </a:r>
            <a:r>
              <a:t> returns no errors, </a:t>
            </a:r>
            <a:r>
              <a:rPr sz="1100">
                <a:latin typeface="Courier New"/>
              </a:rPr>
              <a:t>pytest</a:t>
            </a:r>
            <a:r>
              <a:t> returns all passed, and </a:t>
            </a:r>
            <a:r>
              <a:rPr sz="1100">
                <a:latin typeface="Courier New"/>
              </a:rPr>
              <a:t>git status</a:t>
            </a:r>
            <a:r>
              <a:t> says "nothing to commit" right after the push.</a:t>
            </a:r>
          </a:p>
          <a:p>
            <a:r>
              <a:t> </a:t>
            </a:r>
          </a:p>
          <a:p>
            <a:r>
              <a:rPr b="1"/>
              <a:t>Screenshot 2 checkpoint</a:t>
            </a:r>
          </a:p>
          <a:p>
            <a:r>
              <a:rPr b="1"/>
              <a:t>SAY:</a:t>
            </a:r>
            <a:r>
              <a:t> </a:t>
            </a:r>
            <a:r>
              <a:t>"Screenshot 2 — the entire ritual, from </a:t>
            </a:r>
            <a:r>
              <a:rPr sz="1100">
                <a:latin typeface="Courier New"/>
              </a:rPr>
              <a:t>pwd</a:t>
            </a:r>
            <a:r>
              <a:t> through </a:t>
            </a:r>
            <a:r>
              <a:rPr sz="1100">
                <a:latin typeface="Courier New"/>
              </a:rPr>
              <a:t>git push</a:t>
            </a:r>
            <a:r>
              <a:t>, visible in one terminal session."</a:t>
            </a:r>
          </a:p>
          <a:p>
            <a:r>
              <a:t> </a:t>
            </a:r>
          </a:p>
          <a:p>
            <a:r>
              <a:rPr b="1"/>
              <a:t>SLIDE NOTES</a:t>
            </a:r>
          </a:p>
          <a:p>
            <a:r>
              <a:t> </a:t>
            </a:r>
          </a:p>
          <a:p>
            <a:r>
              <a:t>Stages 3 and 4, run in order. 1) pytest: expect "3 passed in 0.01s". 2) git status: confirm .venv/ does NOT appear (your Week 3 .gitignore hides it) and only valid files are untracked or modified. 3) git add . stages everything you just verified. 4) git commit -m 'lab 4: search ritual and git' records the snapshot; expect [main abc1234] with a files-changed summary. 5) git push sends it to the remote. Ritual complete when ruff check is clean, pytest passes, and git status says nothing to commit right after the push. If push fails because no remote exists, that's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13 — Step 10 — Create the GitHub repo and connect it</a:t>
            </a:r>
          </a:p>
          <a:p>
            <a:r>
              <a:t> </a:t>
            </a:r>
          </a:p>
          <a:p>
            <a:r>
              <a:rPr b="1"/>
              <a:t>SAY:</a:t>
            </a:r>
            <a:r>
              <a:t> </a:t>
            </a:r>
            <a:r>
              <a:t>"If Step 9j just failed because there's no remote yet, here's the one-time setup."</a:t>
            </a:r>
          </a:p>
          <a:p>
            <a:r>
              <a:t> </a:t>
            </a:r>
          </a:p>
          <a:p>
            <a:r>
              <a:rPr b="1"/>
              <a:t>DO:</a:t>
            </a:r>
            <a:r>
              <a:t> </a:t>
            </a:r>
            <a:r>
              <a:t>On github.com: New repository → name it </a:t>
            </a:r>
            <a:r>
              <a:rPr sz="1100">
                <a:latin typeface="Courier New"/>
              </a:rPr>
              <a:t>ism3232-module02</a:t>
            </a:r>
            <a:r>
              <a:t> → set Private → do </a:t>
            </a:r>
            <a:r>
              <a:rPr b="1"/>
              <a:t>not</a:t>
            </a:r>
            <a:r>
              <a:t> initialize with a README. Then back in the terminal:</a:t>
            </a:r>
          </a:p>
          <a:p>
            <a:r>
              <a:rPr sz="1100">
                <a:latin typeface="Courier New"/>
              </a:rPr>
              <a:t>git remote add origin https://github.com/YOURUSERNAME/ism3232-module02.git</a:t>
            </a:r>
          </a:p>
          <a:p>
            <a:r>
              <a:rPr sz="1100">
                <a:latin typeface="Courier New"/>
              </a:rPr>
              <a:t>git branch -M main</a:t>
            </a:r>
          </a:p>
          <a:p>
            <a:r>
              <a:rPr sz="1100">
                <a:latin typeface="Courier New"/>
              </a:rPr>
              <a:t>git push -u origin main</a:t>
            </a:r>
          </a:p>
          <a:p>
            <a:r>
              <a:t> </a:t>
            </a:r>
          </a:p>
          <a:p>
            <a:r>
              <a:rPr b="1"/>
              <a:t>CHECK:</a:t>
            </a:r>
            <a:r>
              <a:t> </a:t>
            </a:r>
            <a:r>
              <a:t>Push output shows your objects being uploaded and ending with a line establishing </a:t>
            </a:r>
            <a:r>
              <a:rPr sz="1100">
                <a:latin typeface="Courier New"/>
              </a:rPr>
              <a:t>main</a:t>
            </a:r>
            <a:r>
              <a:t> tracks </a:t>
            </a:r>
            <a:r>
              <a:rPr sz="1100">
                <a:latin typeface="Courier New"/>
              </a:rPr>
              <a:t>origin/main</a:t>
            </a:r>
            <a:r>
              <a:t>.</a:t>
            </a:r>
          </a:p>
          <a:p>
            <a:r>
              <a:t> </a:t>
            </a:r>
          </a:p>
          <a:p>
            <a:r>
              <a:rPr b="1"/>
              <a:t>FIX:</a:t>
            </a:r>
            <a:r>
              <a:t> </a:t>
            </a:r>
            <a:r>
              <a:t>If you get "repository not found," double check the URL matches exactly what GitHub showed you after creating the repo — case and spelling both matter.</a:t>
            </a:r>
          </a:p>
          <a:p>
            <a:r>
              <a:t> </a:t>
            </a:r>
          </a:p>
          <a:p>
            <a:r>
              <a:rPr b="1"/>
              <a:t>SLIDE NOTES</a:t>
            </a:r>
          </a:p>
          <a:p>
            <a:r>
              <a:t> </a:t>
            </a:r>
          </a:p>
          <a:p>
            <a:r>
              <a:t>One-time setup, split in two halves. In the browser on GitHub.com: New repository, name it ism3232-module02, set it to Private, and crucially do NOT initialize with a README (that creates a conflicting history). Then in the terminal: git remote add origin https://github.com/YOURUSERNAME/ism3232-module02.git, git branch -M main, git push -u origin main. Expect objects uploading and a line saying main tracks origin/main. Troubleshooting: "repository not found" almost always means the URL doesn't match exactly; case and spelling both matter.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14 — Step 11 — Verify on GitHub.com</a:t>
            </a:r>
          </a:p>
          <a:p>
            <a:r>
              <a:t> </a:t>
            </a:r>
          </a:p>
          <a:p>
            <a:r>
              <a:rPr b="1"/>
              <a:t>Step 11 — Verify on GitHub.com</a:t>
            </a:r>
          </a:p>
          <a:p>
            <a:r>
              <a:rPr b="1"/>
              <a:t>SAY:</a:t>
            </a:r>
            <a:r>
              <a:t> </a:t>
            </a:r>
            <a:r>
              <a:t>"Don't trust the terminal alone — open the actual repository page in a browser."</a:t>
            </a:r>
          </a:p>
          <a:p>
            <a:r>
              <a:t> </a:t>
            </a:r>
          </a:p>
          <a:p>
            <a:r>
              <a:rPr b="1"/>
              <a:t>DO:</a:t>
            </a:r>
            <a:r>
              <a:t> </a:t>
            </a:r>
            <a:r>
              <a:t>Navigate to </a:t>
            </a:r>
            <a:r>
              <a:rPr sz="1100">
                <a:latin typeface="Courier New"/>
              </a:rPr>
              <a:t>https://github.com/YOURUSERNAME/ism3232-module02</a:t>
            </a:r>
            <a:r>
              <a:t> in Chrome.</a:t>
            </a:r>
          </a:p>
          <a:p>
            <a:r>
              <a:t> </a:t>
            </a:r>
          </a:p>
          <a:p>
            <a:r>
              <a:rPr b="1"/>
              <a:t>CHECK:</a:t>
            </a:r>
            <a:r>
              <a:t> </a:t>
            </a:r>
            <a:r>
              <a:t>Your files — </a:t>
            </a:r>
            <a:r>
              <a:rPr sz="1100">
                <a:latin typeface="Courier New"/>
              </a:rPr>
              <a:t>tests/test_week4.py</a:t>
            </a:r>
            <a:r>
              <a:t>, </a:t>
            </a:r>
            <a:r>
              <a:rPr sz="1100">
                <a:latin typeface="Courier New"/>
              </a:rPr>
              <a:t>requirements.txt</a:t>
            </a:r>
            <a:r>
              <a:t>, </a:t>
            </a:r>
            <a:r>
              <a:rPr sz="1100">
                <a:latin typeface="Courier New"/>
              </a:rPr>
              <a:t>.gitignore</a:t>
            </a:r>
            <a:r>
              <a:t>, </a:t>
            </a:r>
            <a:r>
              <a:rPr sz="1100">
                <a:latin typeface="Courier New"/>
              </a:rPr>
              <a:t>README.md</a:t>
            </a:r>
            <a:r>
              <a:t> — are all listed, and the latest commit message (</a:t>
            </a:r>
            <a:r>
              <a:rPr sz="1100">
                <a:latin typeface="Courier New"/>
              </a:rPr>
              <a:t>lab 4: search ritual and git</a:t>
            </a:r>
            <a:r>
              <a:t>) shows at the top.</a:t>
            </a:r>
          </a:p>
          <a:p>
            <a:r>
              <a:t> </a:t>
            </a:r>
          </a:p>
          <a:p>
            <a:r>
              <a:rPr b="1"/>
              <a:t>Screenshot 3 checkpoint</a:t>
            </a:r>
          </a:p>
          <a:p>
            <a:r>
              <a:rPr b="1"/>
              <a:t>SAY:</a:t>
            </a:r>
            <a:r>
              <a:t> </a:t>
            </a:r>
            <a:r>
              <a:t>"Screenshot 3 — your GitHub repository page, showing the committed files."</a:t>
            </a:r>
          </a:p>
          <a:p>
            <a:r>
              <a:t> </a:t>
            </a:r>
          </a:p>
          <a:p>
            <a:r>
              <a:rPr b="1"/>
              <a:t>Step 12 — Verify the commit log</a:t>
            </a:r>
          </a:p>
          <a:p>
            <a:r>
              <a:rPr b="1"/>
              <a:t>SAY:</a:t>
            </a:r>
            <a:r>
              <a:t> </a:t>
            </a:r>
            <a:r>
              <a:t>"One last check — the commit history itself, because this log is part of your grade."</a:t>
            </a:r>
          </a:p>
          <a:p>
            <a:r>
              <a:t> </a:t>
            </a:r>
          </a:p>
          <a:p>
            <a:r>
              <a:rPr b="1"/>
              <a:t>DO:</a:t>
            </a:r>
          </a:p>
          <a:p>
            <a:r>
              <a:rPr sz="1100">
                <a:latin typeface="Courier New"/>
              </a:rPr>
              <a:t>git log --oneline</a:t>
            </a:r>
          </a:p>
          <a:p>
            <a:r>
              <a:rPr sz="1100">
                <a:latin typeface="Courier New"/>
              </a:rPr>
              <a:t>git status</a:t>
            </a:r>
          </a:p>
          <a:p>
            <a:r>
              <a:t> </a:t>
            </a:r>
          </a:p>
          <a:p>
            <a:r>
              <a:rPr b="1"/>
              <a:t>CHECK:</a:t>
            </a:r>
          </a:p>
          <a:p>
            <a:r>
              <a:rPr sz="1100">
                <a:latin typeface="Courier New"/>
              </a:rPr>
              <a:t>abc1234 lab 4: search ritual and git</a:t>
            </a:r>
          </a:p>
          <a:p>
            <a:r>
              <a:t>and</a:t>
            </a:r>
          </a:p>
          <a:p>
            <a:r>
              <a:rPr sz="1100">
                <a:latin typeface="Courier New"/>
              </a:rPr>
              <a:t>nothing to commit, working tree clean</a:t>
            </a:r>
          </a:p>
          <a:p>
            <a:r>
              <a:t> </a:t>
            </a:r>
          </a:p>
          <a:p>
            <a:r>
              <a:rPr b="1"/>
              <a:t>FIX:</a:t>
            </a:r>
            <a:r>
              <a:t> </a:t>
            </a:r>
            <a:r>
              <a:t>If your commit message just says "final" or "update," rewrite future commits to be descriptive — that's explicitly graded from here forward.</a:t>
            </a:r>
          </a:p>
          <a:p>
            <a:r>
              <a:t> </a:t>
            </a:r>
          </a:p>
          <a:p>
            <a:r>
              <a:rPr b="1"/>
              <a:t>SLIDE NOTES</a:t>
            </a:r>
          </a:p>
          <a:p>
            <a:r>
              <a:t> </a:t>
            </a:r>
          </a:p>
          <a:p>
            <a:r>
              <a:t>Trust, but verify. Don't rely on the terminal alone. In the browser, open your repo URL, confirm test_week4.py, requirements.txt, and .gitignore are listed, and that your latest commit message appears at the top.</a:t>
            </a:r>
          </a:p>
          <a:p>
            <a:r>
              <a:t> </a:t>
            </a:r>
          </a:p>
          <a:p>
            <a:r>
              <a:t>In the terminal, run git log --oneline (expect abc1234 lab 4: search ritual and git) and git status (expect "nothing to commit, working tree clean"). Emphasize the orange callout: this log is part of your grade. Commits labeled "final" or "update" will hurt it from now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a:t>SLIDE 15 — SUBMISSION CHECKLIST</a:t>
            </a:r>
          </a:p>
          <a:p>
            <a:r>
              <a:t> </a:t>
            </a:r>
          </a:p>
          <a:p>
            <a:r>
              <a:t>• [ ] Screenshot 1: two </a:t>
            </a:r>
            <a:r>
              <a:rPr sz="1100">
                <a:latin typeface="Courier New"/>
              </a:rPr>
              <a:t>rg</a:t>
            </a:r>
            <a:r>
              <a:t> commands and </a:t>
            </a:r>
            <a:r>
              <a:rPr sz="1100">
                <a:latin typeface="Courier New"/>
              </a:rPr>
              <a:t>tree -L 3</a:t>
            </a:r>
            <a:r>
              <a:t> output</a:t>
            </a:r>
          </a:p>
          <a:p>
            <a:r>
              <a:t>• [ ] Screenshot 2: the complete pre-submission ritual — all steps in one terminal session</a:t>
            </a:r>
          </a:p>
          <a:p>
            <a:r>
              <a:t>• [ ] Screenshot 3: your GitHub repository page showing committed files</a:t>
            </a:r>
          </a:p>
          <a:p>
            <a:r>
              <a:t>• [ ] </a:t>
            </a:r>
            <a:r>
              <a:rPr sz="1100">
                <a:latin typeface="Courier New"/>
              </a:rPr>
              <a:t>module02_zsh/tests/test_week4.py</a:t>
            </a:r>
            <a:r>
              <a:t> uploaded</a:t>
            </a:r>
          </a:p>
          <a:p>
            <a:r>
              <a:t>• [ ] Your GitHub repository URL pasted into the Canvas text box</a:t>
            </a:r>
          </a:p>
          <a:p>
            <a:r>
              <a:t> </a:t>
            </a:r>
          </a:p>
          <a:p>
            <a:r>
              <a:rPr b="1"/>
              <a:t>SLIDE NOTES</a:t>
            </a:r>
          </a:p>
          <a:p>
            <a:r>
              <a:t> </a:t>
            </a:r>
          </a:p>
          <a:p>
            <a:r>
              <a:t>Visual proofs: Screenshot 1 (two rg commands plus tree -L 3), Screenshot 2 (the complete ritual, pwd through git push, in one terminal session), Screenshot 3 (your GitHub repo page with files). Deliverables: upload module02_zsh/tests/test_week4.py, and paste your GitHub repository URL into the Canvas text box. Close with: the ritual is now your standard for every major assignment. The standard is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tretch>
            <a:fillRect/>
          </a:stretch>
        </p:blipFill>
        <p:spPr>
          <a:xfrm>
            <a:off x="0" y="38100"/>
            <a:ext cx="16256000" cy="9067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