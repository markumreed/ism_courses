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0" r:id="rId2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TEACHING GOAL:</a:t>
            </a:r>
            <a:r>
              <a:t> set the stakes before touching the keyboard — this is the single most important lab of Unit 1 because everything built today becomes mandatory for every remaining assignment.</a:t>
            </a:r>
          </a:p>
          <a:p>
            <a:r>
              <a:t> </a:t>
            </a:r>
          </a:p>
          <a:p>
            <a:r>
              <a:rPr b="1"/>
              <a:t>SAY:</a:t>
            </a:r>
            <a:r>
              <a:t> </a:t>
            </a:r>
            <a:r>
              <a:t>"Lab 4 — search tools, the submission ritual, and Git. This is the single most important lab in Unit 1. The ritual we build today — format, lint, test, commit, push — is required before every major assignment for the rest of the semester. Instructors check your Git log. A missing </a:t>
            </a:r>
            <a:r>
              <a:rPr sz="1100">
                <a:latin typeface="Courier New"/>
              </a:rPr>
              <a:t>ruff</a:t>
            </a:r>
            <a:r>
              <a:t> or </a:t>
            </a:r>
            <a:r>
              <a:rPr sz="1100">
                <a:latin typeface="Courier New"/>
              </a:rPr>
              <a:t>pytest</a:t>
            </a:r>
            <a:r>
              <a:t> step is visible there, so we're building the habit correctly, right now, on camera."</a:t>
            </a:r>
          </a:p>
          <a:p>
            <a:r>
              <a:t> </a:t>
            </a:r>
          </a:p>
          <a:p>
            <a:r>
              <a:rPr b="1"/>
              <a:t>SLIDE NOTES</a:t>
            </a:r>
          </a:p>
          <a:p>
            <a:r>
              <a:t> </a:t>
            </a:r>
          </a:p>
          <a:p>
            <a:r>
              <a:t>The slide's 'Loading Modules' line (ripgrep, find, pytest, ruff, git) previews exactly the five tools this lab touches, in the order they're used. Land on the idea that today is less about new syntax and more about a professional workflow habit that will be graded every week from here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a:t>
            </a:r>
          </a:p>
          <a:p>
            <a:r>
              <a:t> </a:t>
            </a:r>
          </a:p>
          <a:p>
            <a:r>
              <a:t>ROADMAP. This card mirrors the lab's four parts exactly: Part 1 Search Tools (Exploration), Part 2 Write a Test File (Validation), Part 3 Pre-Submission Ritual (Discipline), Part 4 First GitHub Push (Publishing).</a:t>
            </a:r>
          </a:p>
          <a:p>
            <a:r>
              <a:t> </a:t>
            </a:r>
          </a:p>
          <a:p>
            <a:r>
              <a:rPr b="1"/>
              <a:t>SAY:</a:t>
            </a:r>
            <a:r>
              <a:t> preview the arc out loud before diving in — "We're going to search a codebase instantly, prove our code works with tests, run the exact same 10-step ritual you'll run every week for the rest of the semester, and then publish that work to GitHub for the first time."</a:t>
            </a:r>
          </a:p>
          <a:p>
            <a:r>
              <a:t> </a:t>
            </a:r>
          </a:p>
          <a:p>
            <a:r>
              <a:t>Call out the highlighted callout under Stage 3: 'Required before every assignment for the rest of the semester.' This is the single most important sentence on the slide — make sure students hear it, not just read it. It directly sets up the ritual's non-negotiable status covered in Part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a:t>
            </a:r>
          </a:p>
          <a:p>
            <a:r>
              <a:t> </a:t>
            </a:r>
          </a:p>
          <a:p>
            <a:r>
              <a:t>CONCEPT CARD — rg vs. find vs. tree. Teaching goal: establish the mental distinction between the three search tools before running a single command, so students choose the right tool by target, not by memorized syntax.</a:t>
            </a:r>
          </a:p>
          <a:p>
            <a:r>
              <a:t> </a:t>
            </a:r>
          </a:p>
          <a:p>
            <a:r>
              <a:rPr b="1"/>
              <a:t>SAY (rg, Step 1):</a:t>
            </a:r>
            <a:r>
              <a:t> "rg — ripgrep — searches inside every file's contents, fast. Let's find every print statement across the whole course folder."</a:t>
            </a:r>
          </a:p>
          <a:p>
            <a:r>
              <a:rPr b="1"/>
              <a:t>SAY (find, Step 4):</a:t>
            </a:r>
            <a:r>
              <a:t> "rg searches file contents. find searches file names."</a:t>
            </a:r>
          </a:p>
          <a:p>
            <a:r>
              <a:rPr b="1"/>
              <a:t>SAY (tree, Step 5):</a:t>
            </a:r>
            <a:r>
              <a:t> "And one more look at the whole structure, three levels deep this time — deeper than the -L 2 we used in Week 2."</a:t>
            </a:r>
          </a:p>
          <a:p>
            <a:r>
              <a:t> </a:t>
            </a:r>
          </a:p>
          <a:p>
            <a:r>
              <a:t>The 'Modifier: rg -l' line on the rg card is Step 3 from the script: "Sometimes you don't want to see every matching line — just which files contain a match. That's the -l flag."</a:t>
            </a:r>
          </a:p>
          <a:p>
            <a:r>
              <a:rPr b="1"/>
              <a:t>DO on this step:</a:t>
            </a:r>
            <a:r>
              <a:t> rg -l 'import'.</a:t>
            </a:r>
          </a:p>
          <a:p>
            <a:r>
              <a:rPr b="1"/>
              <a:t>CHECK:</a:t>
            </a:r>
            <a:r>
              <a:t> a short list of filenames only — no line numbers, no matched text, just paths. Mention this modifier explicitly even though the next slide's live demo doesn't re-run it.</a:t>
            </a:r>
          </a:p>
          <a:p>
            <a:r>
              <a:t> </a:t>
            </a:r>
          </a:p>
          <a:p>
            <a:r>
              <a:t>Reinforce the three-way split verbally: rg = contents (The Inside), find = filenames (The Outside), tree = structure (The Map). This framing is what students should retain, not the exact flags.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Step 1 — Search file contents with ripgrep</a:t>
            </a:r>
          </a:p>
          <a:p>
            <a:r>
              <a:t> </a:t>
            </a:r>
          </a:p>
          <a:p>
            <a:r>
              <a:rPr b="1"/>
              <a:t>Step 1 — Search file contents with ripgrep</a:t>
            </a:r>
          </a:p>
          <a:p>
            <a:r>
              <a:rPr b="1"/>
              <a:t>SAY:</a:t>
            </a:r>
            <a:r>
              <a:t> </a:t>
            </a:r>
            <a:r>
              <a:t>"</a:t>
            </a:r>
            <a:r>
              <a:rPr sz="1100">
                <a:latin typeface="Courier New"/>
              </a:rPr>
              <a:t>rg</a:t>
            </a:r>
            <a:r>
              <a:t> — ripgrep — searches inside every file's contents, fast. Let's find every </a:t>
            </a:r>
            <a:r>
              <a:rPr sz="1100">
                <a:latin typeface="Courier New"/>
              </a:rPr>
              <a:t>print</a:t>
            </a:r>
            <a:r>
              <a:t> statement across the whole course folder."</a:t>
            </a:r>
          </a:p>
          <a:p>
            <a:r>
              <a:t> </a:t>
            </a:r>
          </a:p>
          <a:p>
            <a:r>
              <a:rPr b="1"/>
              <a:t>DO:</a:t>
            </a:r>
          </a:p>
          <a:p>
            <a:r>
              <a:rPr sz="1100">
                <a:latin typeface="Courier New"/>
              </a:rPr>
              <a:t>cd ~/ism3232</a:t>
            </a:r>
          </a:p>
          <a:p>
            <a:r>
              <a:rPr sz="1100">
                <a:latin typeface="Courier New"/>
              </a:rPr>
              <a:t>rg 'print'</a:t>
            </a:r>
          </a:p>
          <a:p>
            <a:r>
              <a:t> </a:t>
            </a:r>
          </a:p>
          <a:p>
            <a:r>
              <a:rPr b="1"/>
              <a:t>CHECK:</a:t>
            </a:r>
            <a:r>
              <a:t> </a:t>
            </a:r>
            <a:r>
              <a:t>A list of file paths and line numbers, each showing a line containing </a:t>
            </a:r>
            <a:r>
              <a:rPr sz="1100">
                <a:latin typeface="Courier New"/>
              </a:rPr>
              <a:t>print</a:t>
            </a:r>
            <a:r>
              <a:t> — for example, the two </a:t>
            </a:r>
            <a:r>
              <a:rPr sz="1100">
                <a:latin typeface="Courier New"/>
              </a:rPr>
              <a:t>print()</a:t>
            </a:r>
            <a:r>
              <a:t> lines from </a:t>
            </a:r>
            <a:r>
              <a:rPr sz="1100">
                <a:latin typeface="Courier New"/>
              </a:rPr>
              <a:t>module01_setup/hello_ism3232.py</a:t>
            </a:r>
            <a:r>
              <a:t>.</a:t>
            </a:r>
          </a:p>
          <a:p>
            <a:r>
              <a:t> </a:t>
            </a:r>
          </a:p>
          <a:p>
            <a:r>
              <a:rPr b="1"/>
              <a:t>FIX:</a:t>
            </a:r>
            <a:r>
              <a:t> </a:t>
            </a:r>
            <a:r>
              <a:t>If </a:t>
            </a:r>
            <a:r>
              <a:rPr sz="1100">
                <a:latin typeface="Courier New"/>
              </a:rPr>
              <a:t>rg: command not found</a:t>
            </a:r>
            <a:r>
              <a:t>, install it — macOS: </a:t>
            </a:r>
            <a:r>
              <a:rPr sz="1100">
                <a:latin typeface="Courier New"/>
              </a:rPr>
              <a:t>brew install ripgrep</a:t>
            </a:r>
            <a:r>
              <a:t>; Ubuntu: </a:t>
            </a:r>
            <a:r>
              <a:rPr sz="1100">
                <a:latin typeface="Courier New"/>
              </a:rPr>
              <a:t>sudo apt install ripgrep</a:t>
            </a:r>
            <a:r>
              <a:t>.</a:t>
            </a:r>
          </a:p>
          <a:p>
            <a:r>
              <a:t> </a:t>
            </a:r>
          </a:p>
          <a:p>
            <a:r>
              <a:rPr b="1"/>
              <a:t>Step 2 — Search for function definitions</a:t>
            </a:r>
          </a:p>
          <a:p>
            <a:r>
              <a:rPr b="1"/>
              <a:t>SAY:</a:t>
            </a:r>
            <a:r>
              <a:t> </a:t>
            </a:r>
            <a:r>
              <a:t>"Now every function definition in the whole project, in one command."</a:t>
            </a:r>
          </a:p>
          <a:p>
            <a:r>
              <a:t> </a:t>
            </a:r>
          </a:p>
          <a:p>
            <a:r>
              <a:rPr b="1"/>
              <a:t>DO:</a:t>
            </a:r>
          </a:p>
          <a:p>
            <a:r>
              <a:rPr sz="1100">
                <a:latin typeface="Courier New"/>
              </a:rPr>
              <a:t>rg 'def '</a:t>
            </a:r>
          </a:p>
          <a:p>
            <a:r>
              <a:t> </a:t>
            </a:r>
          </a:p>
          <a:p>
            <a:r>
              <a:rPr b="1"/>
              <a:t>CHECK:</a:t>
            </a:r>
            <a:r>
              <a:t> </a:t>
            </a:r>
            <a:r>
              <a:t>Lines like </a:t>
            </a:r>
            <a:r>
              <a:rPr sz="1100">
                <a:latin typeface="Courier New"/>
              </a:rPr>
              <a:t>module02_zsh/tests/test_week4.py:2:def test_always_passes():</a:t>
            </a:r>
            <a:r>
              <a:t> — file, line number, and the matching line itself.</a:t>
            </a:r>
          </a:p>
          <a:p>
            <a:r>
              <a:t> </a:t>
            </a:r>
          </a:p>
          <a:p>
            <a:r>
              <a:rPr b="1"/>
              <a:t>Step 3 — List just the matching filenames</a:t>
            </a:r>
          </a:p>
          <a:p>
            <a:r>
              <a:rPr b="1"/>
              <a:t>SAY:</a:t>
            </a:r>
            <a:r>
              <a:t> </a:t>
            </a:r>
            <a:r>
              <a:t>"Sometimes you don't want to see every matching line — just which files contain a match. That's the </a:t>
            </a:r>
            <a:r>
              <a:rPr sz="1100">
                <a:latin typeface="Courier New"/>
              </a:rPr>
              <a:t>-l</a:t>
            </a:r>
            <a:r>
              <a:t> flag."</a:t>
            </a:r>
          </a:p>
          <a:p>
            <a:r>
              <a:t> </a:t>
            </a:r>
          </a:p>
          <a:p>
            <a:r>
              <a:rPr b="1"/>
              <a:t>DO:</a:t>
            </a:r>
          </a:p>
          <a:p>
            <a:r>
              <a:rPr sz="1100">
                <a:latin typeface="Courier New"/>
              </a:rPr>
              <a:t>rg -l 'import'</a:t>
            </a:r>
          </a:p>
          <a:p>
            <a:r>
              <a:t> </a:t>
            </a:r>
          </a:p>
          <a:p>
            <a:r>
              <a:rPr b="1"/>
              <a:t>CHECK:</a:t>
            </a:r>
            <a:r>
              <a:t> </a:t>
            </a:r>
            <a:r>
              <a:t>A short list of filenames only — no line numbers, no matched text, just paths.</a:t>
            </a:r>
          </a:p>
          <a:p>
            <a:r>
              <a:t> </a:t>
            </a:r>
          </a:p>
          <a:p>
            <a:r>
              <a:rPr b="1"/>
              <a:t>Step 4 — Search by filename with find</a:t>
            </a:r>
          </a:p>
          <a:p>
            <a:r>
              <a:rPr b="1"/>
              <a:t>SAY:</a:t>
            </a:r>
            <a:r>
              <a:t> </a:t>
            </a:r>
            <a:r>
              <a:t>"</a:t>
            </a:r>
            <a:r>
              <a:rPr sz="1100">
                <a:latin typeface="Courier New"/>
              </a:rPr>
              <a:t>rg</a:t>
            </a:r>
            <a:r>
              <a:t> searches file contents. </a:t>
            </a:r>
            <a:r>
              <a:rPr sz="1100">
                <a:latin typeface="Courier New"/>
              </a:rPr>
              <a:t>find</a:t>
            </a:r>
            <a:r>
              <a:t> searches file names. Three quick examples."</a:t>
            </a:r>
          </a:p>
          <a:p>
            <a:r>
              <a:t> </a:t>
            </a:r>
          </a:p>
          <a:p>
            <a:r>
              <a:rPr b="1"/>
              <a:t>DO:</a:t>
            </a:r>
          </a:p>
          <a:p>
            <a:r>
              <a:rPr sz="1100">
                <a:latin typeface="Courier New"/>
              </a:rPr>
              <a:t>find . -name '*.py'</a:t>
            </a:r>
          </a:p>
          <a:p>
            <a:r>
              <a:rPr sz="1100">
                <a:latin typeface="Courier New"/>
              </a:rPr>
              <a:t>find . -name '*.md'</a:t>
            </a:r>
          </a:p>
          <a:p>
            <a:r>
              <a:rPr sz="1100">
                <a:latin typeface="Courier New"/>
              </a:rPr>
              <a:t>find . -name '*.txt'</a:t>
            </a:r>
          </a:p>
          <a:p>
            <a:r>
              <a:t> </a:t>
            </a:r>
          </a:p>
          <a:p>
            <a:r>
              <a:rPr b="1"/>
              <a:t>CHECK:</a:t>
            </a:r>
            <a:r>
              <a:t> </a:t>
            </a:r>
            <a:r>
              <a:t>Three separate lists — every </a:t>
            </a:r>
            <a:r>
              <a:rPr sz="1100">
                <a:latin typeface="Courier New"/>
              </a:rPr>
              <a:t>.py</a:t>
            </a:r>
            <a:r>
              <a:t> file, every </a:t>
            </a:r>
            <a:r>
              <a:rPr sz="1100">
                <a:latin typeface="Courier New"/>
              </a:rPr>
              <a:t>.md</a:t>
            </a:r>
            <a:r>
              <a:t> file, every </a:t>
            </a:r>
            <a:r>
              <a:rPr sz="1100">
                <a:latin typeface="Courier New"/>
              </a:rPr>
              <a:t>.txt</a:t>
            </a:r>
            <a:r>
              <a:t> file in the current tree, each printed with its relative path (e.g. </a:t>
            </a:r>
            <a:r>
              <a:rPr sz="1100">
                <a:latin typeface="Courier New"/>
              </a:rPr>
              <a:t>./module01_setup/hello_ism3232.py</a:t>
            </a:r>
            <a:r>
              <a:t>).</a:t>
            </a:r>
          </a:p>
          <a:p>
            <a:r>
              <a:t> </a:t>
            </a:r>
          </a:p>
          <a:p>
            <a:r>
              <a:rPr b="1"/>
              <a:t>Step 5 — Visualize with tree</a:t>
            </a:r>
          </a:p>
          <a:p>
            <a:r>
              <a:rPr b="1"/>
              <a:t>SAY:</a:t>
            </a:r>
            <a:r>
              <a:t> </a:t>
            </a:r>
            <a:r>
              <a:t>"And one more look at the whole structure, three levels deep this time — deeper than the </a:t>
            </a:r>
            <a:r>
              <a:rPr sz="1100">
                <a:latin typeface="Courier New"/>
              </a:rPr>
              <a:t>-L 2</a:t>
            </a:r>
            <a:r>
              <a:t> we used in Week 2."</a:t>
            </a:r>
          </a:p>
          <a:p>
            <a:r>
              <a:t> </a:t>
            </a:r>
          </a:p>
          <a:p>
            <a:r>
              <a:rPr b="1"/>
              <a:t>DO:</a:t>
            </a:r>
          </a:p>
          <a:p>
            <a:r>
              <a:rPr sz="1100">
                <a:latin typeface="Courier New"/>
              </a:rPr>
              <a:t>tree -L 3</a:t>
            </a:r>
          </a:p>
          <a:p>
            <a:r>
              <a:t> </a:t>
            </a:r>
          </a:p>
          <a:p>
            <a:r>
              <a:rPr b="1"/>
              <a:t>CHECK:</a:t>
            </a:r>
            <a:r>
              <a:t> </a:t>
            </a:r>
            <a:r>
              <a:t>The full </a:t>
            </a:r>
            <a:r>
              <a:rPr sz="1100">
                <a:latin typeface="Courier New"/>
              </a:rPr>
              <a:t>ism3232/</a:t>
            </a:r>
            <a:r>
              <a:t> tree, now showing files inside </a:t>
            </a:r>
            <a:r>
              <a:rPr sz="1100">
                <a:latin typeface="Courier New"/>
              </a:rPr>
              <a:t>module01_setup</a:t>
            </a:r>
            <a:r>
              <a:t>, </a:t>
            </a:r>
            <a:r>
              <a:rPr sz="1100">
                <a:latin typeface="Courier New"/>
              </a:rPr>
              <a:t>module02_zsh</a:t>
            </a:r>
            <a:r>
              <a:t>, etc. — not just the folder names.</a:t>
            </a:r>
          </a:p>
          <a:p>
            <a:r>
              <a:t> </a:t>
            </a:r>
          </a:p>
          <a:p>
            <a:r>
              <a:rPr b="1"/>
              <a:t>Screenshot 1 checkpoint</a:t>
            </a:r>
          </a:p>
          <a:p>
            <a:r>
              <a:rPr b="1"/>
              <a:t>SAY:</a:t>
            </a:r>
            <a:r>
              <a:t> </a:t>
            </a:r>
            <a:r>
              <a:t>"Screenshot 1 — at least two </a:t>
            </a:r>
            <a:r>
              <a:rPr sz="1100">
                <a:latin typeface="Courier New"/>
              </a:rPr>
              <a:t>rg</a:t>
            </a:r>
            <a:r>
              <a:t> commands and their output, plus the </a:t>
            </a:r>
            <a:r>
              <a:rPr sz="1100">
                <a:latin typeface="Courier New"/>
              </a:rPr>
              <a:t>tree -L 3</a:t>
            </a:r>
            <a:r>
              <a:t> output."</a:t>
            </a:r>
          </a:p>
          <a:p>
            <a:r>
              <a:t> </a:t>
            </a:r>
          </a:p>
          <a:p>
            <a:r>
              <a:rPr b="1"/>
              <a:t>SLIDE NOTES</a:t>
            </a:r>
          </a:p>
          <a:p>
            <a:r>
              <a:t> </a:t>
            </a:r>
          </a:p>
          <a:p>
            <a:r>
              <a:t>This covers Steps 1, 2, 4, and 5 from Part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Step 6 — Set up the tests folder</a:t>
            </a:r>
          </a:p>
          <a:p>
            <a:r>
              <a:t> </a:t>
            </a:r>
          </a:p>
          <a:p>
            <a:r>
              <a:rPr b="1"/>
              <a:t>Step 6 — Set up the tests folder</a:t>
            </a:r>
          </a:p>
          <a:p>
            <a:r>
              <a:rPr b="1"/>
              <a:t>SAY:</a:t>
            </a:r>
            <a:r>
              <a:t> </a:t>
            </a:r>
            <a:r>
              <a:t>"We're adding real tests to </a:t>
            </a:r>
            <a:r>
              <a:rPr sz="1100">
                <a:latin typeface="Courier New"/>
              </a:rPr>
              <a:t>module02_zsh</a:t>
            </a:r>
            <a:r>
              <a:t> now. Activate the venv first — pytest lives inside it, remember."</a:t>
            </a:r>
          </a:p>
          <a:p>
            <a:r>
              <a:t> </a:t>
            </a:r>
          </a:p>
          <a:p>
            <a:r>
              <a:rPr b="1"/>
              <a:t>DO:</a:t>
            </a:r>
          </a:p>
          <a:p>
            <a:r>
              <a:rPr sz="1100">
                <a:latin typeface="Courier New"/>
              </a:rPr>
              <a:t>cd ~/ism3232/module02_zsh</a:t>
            </a:r>
          </a:p>
          <a:p>
            <a:r>
              <a:rPr sz="1100">
                <a:latin typeface="Courier New"/>
              </a:rPr>
              <a:t>source .venv/bin/activate</a:t>
            </a:r>
          </a:p>
          <a:p>
            <a:r>
              <a:rPr sz="1100">
                <a:latin typeface="Courier New"/>
              </a:rPr>
              <a:t>mkdir -p tests</a:t>
            </a:r>
          </a:p>
          <a:p>
            <a:r>
              <a:rPr sz="1100">
                <a:latin typeface="Courier New"/>
              </a:rPr>
              <a:t>touch tests/__init__.py tests/test_week4.py</a:t>
            </a:r>
          </a:p>
          <a:p>
            <a:r>
              <a:rPr sz="1100">
                <a:latin typeface="Courier New"/>
              </a:rPr>
              <a:t>code tests/test_week4.py</a:t>
            </a:r>
          </a:p>
          <a:p>
            <a:r>
              <a:t> </a:t>
            </a:r>
          </a:p>
          <a:p>
            <a:r>
              <a:rPr b="1"/>
              <a:t>CHECK:</a:t>
            </a:r>
            <a:r>
              <a:t> </a:t>
            </a:r>
            <a:r>
              <a:t>Prompt shows </a:t>
            </a:r>
            <a:r>
              <a:rPr sz="1100">
                <a:latin typeface="Courier New"/>
              </a:rPr>
              <a:t>(.venv)</a:t>
            </a:r>
            <a:r>
              <a:t>, and </a:t>
            </a:r>
            <a:r>
              <a:rPr sz="1100">
                <a:latin typeface="Courier New"/>
              </a:rPr>
              <a:t>ls tests/</a:t>
            </a:r>
            <a:r>
              <a:t> shows two files: </a:t>
            </a:r>
            <a:r>
              <a:rPr sz="1100">
                <a:latin typeface="Courier New"/>
              </a:rPr>
              <a:t>__init__.py</a:t>
            </a:r>
            <a:r>
              <a:t> and </a:t>
            </a:r>
            <a:r>
              <a:rPr sz="1100">
                <a:latin typeface="Courier New"/>
              </a:rPr>
              <a:t>test_week4.py</a:t>
            </a:r>
            <a:r>
              <a:t>.</a:t>
            </a:r>
          </a:p>
          <a:p>
            <a:r>
              <a:t> </a:t>
            </a:r>
          </a:p>
          <a:p>
            <a:r>
              <a:rPr b="1"/>
              <a:t>Step 7 — Type all three tests</a:t>
            </a:r>
          </a:p>
          <a:p>
            <a:r>
              <a:rPr b="1"/>
              <a:t>SAY:</a:t>
            </a:r>
            <a:r>
              <a:t> </a:t>
            </a:r>
            <a:r>
              <a:t>"Three tests, each checking something different — a pure math fact, a string property, and a path-splitting operation. Type them in, don't paste."</a:t>
            </a:r>
          </a:p>
          <a:p>
            <a:r>
              <a:t> </a:t>
            </a:r>
          </a:p>
          <a:p>
            <a:r>
              <a:rPr b="1"/>
              <a:t>DO:</a:t>
            </a:r>
          </a:p>
          <a:p>
            <a:r>
              <a:rPr sz="1100">
                <a:latin typeface="Courier New"/>
              </a:rPr>
              <a:t># tests/test_week4.py</a:t>
            </a:r>
          </a:p>
          <a:p>
            <a:r>
              <a:rPr sz="1100">
                <a:latin typeface="Courier New"/>
              </a:rPr>
              <a:t> </a:t>
            </a:r>
          </a:p>
          <a:p>
            <a:r>
              <a:rPr sz="1100">
                <a:latin typeface="Courier New"/>
              </a:rPr>
              <a:t>def test_always_passes():</a:t>
            </a:r>
          </a:p>
          <a:p>
            <a:r>
              <a:rPr sz="1100">
                <a:latin typeface="Courier New"/>
              </a:rPr>
              <a:t>    assert 2 + 2 == 4</a:t>
            </a:r>
          </a:p>
          <a:p>
            <a:r>
              <a:rPr sz="1100">
                <a:latin typeface="Courier New"/>
              </a:rPr>
              <a:t> </a:t>
            </a:r>
          </a:p>
          <a:p>
            <a:r>
              <a:rPr sz="1100">
                <a:latin typeface="Courier New"/>
              </a:rPr>
              <a:t> </a:t>
            </a:r>
          </a:p>
          <a:p>
            <a:r>
              <a:rPr sz="1100">
                <a:latin typeface="Courier New"/>
              </a:rPr>
              <a:t>def test_string_is_lowercase():</a:t>
            </a:r>
          </a:p>
          <a:p>
            <a:r>
              <a:rPr sz="1100">
                <a:latin typeface="Courier New"/>
              </a:rPr>
              <a:t>    name = 'ism3232'</a:t>
            </a:r>
          </a:p>
          <a:p>
            <a:r>
              <a:rPr sz="1100">
                <a:latin typeface="Courier New"/>
              </a:rPr>
              <a:t>    assert name == name.lower()</a:t>
            </a:r>
          </a:p>
          <a:p>
            <a:r>
              <a:rPr sz="1100">
                <a:latin typeface="Courier New"/>
              </a:rPr>
              <a:t> </a:t>
            </a:r>
          </a:p>
          <a:p>
            <a:r>
              <a:rPr sz="1100">
                <a:latin typeface="Courier New"/>
              </a:rPr>
              <a:t> </a:t>
            </a:r>
          </a:p>
          <a:p>
            <a:r>
              <a:rPr sz="1100">
                <a:latin typeface="Courier New"/>
              </a:rPr>
              <a:t>def test_path_segments():</a:t>
            </a:r>
          </a:p>
          <a:p>
            <a:r>
              <a:rPr sz="1100">
                <a:latin typeface="Courier New"/>
              </a:rPr>
              <a:t>    path = '/Users/yourname/ism3232/module02_zsh'</a:t>
            </a:r>
          </a:p>
          <a:p>
            <a:r>
              <a:rPr sz="1100">
                <a:latin typeface="Courier New"/>
              </a:rPr>
              <a:t>    parts = path.split('/')</a:t>
            </a:r>
          </a:p>
          <a:p>
            <a:r>
              <a:rPr sz="1100">
                <a:latin typeface="Courier New"/>
              </a:rPr>
              <a:t>    assert 'ism3232' in parts</a:t>
            </a:r>
          </a:p>
          <a:p>
            <a:r>
              <a:t> </a:t>
            </a:r>
          </a:p>
          <a:p>
            <a:r>
              <a:rPr b="1"/>
              <a:t>CHECK:</a:t>
            </a:r>
            <a:r>
              <a:t> </a:t>
            </a:r>
            <a:r>
              <a:t>Read each test out loud before running it: "Test one — trivially, 2 plus 2 is 4. Test two — </a:t>
            </a:r>
            <a:r>
              <a:rPr sz="1100">
                <a:latin typeface="Courier New"/>
              </a:rPr>
              <a:t>'ism3232'</a:t>
            </a:r>
            <a:r>
              <a:t> is already all lowercase, so it equals its own </a:t>
            </a:r>
            <a:r>
              <a:rPr sz="1100">
                <a:latin typeface="Courier New"/>
              </a:rPr>
              <a:t>.lower()</a:t>
            </a:r>
            <a:r>
              <a:t>. Test three — splitting that path on </a:t>
            </a:r>
            <a:r>
              <a:rPr sz="1100">
                <a:latin typeface="Courier New"/>
              </a:rPr>
              <a:t>/</a:t>
            </a:r>
            <a:r>
              <a:t> gives a list of segments, and </a:t>
            </a:r>
            <a:r>
              <a:rPr sz="1100">
                <a:latin typeface="Courier New"/>
              </a:rPr>
              <a:t>'ism3232'</a:t>
            </a:r>
            <a:r>
              <a:t> must be one of them."</a:t>
            </a:r>
          </a:p>
          <a:p>
            <a:r>
              <a:t> </a:t>
            </a:r>
          </a:p>
          <a:p>
            <a:r>
              <a:rPr b="1"/>
              <a:t>SLIDE NOTES</a:t>
            </a:r>
          </a:p>
          <a:p>
            <a:r>
              <a:t> </a:t>
            </a:r>
          </a:p>
          <a:p>
            <a:r>
              <a:t>Have students type this in, not paste it.</a:t>
            </a:r>
          </a:p>
          <a:p>
            <a:r>
              <a:t> </a:t>
            </a:r>
          </a:p>
          <a:p>
            <a:r>
              <a:t>Test three — splitting a path string on '/' produces a list of segments, and 'ism3232' must be one of those segments — this is the operation the slide's diagram highlights with the blue/orange/green brackets: the operation being tested, the expected result, and the validation gate that fails the whole test if the assertion is false.</a:t>
            </a:r>
          </a:p>
          <a:p>
            <a:r>
              <a:t> </a:t>
            </a:r>
          </a:p>
          <a:p>
            <a:r>
              <a:t>Point at the diagram's callouts directly while narrating: the blue bracket is the operation under test (.split('/')), the orange bracket is the expected result ('ism3232' in parts), and the green bracket is the validation gate — if that assert is False, the test fails outright, with no partial credit.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Step 8 — Run pytest and confirm all three pass</a:t>
            </a:r>
          </a:p>
          <a:p>
            <a:r>
              <a:t> </a:t>
            </a:r>
          </a:p>
          <a:p>
            <a:r>
              <a:rPr b="1"/>
              <a:t>SAY:</a:t>
            </a:r>
            <a:r>
              <a:t> </a:t>
            </a:r>
            <a:r>
              <a:t>"Moment of truth — run it."</a:t>
            </a:r>
          </a:p>
          <a:p>
            <a:r>
              <a:t> </a:t>
            </a:r>
          </a:p>
          <a:p>
            <a:r>
              <a:rPr b="1"/>
              <a:t>DO:</a:t>
            </a:r>
          </a:p>
          <a:p>
            <a:r>
              <a:rPr sz="1100">
                <a:latin typeface="Courier New"/>
              </a:rPr>
              <a:t>pytest -v</a:t>
            </a:r>
          </a:p>
          <a:p>
            <a:r>
              <a:t> </a:t>
            </a:r>
          </a:p>
          <a:p>
            <a:r>
              <a:rPr b="1"/>
              <a:t>CHECK:</a:t>
            </a:r>
          </a:p>
          <a:p>
            <a:r>
              <a:rPr sz="1100">
                <a:latin typeface="Courier New"/>
              </a:rPr>
              <a:t>tests/test_week4.py::test_always_passes PASSED</a:t>
            </a:r>
          </a:p>
          <a:p>
            <a:r>
              <a:rPr sz="1100">
                <a:latin typeface="Courier New"/>
              </a:rPr>
              <a:t>tests/test_week4.py::test_string_is_lowercase PASSED</a:t>
            </a:r>
          </a:p>
          <a:p>
            <a:r>
              <a:rPr sz="1100">
                <a:latin typeface="Courier New"/>
              </a:rPr>
              <a:t>tests/test_week4.py::test_path_segments PASSED</a:t>
            </a:r>
          </a:p>
          <a:p>
            <a:r>
              <a:rPr sz="1100">
                <a:latin typeface="Courier New"/>
              </a:rPr>
              <a:t> </a:t>
            </a:r>
          </a:p>
          <a:p>
            <a:r>
              <a:rPr sz="1100">
                <a:latin typeface="Courier New"/>
              </a:rPr>
              <a:t>======================== 3 passed in 0.01s ========================</a:t>
            </a:r>
          </a:p>
          <a:p>
            <a:r>
              <a:t> </a:t>
            </a:r>
          </a:p>
          <a:p>
            <a:r>
              <a:rPr b="1"/>
              <a:t>FIX:</a:t>
            </a:r>
            <a:r>
              <a:t> </a:t>
            </a:r>
            <a:r>
              <a:t>If </a:t>
            </a:r>
            <a:r>
              <a:rPr sz="1100">
                <a:latin typeface="Courier New"/>
              </a:rPr>
              <a:t>test_path_segments</a:t>
            </a:r>
            <a:r>
              <a:t> fails, print the actual </a:t>
            </a:r>
            <a:r>
              <a:rPr sz="1100">
                <a:latin typeface="Courier New"/>
              </a:rPr>
              <a:t>parts</a:t>
            </a:r>
            <a:r>
              <a:t> list with a debug </a:t>
            </a:r>
            <a:r>
              <a:rPr sz="1100">
                <a:latin typeface="Courier New"/>
              </a:rPr>
              <a:t>print(parts)</a:t>
            </a:r>
            <a:r>
              <a:t> above the </a:t>
            </a:r>
            <a:r>
              <a:rPr sz="1100">
                <a:latin typeface="Courier New"/>
              </a:rPr>
              <a:t>assert</a:t>
            </a:r>
            <a:r>
              <a:t> and re-run with </a:t>
            </a:r>
            <a:r>
              <a:rPr sz="1100">
                <a:latin typeface="Courier New"/>
              </a:rPr>
              <a:t>pytest -v -s</a:t>
            </a:r>
            <a:r>
              <a:t> (the </a:t>
            </a:r>
            <a:r>
              <a:rPr sz="1100">
                <a:latin typeface="Courier New"/>
              </a:rPr>
              <a:t>-s</a:t>
            </a:r>
            <a:r>
              <a:t> flag lets </a:t>
            </a:r>
            <a:r>
              <a:rPr sz="1100">
                <a:latin typeface="Courier New"/>
              </a:rPr>
              <a:t>print()</a:t>
            </a:r>
            <a:r>
              <a:t> output show) to see exactly what </a:t>
            </a:r>
            <a:r>
              <a:rPr sz="1100">
                <a:latin typeface="Courier New"/>
              </a:rPr>
              <a:t>.split('/')</a:t>
            </a:r>
            <a:r>
              <a:t> produced.</a:t>
            </a:r>
          </a:p>
          <a:p>
            <a:r>
              <a:t> </a:t>
            </a:r>
          </a:p>
          <a:p>
            <a:r>
              <a:rPr b="1"/>
              <a:t>SLIDE NOTES</a:t>
            </a:r>
          </a:p>
          <a:p>
            <a:r>
              <a:t> </a:t>
            </a:r>
          </a:p>
          <a:p>
            <a:r>
              <a:t>This is the one moment in the lab where debugging technique (not just running commands) is explicitly taught — slow down here if any student's tests aren't all green, since nothing later in the ritual should proceed on a red test suite.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a:t>
            </a:r>
          </a:p>
          <a:p>
            <a:r>
              <a:t> </a:t>
            </a:r>
          </a:p>
          <a:p>
            <a:r>
              <a:t>TRANSITION INTO PART 3 — Pre-Submission Ritual.</a:t>
            </a:r>
          </a:p>
          <a:p>
            <a:r>
              <a:rPr b="1"/>
              <a:t>SAY:</a:t>
            </a:r>
            <a:r>
              <a:t> "Here is the ritual. Ten steps, always in this order, for the rest of the semester. I'm going to run every single one and show you the checkpoint for each before moving to the next."</a:t>
            </a:r>
          </a:p>
          <a:p>
            <a:r>
              <a:t> </a:t>
            </a:r>
          </a:p>
          <a:p>
            <a:r>
              <a:t>Walk the four-stage grouping shown on the diagram exactly as it maps to the ten steps: Stage 1 Setup — 1. pwd, 2. tree -L 2 (the script says tree -L 3 for the check on this step; either depth is acceptable, the point is confirming the full structure before touching Git), 3. activate. Stage 2 Quality Control — 4. ruff format, 5. ruff check. Stage 3 Validation — 6. pytest. Stage 4 Version Control — 7. git status, 8. git add, 9. git commit, 10. git push.</a:t>
            </a:r>
          </a:p>
          <a:p>
            <a:r>
              <a:t> </a:t>
            </a:r>
          </a:p>
          <a:p>
            <a:r>
              <a:t>Land the bottom banner as a rule, not a suggestion: "The sequence is absolute. Never commit on red. Never push untested code." This is the same rule stated in the script's FIX notes for Steps 9e and 9f — lint errors and failing tests both block forward progress in the ritual,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Step 9d — Format the code</a:t>
            </a:r>
          </a:p>
          <a:p>
            <a:r>
              <a:t> </a:t>
            </a:r>
          </a:p>
          <a:p>
            <a:r>
              <a:rPr b="1"/>
              <a:t>Step 9d — Format the code</a:t>
            </a:r>
          </a:p>
          <a:p>
            <a:r>
              <a:rPr b="1"/>
              <a:t>SAY:</a:t>
            </a:r>
            <a:r>
              <a:t> </a:t>
            </a:r>
            <a:r>
              <a:t>"</a:t>
            </a:r>
            <a:r>
              <a:rPr sz="1100">
                <a:latin typeface="Courier New"/>
              </a:rPr>
              <a:t>ruff format</a:t>
            </a:r>
            <a:r>
              <a:t> rewrites your files to a consistent style automatically — spacing, quote style, line length."</a:t>
            </a:r>
          </a:p>
          <a:p>
            <a:r>
              <a:t> </a:t>
            </a:r>
          </a:p>
          <a:p>
            <a:r>
              <a:rPr b="1"/>
              <a:t>DO:</a:t>
            </a:r>
          </a:p>
          <a:p>
            <a:r>
              <a:rPr sz="1100">
                <a:latin typeface="Courier New"/>
              </a:rPr>
              <a:t>ruff format .</a:t>
            </a:r>
          </a:p>
          <a:p>
            <a:r>
              <a:t> </a:t>
            </a:r>
          </a:p>
          <a:p>
            <a:r>
              <a:rPr b="1"/>
              <a:t>CHECK:</a:t>
            </a:r>
          </a:p>
          <a:p>
            <a:r>
              <a:rPr sz="1100">
                <a:latin typeface="Courier New"/>
              </a:rPr>
              <a:t>2 files reformatted, 1 file left unchanged</a:t>
            </a:r>
          </a:p>
          <a:p>
            <a:r>
              <a:t>(Exact counts vary — the key output is that it ran without error.)</a:t>
            </a:r>
          </a:p>
          <a:p>
            <a:r>
              <a:t> </a:t>
            </a:r>
          </a:p>
          <a:p>
            <a:r>
              <a:rPr b="1"/>
              <a:t>Step 9e — Lint the code</a:t>
            </a:r>
          </a:p>
          <a:p>
            <a:r>
              <a:rPr b="1"/>
              <a:t>SAY:</a:t>
            </a:r>
            <a:r>
              <a:t> </a:t>
            </a:r>
            <a:r>
              <a:t>"</a:t>
            </a:r>
            <a:r>
              <a:rPr sz="1100">
                <a:latin typeface="Courier New"/>
              </a:rPr>
              <a:t>ruff check</a:t>
            </a:r>
            <a:r>
              <a:t> looks for actual problems — unused imports, undefined names — not just style."</a:t>
            </a:r>
          </a:p>
          <a:p>
            <a:r>
              <a:t> </a:t>
            </a:r>
          </a:p>
          <a:p>
            <a:r>
              <a:rPr b="1"/>
              <a:t>DO:</a:t>
            </a:r>
          </a:p>
          <a:p>
            <a:r>
              <a:rPr sz="1100">
                <a:latin typeface="Courier New"/>
              </a:rPr>
              <a:t>ruff check .</a:t>
            </a:r>
          </a:p>
          <a:p>
            <a:r>
              <a:t> </a:t>
            </a:r>
          </a:p>
          <a:p>
            <a:r>
              <a:rPr b="1"/>
              <a:t>CHECK:</a:t>
            </a:r>
          </a:p>
          <a:p>
            <a:r>
              <a:rPr sz="1100">
                <a:latin typeface="Courier New"/>
              </a:rPr>
              <a:t>All checks passed!</a:t>
            </a:r>
          </a:p>
          <a:p>
            <a:r>
              <a:t> </a:t>
            </a:r>
          </a:p>
          <a:p>
            <a:r>
              <a:rPr b="1"/>
              <a:t>FIX:</a:t>
            </a:r>
            <a:r>
              <a:t> </a:t>
            </a:r>
            <a:r>
              <a:t>If it lists errors instead, read the file:line references and fix each one before continuing — do not commit with lint errors present.</a:t>
            </a:r>
          </a:p>
          <a:p>
            <a:r>
              <a:t> </a:t>
            </a:r>
          </a:p>
          <a:p>
            <a:r>
              <a:rPr b="1"/>
              <a:t>Step 9f — Run the tests</a:t>
            </a:r>
          </a:p>
          <a:p>
            <a:r>
              <a:rPr b="1"/>
              <a:t>DO:</a:t>
            </a:r>
          </a:p>
          <a:p>
            <a:r>
              <a:rPr sz="1100">
                <a:latin typeface="Courier New"/>
              </a:rPr>
              <a:t>pytest</a:t>
            </a:r>
          </a:p>
          <a:p>
            <a:r>
              <a:t> </a:t>
            </a:r>
          </a:p>
          <a:p>
            <a:r>
              <a:rPr b="1"/>
              <a:t>CHECK:</a:t>
            </a:r>
          </a:p>
          <a:p>
            <a:r>
              <a:rPr sz="1100">
                <a:latin typeface="Courier New"/>
              </a:rPr>
              <a:t>3 passed in 0.01s</a:t>
            </a:r>
          </a:p>
          <a:p>
            <a:r>
              <a:t> </a:t>
            </a:r>
          </a:p>
          <a:p>
            <a:r>
              <a:rPr b="1"/>
              <a:t>FIX:</a:t>
            </a:r>
            <a:r>
              <a:t> </a:t>
            </a:r>
            <a:r>
              <a:t>If anything fails here, stop — go back and fix it before touching Git. Never commit on a red test suite.</a:t>
            </a:r>
          </a:p>
          <a:p>
            <a:r>
              <a:t> </a:t>
            </a:r>
          </a:p>
          <a:p>
            <a:r>
              <a:rPr b="1"/>
              <a:t>SLIDE NOTES</a:t>
            </a:r>
          </a:p>
          <a:p>
            <a:r>
              <a:t> </a:t>
            </a:r>
          </a:p>
          <a:p>
            <a:r>
              <a:t>LIVE DEMO — Steps 9d, 9e, 9f, the three quality gates that sit in the middle of the ritual (after activate, before Git).</a:t>
            </a:r>
          </a:p>
          <a:p>
            <a:r>
              <a:t> </a:t>
            </a:r>
          </a:p>
          <a:p>
            <a:r>
              <a:t>Emphasize the diagram's visual: each gate physically reshapes/inspects the code block before it's allowed to pass through to the next stage — that's the right mental model for why order matters.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Step 9a — Confirm location</a:t>
            </a:r>
          </a:p>
          <a:p>
            <a:r>
              <a:t> </a:t>
            </a:r>
          </a:p>
          <a:p>
            <a:r>
              <a:rPr b="1"/>
              <a:t>Step 9a — Confirm location</a:t>
            </a:r>
          </a:p>
          <a:p>
            <a:r>
              <a:rPr b="1"/>
              <a:t>DO:</a:t>
            </a:r>
          </a:p>
          <a:p>
            <a:r>
              <a:rPr sz="1100">
                <a:latin typeface="Courier New"/>
              </a:rPr>
              <a:t>pwd</a:t>
            </a:r>
          </a:p>
          <a:p>
            <a:r>
              <a:t> </a:t>
            </a:r>
          </a:p>
          <a:p>
            <a:r>
              <a:rPr b="1"/>
              <a:t>CHECK:</a:t>
            </a:r>
          </a:p>
          <a:p>
            <a:r>
              <a:rPr sz="1100">
                <a:latin typeface="Courier New"/>
              </a:rPr>
              <a:t>/Users/yourname/ism3232/module02_zsh</a:t>
            </a:r>
          </a:p>
          <a:p>
            <a:r>
              <a:t> </a:t>
            </a:r>
          </a:p>
          <a:p>
            <a:r>
              <a:rPr b="1"/>
              <a:t>Step 9b — Confirm structure</a:t>
            </a:r>
          </a:p>
          <a:p>
            <a:r>
              <a:rPr b="1"/>
              <a:t>DO:</a:t>
            </a:r>
          </a:p>
          <a:p>
            <a:r>
              <a:rPr sz="1100">
                <a:latin typeface="Courier New"/>
              </a:rPr>
              <a:t>tree -L 3</a:t>
            </a:r>
          </a:p>
          <a:p>
            <a:r>
              <a:t> </a:t>
            </a:r>
          </a:p>
          <a:p>
            <a:r>
              <a:rPr b="1"/>
              <a:t>CHECK:</a:t>
            </a:r>
            <a:r>
              <a:t> </a:t>
            </a:r>
            <a:r>
              <a:t>Full structure including </a:t>
            </a:r>
            <a:r>
              <a:rPr sz="1100">
                <a:latin typeface="Courier New"/>
              </a:rPr>
              <a:t>.venv/</a:t>
            </a:r>
            <a:r>
              <a:t>, </a:t>
            </a:r>
            <a:r>
              <a:rPr sz="1100">
                <a:latin typeface="Courier New"/>
              </a:rPr>
              <a:t>tests/</a:t>
            </a:r>
            <a:r>
              <a:t>, </a:t>
            </a:r>
            <a:r>
              <a:rPr sz="1100">
                <a:latin typeface="Courier New"/>
              </a:rPr>
              <a:t>requirements.txt</a:t>
            </a:r>
            <a:r>
              <a:t>, </a:t>
            </a:r>
            <a:r>
              <a:rPr sz="1100">
                <a:latin typeface="Courier New"/>
              </a:rPr>
              <a:t>.gitignore</a:t>
            </a:r>
            <a:r>
              <a:t> — a snapshot of exactly what exists before you touch Git.</a:t>
            </a:r>
          </a:p>
          <a:p>
            <a:r>
              <a:t> </a:t>
            </a:r>
          </a:p>
          <a:p>
            <a:r>
              <a:rPr b="1"/>
              <a:t>Step 9c — Activate the venv</a:t>
            </a:r>
          </a:p>
          <a:p>
            <a:r>
              <a:rPr b="1"/>
              <a:t>DO:</a:t>
            </a:r>
          </a:p>
          <a:p>
            <a:r>
              <a:rPr sz="1100">
                <a:latin typeface="Courier New"/>
              </a:rPr>
              <a:t>source .venv/bin/activate</a:t>
            </a:r>
          </a:p>
          <a:p>
            <a:r>
              <a:t> </a:t>
            </a:r>
          </a:p>
          <a:p>
            <a:r>
              <a:rPr b="1"/>
              <a:t>CHECK:</a:t>
            </a:r>
            <a:r>
              <a:t> </a:t>
            </a:r>
            <a:r>
              <a:rPr sz="1100">
                <a:latin typeface="Courier New"/>
              </a:rPr>
              <a:t>(.venv)</a:t>
            </a:r>
            <a:r>
              <a:t> prefix appears in the prompt.</a:t>
            </a:r>
          </a:p>
          <a:p>
            <a:r>
              <a:t> </a:t>
            </a:r>
          </a:p>
          <a:p>
            <a:r>
              <a:rPr b="1"/>
              <a:t>Step 9d — Format the code</a:t>
            </a:r>
          </a:p>
          <a:p>
            <a:r>
              <a:rPr b="1"/>
              <a:t>SAY:</a:t>
            </a:r>
            <a:r>
              <a:t> </a:t>
            </a:r>
            <a:r>
              <a:t>"</a:t>
            </a:r>
            <a:r>
              <a:rPr sz="1100">
                <a:latin typeface="Courier New"/>
              </a:rPr>
              <a:t>ruff format</a:t>
            </a:r>
            <a:r>
              <a:t> rewrites your files to a consistent style automatically — spacing, quote style, line length."</a:t>
            </a:r>
          </a:p>
          <a:p>
            <a:r>
              <a:t> </a:t>
            </a:r>
          </a:p>
          <a:p>
            <a:r>
              <a:rPr b="1"/>
              <a:t>DO:</a:t>
            </a:r>
          </a:p>
          <a:p>
            <a:r>
              <a:rPr sz="1100">
                <a:latin typeface="Courier New"/>
              </a:rPr>
              <a:t>ruff format .</a:t>
            </a:r>
          </a:p>
          <a:p>
            <a:r>
              <a:t> </a:t>
            </a:r>
          </a:p>
          <a:p>
            <a:r>
              <a:rPr b="1"/>
              <a:t>CHECK:</a:t>
            </a:r>
          </a:p>
          <a:p>
            <a:r>
              <a:rPr sz="1100">
                <a:latin typeface="Courier New"/>
              </a:rPr>
              <a:t>2 files reformatted, 1 file left unchanged</a:t>
            </a:r>
          </a:p>
          <a:p>
            <a:r>
              <a:t>(Exact counts vary — the key output is that it ran without error.)</a:t>
            </a:r>
          </a:p>
          <a:p>
            <a:r>
              <a:t> </a:t>
            </a:r>
          </a:p>
          <a:p>
            <a:r>
              <a:rPr b="1"/>
              <a:t>Step 9e — Lint the code</a:t>
            </a:r>
          </a:p>
          <a:p>
            <a:r>
              <a:rPr b="1"/>
              <a:t>SAY:</a:t>
            </a:r>
            <a:r>
              <a:t> </a:t>
            </a:r>
            <a:r>
              <a:t>"</a:t>
            </a:r>
            <a:r>
              <a:rPr sz="1100">
                <a:latin typeface="Courier New"/>
              </a:rPr>
              <a:t>ruff check</a:t>
            </a:r>
            <a:r>
              <a:t> looks for actual problems — unused imports, undefined names — not just style."</a:t>
            </a:r>
          </a:p>
          <a:p>
            <a:r>
              <a:t> </a:t>
            </a:r>
          </a:p>
          <a:p>
            <a:r>
              <a:rPr b="1"/>
              <a:t>DO:</a:t>
            </a:r>
          </a:p>
          <a:p>
            <a:r>
              <a:rPr sz="1100">
                <a:latin typeface="Courier New"/>
              </a:rPr>
              <a:t>ruff check .</a:t>
            </a:r>
          </a:p>
          <a:p>
            <a:r>
              <a:t> </a:t>
            </a:r>
          </a:p>
          <a:p>
            <a:r>
              <a:rPr b="1"/>
              <a:t>CHECK:</a:t>
            </a:r>
          </a:p>
          <a:p>
            <a:r>
              <a:rPr sz="1100">
                <a:latin typeface="Courier New"/>
              </a:rPr>
              <a:t>All checks passed!</a:t>
            </a:r>
          </a:p>
          <a:p>
            <a:r>
              <a:t> </a:t>
            </a:r>
          </a:p>
          <a:p>
            <a:r>
              <a:rPr b="1"/>
              <a:t>FIX:</a:t>
            </a:r>
            <a:r>
              <a:t> </a:t>
            </a:r>
            <a:r>
              <a:t>If it lists errors instead, read the file:line references and fix each one before continuing — do not commit with lint errors present.</a:t>
            </a:r>
          </a:p>
          <a:p>
            <a:r>
              <a:t> </a:t>
            </a:r>
          </a:p>
          <a:p>
            <a:r>
              <a:rPr b="1"/>
              <a:t>Step 9f — Run the tests</a:t>
            </a:r>
          </a:p>
          <a:p>
            <a:r>
              <a:rPr b="1"/>
              <a:t>DO:</a:t>
            </a:r>
          </a:p>
          <a:p>
            <a:r>
              <a:rPr sz="1100">
                <a:latin typeface="Courier New"/>
              </a:rPr>
              <a:t>pytest</a:t>
            </a:r>
          </a:p>
          <a:p>
            <a:r>
              <a:t> </a:t>
            </a:r>
          </a:p>
          <a:p>
            <a:r>
              <a:rPr b="1"/>
              <a:t>CHECK:</a:t>
            </a:r>
          </a:p>
          <a:p>
            <a:r>
              <a:rPr sz="1100">
                <a:latin typeface="Courier New"/>
              </a:rPr>
              <a:t>3 passed in 0.01s</a:t>
            </a:r>
          </a:p>
          <a:p>
            <a:r>
              <a:t> </a:t>
            </a:r>
          </a:p>
          <a:p>
            <a:r>
              <a:rPr b="1"/>
              <a:t>FIX:</a:t>
            </a:r>
            <a:r>
              <a:t> </a:t>
            </a:r>
            <a:r>
              <a:t>If anything fails here, stop — go back and fix it before touching Git. Never commit on a red test suite.</a:t>
            </a:r>
          </a:p>
          <a:p>
            <a:r>
              <a:t> </a:t>
            </a:r>
          </a:p>
          <a:p>
            <a:r>
              <a:rPr b="1"/>
              <a:t>SLIDE NOTES</a:t>
            </a:r>
          </a:p>
          <a:p>
            <a:r>
              <a:t> </a:t>
            </a:r>
          </a:p>
          <a:p>
            <a:r>
              <a:t>LIVE DEMO — the first six ritual steps, run one at a time, each with its own visible checkpoint before moving to the next.</a:t>
            </a:r>
          </a:p>
          <a:p>
            <a:r>
              <a:t> </a:t>
            </a:r>
          </a:p>
          <a:p>
            <a:r>
              <a:t>9a/9b — Location &amp; Structure.</a:t>
            </a:r>
          </a:p>
          <a:p>
            <a:r>
              <a:t> </a:t>
            </a:r>
          </a:p>
          <a:p>
            <a:r>
              <a:t>Reiterate: this is the last checkpoint before Git is touched at all — nothing in Stage 4 should run until this line is green.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a:t>
            </a:r>
          </a:p>
          <a:p>
            <a:r>
              <a:t> </a:t>
            </a:r>
          </a:p>
          <a:p>
            <a:r>
              <a:t>CONCEPT — the Git half of the ritual as a mental model, bridging into Steps 9g–9j. Teaching goal: give students a physical metaphor for git status / git add / git commit / git push before running them live, since these four commands are the part of the ritual students most often run out of order.</a:t>
            </a:r>
          </a:p>
          <a:p>
            <a:r>
              <a:t> </a:t>
            </a:r>
          </a:p>
          <a:p>
            <a:r>
              <a:t>Narrate the metaphor directly off the diagram: your laptop is the Local Staging Area. git status is checking what's changed — walking around the room and noting what's out of place. git add . is putting files into the box — nothing is sent anywhere yet, it's just gathered and marked ready. git commit -m '...' is sealing and labeling that box — a permanent, named snapshot in your local history. git push is the truck carrying the sealed box across the bridge — the internet gap — to Remote Storage, where the files land safely in the cloud repository (GitHub).</a:t>
            </a:r>
          </a:p>
          <a:p>
            <a:r>
              <a:t> </a:t>
            </a:r>
          </a:p>
          <a:p>
            <a:r>
              <a:t>Emphasize the order encoded in the metaphor: you cannot push a box that was never sealed (committed), and you cannot seal a box that was never packed (added) — the four steps are strictly sequential, which is exactly why the ritual lists them in this order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Step 9g — Check git status</a:t>
            </a:r>
          </a:p>
          <a:p>
            <a:r>
              <a:t> </a:t>
            </a:r>
          </a:p>
          <a:p>
            <a:r>
              <a:rPr b="1"/>
              <a:t>Step 9g — Check git status</a:t>
            </a:r>
          </a:p>
          <a:p>
            <a:r>
              <a:rPr b="1"/>
              <a:t>DO:</a:t>
            </a:r>
          </a:p>
          <a:p>
            <a:r>
              <a:rPr sz="1100">
                <a:latin typeface="Courier New"/>
              </a:rPr>
              <a:t>git status</a:t>
            </a:r>
          </a:p>
          <a:p>
            <a:r>
              <a:t> </a:t>
            </a:r>
          </a:p>
          <a:p>
            <a:r>
              <a:rPr b="1"/>
              <a:t>CHECK:</a:t>
            </a:r>
            <a:r>
              <a:t> </a:t>
            </a:r>
            <a:r>
              <a:t>A list of untracked/modified files — </a:t>
            </a:r>
            <a:r>
              <a:rPr sz="1100">
                <a:latin typeface="Courier New"/>
              </a:rPr>
              <a:t>tests/</a:t>
            </a:r>
            <a:r>
              <a:t>, any reformatted files, etc. — none of them should be </a:t>
            </a:r>
            <a:r>
              <a:rPr sz="1100">
                <a:latin typeface="Courier New"/>
              </a:rPr>
              <a:t>.venv/</a:t>
            </a:r>
            <a:r>
              <a:t> (that's what your Week 3 </a:t>
            </a:r>
            <a:r>
              <a:rPr sz="1100">
                <a:latin typeface="Courier New"/>
              </a:rPr>
              <a:t>.gitignore</a:t>
            </a:r>
            <a:r>
              <a:t> prevents).</a:t>
            </a:r>
          </a:p>
          <a:p>
            <a:r>
              <a:t> </a:t>
            </a:r>
          </a:p>
          <a:p>
            <a:r>
              <a:rPr b="1"/>
              <a:t>Step 9h — Stage everything</a:t>
            </a:r>
          </a:p>
          <a:p>
            <a:r>
              <a:rPr b="1"/>
              <a:t>DO:</a:t>
            </a:r>
          </a:p>
          <a:p>
            <a:r>
              <a:rPr sz="1100">
                <a:latin typeface="Courier New"/>
              </a:rPr>
              <a:t>git add .</a:t>
            </a:r>
          </a:p>
          <a:p>
            <a:r>
              <a:t> </a:t>
            </a:r>
          </a:p>
          <a:p>
            <a:r>
              <a:rPr b="1"/>
              <a:t>CHECK:</a:t>
            </a:r>
            <a:r>
              <a:t> </a:t>
            </a:r>
            <a:r>
              <a:t>No output. Re-run </a:t>
            </a:r>
            <a:r>
              <a:rPr sz="1100">
                <a:latin typeface="Courier New"/>
              </a:rPr>
              <a:t>git status</a:t>
            </a:r>
            <a:r>
              <a:t> mentally in your head — everything just staged should now show green/staged in a follow-up </a:t>
            </a:r>
            <a:r>
              <a:rPr sz="1100">
                <a:latin typeface="Courier New"/>
              </a:rPr>
              <a:t>git status</a:t>
            </a:r>
            <a:r>
              <a:t> if you want to double check.</a:t>
            </a:r>
          </a:p>
          <a:p>
            <a:r>
              <a:t> </a:t>
            </a:r>
          </a:p>
          <a:p>
            <a:r>
              <a:rPr b="1"/>
              <a:t>Step 9i — Commit with a descriptive message</a:t>
            </a:r>
          </a:p>
          <a:p>
            <a:r>
              <a:rPr b="1"/>
              <a:t>DO:</a:t>
            </a:r>
          </a:p>
          <a:p>
            <a:r>
              <a:rPr sz="1100">
                <a:latin typeface="Courier New"/>
              </a:rPr>
              <a:t>git commit -m 'lab 4: search ritual and git'</a:t>
            </a:r>
          </a:p>
          <a:p>
            <a:r>
              <a:t> </a:t>
            </a:r>
          </a:p>
          <a:p>
            <a:r>
              <a:rPr b="1"/>
              <a:t>CHECK:</a:t>
            </a:r>
          </a:p>
          <a:p>
            <a:r>
              <a:rPr sz="1100">
                <a:latin typeface="Courier New"/>
              </a:rPr>
              <a:t>[main abc1234] lab 4: search ritual and git</a:t>
            </a:r>
          </a:p>
          <a:p>
            <a:r>
              <a:rPr sz="1100">
                <a:latin typeface="Courier New"/>
              </a:rPr>
              <a:t> 4 files changed, 32 insertions(+)</a:t>
            </a:r>
          </a:p>
          <a:p>
            <a:r>
              <a:t> </a:t>
            </a:r>
          </a:p>
          <a:p>
            <a:r>
              <a:rPr b="1"/>
              <a:t>Step 9j — Push</a:t>
            </a:r>
          </a:p>
          <a:p>
            <a:r>
              <a:rPr b="1"/>
              <a:t>DO:</a:t>
            </a:r>
          </a:p>
          <a:p>
            <a:r>
              <a:rPr sz="1100">
                <a:latin typeface="Courier New"/>
              </a:rPr>
              <a:t>git push</a:t>
            </a:r>
          </a:p>
          <a:p>
            <a:r>
              <a:t> </a:t>
            </a:r>
          </a:p>
          <a:p>
            <a:r>
              <a:rPr b="1"/>
              <a:t>CHECK:</a:t>
            </a:r>
            <a:r>
              <a:t> </a:t>
            </a:r>
            <a:r>
              <a:t>Output ending in something like </a:t>
            </a:r>
            <a:r>
              <a:rPr sz="1100">
                <a:latin typeface="Courier New"/>
              </a:rPr>
              <a:t>main -&gt; main</a:t>
            </a:r>
            <a:r>
              <a:t> with no errors. (If this is your very first push, see Part 4 below first — you need a remote configured before </a:t>
            </a:r>
            <a:r>
              <a:rPr sz="1100">
                <a:latin typeface="Courier New"/>
              </a:rPr>
              <a:t>push</a:t>
            </a:r>
            <a:r>
              <a:t> works.)</a:t>
            </a:r>
          </a:p>
          <a:p>
            <a:r>
              <a:rPr b="1"/>
              <a:t>Ritual complete when:</a:t>
            </a:r>
            <a:r>
              <a:t> </a:t>
            </a:r>
            <a:r>
              <a:rPr sz="1100">
                <a:latin typeface="Courier New"/>
              </a:rPr>
              <a:t>ruff check</a:t>
            </a:r>
            <a:r>
              <a:t> returns no errors, </a:t>
            </a:r>
            <a:r>
              <a:rPr sz="1100">
                <a:latin typeface="Courier New"/>
              </a:rPr>
              <a:t>pytest</a:t>
            </a:r>
            <a:r>
              <a:t> returns all passed, and </a:t>
            </a:r>
            <a:r>
              <a:rPr sz="1100">
                <a:latin typeface="Courier New"/>
              </a:rPr>
              <a:t>git status</a:t>
            </a:r>
            <a:r>
              <a:t> says "nothing to commit" right after the push.</a:t>
            </a:r>
          </a:p>
          <a:p>
            <a:r>
              <a:t> </a:t>
            </a:r>
          </a:p>
          <a:p>
            <a:r>
              <a:rPr b="1"/>
              <a:t>Screenshot 2 checkpoint</a:t>
            </a:r>
          </a:p>
          <a:p>
            <a:r>
              <a:rPr b="1"/>
              <a:t>SAY:</a:t>
            </a:r>
            <a:r>
              <a:t> </a:t>
            </a:r>
            <a:r>
              <a:t>"Screenshot 2 — the entire ritual, from </a:t>
            </a:r>
            <a:r>
              <a:rPr sz="1100">
                <a:latin typeface="Courier New"/>
              </a:rPr>
              <a:t>pwd</a:t>
            </a:r>
            <a:r>
              <a:t> through </a:t>
            </a:r>
            <a:r>
              <a:rPr sz="1100">
                <a:latin typeface="Courier New"/>
              </a:rPr>
              <a:t>git push</a:t>
            </a:r>
            <a:r>
              <a:t>, visible in one terminal session."</a:t>
            </a:r>
          </a:p>
          <a:p>
            <a:r>
              <a:t> </a:t>
            </a:r>
          </a:p>
          <a:p>
            <a:r>
              <a:rPr b="1"/>
              <a:t>SLIDE NOTES</a:t>
            </a:r>
          </a:p>
          <a:p>
            <a:r>
              <a:t> </a:t>
            </a:r>
          </a:p>
          <a:p>
            <a:r>
              <a:t>9g — Check State.</a:t>
            </a:r>
          </a:p>
          <a:p>
            <a:r>
              <a:t> </a:t>
            </a:r>
          </a:p>
          <a:p>
            <a:r>
              <a:rPr b="1"/>
              <a:t>DO:</a:t>
            </a:r>
            <a:r>
              <a:t> git commit -m '&lt;a descriptive message&gt;' (the slide's example is 'feat: add week 4 search and tests'; the script's example is 'lab 4: search ritual and git' — either style is fine as long as the message is descriptive, not generic).</a:t>
            </a:r>
          </a:p>
          <a:p>
            <a:r>
              <a:t> </a:t>
            </a:r>
          </a:p>
          <a:p>
            <a:r>
              <a:t>If this is the student's very first push and it fails because there's no remote yet, that's expected — the next slide covers the one-time GitHub setup that fixes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 — Step 10 — Create the GitHub repo and connect it</a:t>
            </a:r>
          </a:p>
          <a:p>
            <a:r>
              <a:t> </a:t>
            </a:r>
          </a:p>
          <a:p>
            <a:r>
              <a:rPr b="1"/>
              <a:t>SAY:</a:t>
            </a:r>
            <a:r>
              <a:t> </a:t>
            </a:r>
            <a:r>
              <a:t>"If Step 9j just failed because there's no remote yet, here's the one-time setup."</a:t>
            </a:r>
          </a:p>
          <a:p>
            <a:r>
              <a:t> </a:t>
            </a:r>
          </a:p>
          <a:p>
            <a:r>
              <a:rPr b="1"/>
              <a:t>DO:</a:t>
            </a:r>
            <a:r>
              <a:t> </a:t>
            </a:r>
            <a:r>
              <a:t>On github.com: New repository → name it </a:t>
            </a:r>
            <a:r>
              <a:rPr sz="1100">
                <a:latin typeface="Courier New"/>
              </a:rPr>
              <a:t>ism3232-module02</a:t>
            </a:r>
            <a:r>
              <a:t> → set Private → do </a:t>
            </a:r>
            <a:r>
              <a:rPr b="1"/>
              <a:t>not</a:t>
            </a:r>
            <a:r>
              <a:t> initialize with a README. Then back in the terminal:</a:t>
            </a:r>
          </a:p>
          <a:p>
            <a:r>
              <a:rPr sz="1100">
                <a:latin typeface="Courier New"/>
              </a:rPr>
              <a:t>git remote add origin https://github.com/YOURUSERNAME/ism3232-module02.git</a:t>
            </a:r>
          </a:p>
          <a:p>
            <a:r>
              <a:rPr sz="1100">
                <a:latin typeface="Courier New"/>
              </a:rPr>
              <a:t>git branch -M main</a:t>
            </a:r>
          </a:p>
          <a:p>
            <a:r>
              <a:rPr sz="1100">
                <a:latin typeface="Courier New"/>
              </a:rPr>
              <a:t>git push -u origin main</a:t>
            </a:r>
          </a:p>
          <a:p>
            <a:r>
              <a:t> </a:t>
            </a:r>
          </a:p>
          <a:p>
            <a:r>
              <a:rPr b="1"/>
              <a:t>CHECK:</a:t>
            </a:r>
            <a:r>
              <a:t> </a:t>
            </a:r>
            <a:r>
              <a:t>Push output shows your objects being uploaded and ending with a line establishing </a:t>
            </a:r>
            <a:r>
              <a:rPr sz="1100">
                <a:latin typeface="Courier New"/>
              </a:rPr>
              <a:t>main</a:t>
            </a:r>
            <a:r>
              <a:t> tracks </a:t>
            </a:r>
            <a:r>
              <a:rPr sz="1100">
                <a:latin typeface="Courier New"/>
              </a:rPr>
              <a:t>origin/main</a:t>
            </a:r>
            <a:r>
              <a:t>.</a:t>
            </a:r>
          </a:p>
          <a:p>
            <a:r>
              <a:t> </a:t>
            </a:r>
          </a:p>
          <a:p>
            <a:r>
              <a:rPr b="1"/>
              <a:t>FIX:</a:t>
            </a:r>
            <a:r>
              <a:t> </a:t>
            </a:r>
            <a:r>
              <a:t>If you get "repository not found," double check the URL matches exactly what GitHub showed you after creating the repo — case and spelling both matter.</a:t>
            </a:r>
          </a:p>
          <a:p>
            <a:r>
              <a:t> </a:t>
            </a:r>
          </a:p>
          <a:p>
            <a:r>
              <a:rPr b="1"/>
              <a:t>SLIDE NOTES</a:t>
            </a:r>
          </a:p>
          <a:p>
            <a:r>
              <a:t> </a:t>
            </a:r>
          </a:p>
          <a:p>
            <a:r>
              <a:t>LIVE DEMO — Step 10, the one-time GitHub setup, only needed if the git push in the previous slide failed because there's no remote configured yet.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13 — Step 11 — Verify on GitHub.com</a:t>
            </a:r>
          </a:p>
          <a:p>
            <a:r>
              <a:t> </a:t>
            </a:r>
          </a:p>
          <a:p>
            <a:r>
              <a:rPr b="1"/>
              <a:t>Step 11 — Verify on GitHub.com</a:t>
            </a:r>
          </a:p>
          <a:p>
            <a:r>
              <a:rPr b="1"/>
              <a:t>SAY:</a:t>
            </a:r>
            <a:r>
              <a:t> </a:t>
            </a:r>
            <a:r>
              <a:t>"Don't trust the terminal alone — open the actual repository page in a browser."</a:t>
            </a:r>
          </a:p>
          <a:p>
            <a:r>
              <a:t> </a:t>
            </a:r>
          </a:p>
          <a:p>
            <a:r>
              <a:rPr b="1"/>
              <a:t>DO:</a:t>
            </a:r>
            <a:r>
              <a:t> </a:t>
            </a:r>
            <a:r>
              <a:t>Navigate to </a:t>
            </a:r>
            <a:r>
              <a:rPr sz="1100">
                <a:latin typeface="Courier New"/>
              </a:rPr>
              <a:t>https://github.com/YOURUSERNAME/ism3232-module02</a:t>
            </a:r>
            <a:r>
              <a:t> in Chrome.</a:t>
            </a:r>
          </a:p>
          <a:p>
            <a:r>
              <a:t> </a:t>
            </a:r>
          </a:p>
          <a:p>
            <a:r>
              <a:rPr b="1"/>
              <a:t>CHECK:</a:t>
            </a:r>
            <a:r>
              <a:t> </a:t>
            </a:r>
            <a:r>
              <a:t>Your files — </a:t>
            </a:r>
            <a:r>
              <a:rPr sz="1100">
                <a:latin typeface="Courier New"/>
              </a:rPr>
              <a:t>tests/test_week4.py</a:t>
            </a:r>
            <a:r>
              <a:t>, </a:t>
            </a:r>
            <a:r>
              <a:rPr sz="1100">
                <a:latin typeface="Courier New"/>
              </a:rPr>
              <a:t>requirements.txt</a:t>
            </a:r>
            <a:r>
              <a:t>, </a:t>
            </a:r>
            <a:r>
              <a:rPr sz="1100">
                <a:latin typeface="Courier New"/>
              </a:rPr>
              <a:t>.gitignore</a:t>
            </a:r>
            <a:r>
              <a:t>, </a:t>
            </a:r>
            <a:r>
              <a:rPr sz="1100">
                <a:latin typeface="Courier New"/>
              </a:rPr>
              <a:t>README.md</a:t>
            </a:r>
            <a:r>
              <a:t> — are all listed, and the latest commit message (</a:t>
            </a:r>
            <a:r>
              <a:rPr sz="1100">
                <a:latin typeface="Courier New"/>
              </a:rPr>
              <a:t>lab 4: search ritual and git</a:t>
            </a:r>
            <a:r>
              <a:t>) shows at the top.</a:t>
            </a:r>
          </a:p>
          <a:p>
            <a:r>
              <a:t> </a:t>
            </a:r>
          </a:p>
          <a:p>
            <a:r>
              <a:rPr b="1"/>
              <a:t>Screenshot 3 checkpoint</a:t>
            </a:r>
          </a:p>
          <a:p>
            <a:r>
              <a:rPr b="1"/>
              <a:t>SAY:</a:t>
            </a:r>
            <a:r>
              <a:t> </a:t>
            </a:r>
            <a:r>
              <a:t>"Screenshot 3 — your GitHub repository page, showing the committed files."</a:t>
            </a:r>
          </a:p>
          <a:p>
            <a:r>
              <a:t> </a:t>
            </a:r>
          </a:p>
          <a:p>
            <a:r>
              <a:rPr b="1"/>
              <a:t>Step 12 — Verify the commit log</a:t>
            </a:r>
          </a:p>
          <a:p>
            <a:r>
              <a:rPr b="1"/>
              <a:t>SAY:</a:t>
            </a:r>
            <a:r>
              <a:t> </a:t>
            </a:r>
            <a:r>
              <a:t>"One last check — the commit history itself, because this log is part of your grade."</a:t>
            </a:r>
          </a:p>
          <a:p>
            <a:r>
              <a:t> </a:t>
            </a:r>
          </a:p>
          <a:p>
            <a:r>
              <a:rPr b="1"/>
              <a:t>DO:</a:t>
            </a:r>
          </a:p>
          <a:p>
            <a:r>
              <a:rPr sz="1100">
                <a:latin typeface="Courier New"/>
              </a:rPr>
              <a:t>git log --oneline</a:t>
            </a:r>
          </a:p>
          <a:p>
            <a:r>
              <a:rPr sz="1100">
                <a:latin typeface="Courier New"/>
              </a:rPr>
              <a:t>git status</a:t>
            </a:r>
          </a:p>
          <a:p>
            <a:r>
              <a:t> </a:t>
            </a:r>
          </a:p>
          <a:p>
            <a:r>
              <a:rPr b="1"/>
              <a:t>CHECK:</a:t>
            </a:r>
          </a:p>
          <a:p>
            <a:r>
              <a:rPr sz="1100">
                <a:latin typeface="Courier New"/>
              </a:rPr>
              <a:t>abc1234 lab 4: search ritual and git</a:t>
            </a:r>
          </a:p>
          <a:p>
            <a:r>
              <a:t>and</a:t>
            </a:r>
          </a:p>
          <a:p>
            <a:r>
              <a:rPr sz="1100">
                <a:latin typeface="Courier New"/>
              </a:rPr>
              <a:t>nothing to commit, working tree clean</a:t>
            </a:r>
          </a:p>
          <a:p>
            <a:r>
              <a:t> </a:t>
            </a:r>
          </a:p>
          <a:p>
            <a:r>
              <a:rPr b="1"/>
              <a:t>FIX:</a:t>
            </a:r>
            <a:r>
              <a:t> </a:t>
            </a:r>
            <a:r>
              <a:t>If your commit message just says "final" or "update," rewrite future commits to be descriptive — that's explicitly graded from here forward.</a:t>
            </a:r>
          </a:p>
          <a:p>
            <a:r>
              <a:t> </a:t>
            </a:r>
          </a:p>
          <a:p>
            <a:r>
              <a:rPr b="1"/>
              <a:t>SLIDE NOTES</a:t>
            </a:r>
          </a:p>
          <a:p>
            <a:r>
              <a:t> </a:t>
            </a:r>
          </a:p>
          <a:p>
            <a:r>
              <a:t>LIVE DEMO — Step 11 (verify on GitHub.com) plus Screenshot 3, then Step 12 (verify the commit log).</a:t>
            </a:r>
          </a:p>
          <a:p>
            <a:r>
              <a:t> </a:t>
            </a:r>
          </a:p>
          <a:p>
            <a:r>
              <a:t>the log shows the descriptive commit message (e.g. 'lab 4: search ritual and git'), and git status reports 'nothing to commit, working tree clean.'</a:t>
            </a:r>
          </a:p>
          <a:p>
            <a:r>
              <a:rPr b="1"/>
              <a:t>FIX:</a:t>
            </a:r>
            <a:r>
              <a:t> if a past commit message just says 'final' or 'update,' tell students to rewrite FUTURE commits to be descriptive — that's explicitly graded from this lab forward, exactly as the warning banner on this slide states.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14 — SUBMISSION CHECKLIST</a:t>
            </a:r>
          </a:p>
          <a:p>
            <a:r>
              <a:t> </a:t>
            </a:r>
          </a:p>
          <a:p>
            <a:r>
              <a:t>• [ ] Screenshot 1: two </a:t>
            </a:r>
            <a:r>
              <a:rPr sz="1100">
                <a:latin typeface="Courier New"/>
              </a:rPr>
              <a:t>rg</a:t>
            </a:r>
            <a:r>
              <a:t> commands and </a:t>
            </a:r>
            <a:r>
              <a:rPr sz="1100">
                <a:latin typeface="Courier New"/>
              </a:rPr>
              <a:t>tree -L 3</a:t>
            </a:r>
            <a:r>
              <a:t> output</a:t>
            </a:r>
          </a:p>
          <a:p>
            <a:r>
              <a:t>• [ ] Screenshot 2: the complete pre-submission ritual — all steps in one terminal session</a:t>
            </a:r>
          </a:p>
          <a:p>
            <a:r>
              <a:t>• [ ] Screenshot 3: your GitHub repository page showing committed files</a:t>
            </a:r>
          </a:p>
          <a:p>
            <a:r>
              <a:t>• [ ] </a:t>
            </a:r>
            <a:r>
              <a:rPr sz="1100">
                <a:latin typeface="Courier New"/>
              </a:rPr>
              <a:t>module02_zsh/tests/test_week4.py</a:t>
            </a:r>
            <a:r>
              <a:t> uploaded</a:t>
            </a:r>
          </a:p>
          <a:p>
            <a:r>
              <a:t>• [ ] Your GitHub repository URL pasted into the Canvas text box</a:t>
            </a:r>
          </a:p>
          <a:p>
            <a:r>
              <a:t> </a:t>
            </a:r>
          </a:p>
          <a:p>
            <a:r>
              <a:rPr b="1"/>
              <a:t>SLIDE NOTES</a:t>
            </a:r>
          </a:p>
          <a:p>
            <a:r>
              <a:t> </a:t>
            </a:r>
          </a:p>
          <a:p>
            <a:r>
              <a:t>WRAP-UP — Submission Checklist. Walk every item before letting students upload to Canvas, mapped to the stage that produced it:</a:t>
            </a:r>
          </a:p>
          <a:p>
            <a:r>
              <a:t> </a:t>
            </a:r>
          </a:p>
          <a:p>
            <a:r>
              <a:rPr b="1"/>
              <a:t>[ ]</a:t>
            </a:r>
            <a:r>
              <a:t> Screenshot 1 — two rg commands and tree -L 3 output (Stage 1: Exploration).</a:t>
            </a:r>
          </a:p>
          <a:p>
            <a:r>
              <a:t> </a:t>
            </a:r>
          </a:p>
          <a:p>
            <a:r>
              <a:rPr b="1"/>
              <a:t>[ ]</a:t>
            </a:r>
            <a:r>
              <a:t> Screenshot 2 — the complete pre-submission ritual, all ten steps in one terminal session (Stage 3: Discipline).</a:t>
            </a:r>
          </a:p>
          <a:p>
            <a:r>
              <a:t> </a:t>
            </a:r>
          </a:p>
          <a:p>
            <a:r>
              <a:rPr b="1"/>
              <a:t>[ ]</a:t>
            </a:r>
            <a:r>
              <a:t> Screenshot 3 — the GitHub repository page showing committed files (Stage 4: Publishing).</a:t>
            </a:r>
          </a:p>
          <a:p>
            <a:r>
              <a:t> </a:t>
            </a:r>
          </a:p>
          <a:p>
            <a:r>
              <a:rPr b="1"/>
              <a:t>[ ]</a:t>
            </a:r>
            <a:r>
              <a:t> File upload — module02_zsh/tests/test_week4.py (Stage 2: Validation).</a:t>
            </a:r>
          </a:p>
          <a:p>
            <a:r>
              <a:t> </a:t>
            </a:r>
          </a:p>
          <a:p>
            <a:r>
              <a:rPr b="1"/>
              <a:t>[ ]</a:t>
            </a:r>
            <a:r>
              <a:t> URL submission — the student's GitHub repository URL pasted into the Canvas text box.</a:t>
            </a:r>
          </a:p>
          <a:p>
            <a:r>
              <a:t> </a:t>
            </a:r>
          </a:p>
          <a:p>
            <a:r>
              <a:t>Close on the framing from the slide's terminal-style footer: 'Lab 04 Sequence Complete. Workflow established. Ready for Unit 2.' Reinforce verbally that this exact ten-step ritual — not just today's content — is what carries forward into every remaining assignment this semester.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