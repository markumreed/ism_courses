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9" r:id="rId19"/>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 — INTRO</a:t>
            </a:r>
          </a:p>
          <a:p>
            <a:r>
              <a:t> </a:t>
            </a:r>
          </a:p>
          <a:p>
            <a:r>
              <a:rPr b="1"/>
              <a:t>SAY:</a:t>
            </a:r>
            <a:r>
              <a:t> </a:t>
            </a:r>
            <a:r>
              <a:t>"Lab 2 — zsh navigation and file operations. Before we touch </a:t>
            </a:r>
            <a:r>
              <a:rPr sz="1100">
                <a:latin typeface="Courier New"/>
              </a:rPr>
              <a:t>rm</a:t>
            </a:r>
            <a:r>
              <a:t>, memorize the rule: before any delete, run </a:t>
            </a:r>
            <a:r>
              <a:rPr sz="1100">
                <a:latin typeface="Courier New"/>
              </a:rPr>
              <a:t>pwd</a:t>
            </a:r>
            <a:r>
              <a:t> then </a:t>
            </a:r>
            <a:r>
              <a:rPr sz="1100">
                <a:latin typeface="Courier New"/>
              </a:rPr>
              <a:t>ls</a:t>
            </a:r>
            <a:r>
              <a:t>. Confirm where you are and what's there. </a:t>
            </a:r>
            <a:r>
              <a:rPr sz="1100">
                <a:latin typeface="Courier New"/>
              </a:rPr>
              <a:t>rm</a:t>
            </a:r>
            <a:r>
              <a:t> is permanent — no Trash, no undo. We'll practice that ritual explicitly later in this lab."</a:t>
            </a:r>
          </a:p>
          <a:p>
            <a:r>
              <a:t> </a:t>
            </a:r>
          </a:p>
          <a:p>
            <a:r>
              <a:rPr b="1"/>
              <a:t>SLIDE NOTES</a:t>
            </a:r>
          </a:p>
          <a:p>
            <a:r>
              <a:t> </a:t>
            </a:r>
          </a:p>
          <a:p>
            <a:r>
              <a:t>TITLE SLIDE — Lab 2: zsh Navigation &amp; File Operations.</a:t>
            </a:r>
          </a:p>
          <a:p>
            <a:r>
              <a:t> </a:t>
            </a:r>
          </a:p>
          <a:p>
            <a:r>
              <a:t>Frame the whole session up front: today is entirely about the terminal — no new Python concepts, just building total command-line fluency. Tell students the rm safety rule now, at the very top, because it is the single most consequence-heavy command they will learn this lab, and repeating it here means it is not a surprise later when Domain 4 arrives.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2</a:t>
            </a:r>
          </a:p>
          <a:p>
            <a:r>
              <a:t> </a:t>
            </a:r>
          </a:p>
          <a:p>
            <a:r>
              <a:t>ROADMAP — "Here is the whole lab on one screen, grouped into four skill domains."</a:t>
            </a:r>
          </a:p>
          <a:p>
            <a:r>
              <a:t> </a:t>
            </a:r>
          </a:p>
          <a:p>
            <a:r>
              <a:t>Domain 1: Spatial Awareness — pwd, ls, tree, cd (locating yourself and mapping the folder structure).</a:t>
            </a:r>
          </a:p>
          <a:p>
            <a:r>
              <a:t> </a:t>
            </a:r>
          </a:p>
          <a:p>
            <a:r>
              <a:t>Domain 2: Asset Management — touch, cp, mv, cat (creating, duplicating, relocating, and inspecting files).</a:t>
            </a:r>
          </a:p>
          <a:p>
            <a:r>
              <a:t> </a:t>
            </a:r>
          </a:p>
          <a:p>
            <a:r>
              <a:t>Domain 3: The Command Center — code (bridging the terminal to the VS Code workspace).</a:t>
            </a:r>
          </a:p>
          <a:p>
            <a:r>
              <a:t> </a:t>
            </a:r>
          </a:p>
          <a:p>
            <a:r>
              <a:t>Domain 4: Lethal Operations — rm (the safety ritual for permanent deletion).</a:t>
            </a:r>
          </a:p>
          <a:p>
            <a:r>
              <a:t> </a:t>
            </a:r>
          </a:p>
          <a:p>
            <a:r>
              <a:rPr b="1"/>
              <a:t>SAY:</a:t>
            </a:r>
            <a:r>
              <a:t> preview these four domains before diving in so students have a mental map of where the lab is going and why the rm ritual is saved for last — it depends on everything from Domains 1–3 (knowing where you are, what a file is, and how to look at it) before it is safe to introduce deletion.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3 — SETUP</a:t>
            </a:r>
          </a:p>
          <a:p>
            <a:r>
              <a:t> </a:t>
            </a:r>
          </a:p>
          <a:p>
            <a:r>
              <a:rPr b="1"/>
              <a:t>SETUP</a:t>
            </a:r>
          </a:p>
          <a:p>
            <a:r>
              <a:t> </a:t>
            </a:r>
          </a:p>
          <a:p>
            <a:r>
              <a:rPr b="1"/>
              <a:t>Step 0 — Create this week's lab folder</a:t>
            </a:r>
          </a:p>
          <a:p>
            <a:r>
              <a:rPr b="1"/>
              <a:t>SAY:</a:t>
            </a:r>
            <a:r>
              <a:t> </a:t>
            </a:r>
            <a:r>
              <a:t>"Everything today happens inside a new folder under Module 2, so it doesn't tangle with Week 1's files."</a:t>
            </a:r>
          </a:p>
          <a:p>
            <a:r>
              <a:t> </a:t>
            </a:r>
          </a:p>
          <a:p>
            <a:r>
              <a:rPr b="1"/>
              <a:t>DO:</a:t>
            </a:r>
          </a:p>
          <a:p>
            <a:r>
              <a:rPr sz="1100">
                <a:latin typeface="Courier New"/>
              </a:rPr>
              <a:t>cd ~/ism3232/module02_zsh</a:t>
            </a:r>
          </a:p>
          <a:p>
            <a:r>
              <a:rPr sz="1100">
                <a:latin typeface="Courier New"/>
              </a:rPr>
              <a:t>mkdir week2_lab</a:t>
            </a:r>
          </a:p>
          <a:p>
            <a:r>
              <a:rPr sz="1100">
                <a:latin typeface="Courier New"/>
              </a:rPr>
              <a:t>cd week2_lab</a:t>
            </a:r>
          </a:p>
          <a:p>
            <a:r>
              <a:rPr sz="1100">
                <a:latin typeface="Courier New"/>
              </a:rPr>
              <a:t>pwd</a:t>
            </a:r>
          </a:p>
          <a:p>
            <a:r>
              <a:t> </a:t>
            </a:r>
          </a:p>
          <a:p>
            <a:r>
              <a:rPr b="1"/>
              <a:t>CHECK:</a:t>
            </a:r>
          </a:p>
          <a:p>
            <a:r>
              <a:rPr sz="1100">
                <a:latin typeface="Courier New"/>
              </a:rPr>
              <a:t>/Users/yourname/ism3232/module02_zsh/week2_lab</a:t>
            </a:r>
          </a:p>
          <a:p>
            <a:r>
              <a:t> </a:t>
            </a:r>
          </a:p>
          <a:p>
            <a:r>
              <a:rPr b="1"/>
              <a:t>FIX:</a:t>
            </a:r>
            <a:r>
              <a:t> </a:t>
            </a:r>
            <a:r>
              <a:t>If </a:t>
            </a:r>
            <a:r>
              <a:rPr sz="1100">
                <a:latin typeface="Courier New"/>
              </a:rPr>
              <a:t>pwd</a:t>
            </a:r>
            <a:r>
              <a:t> shows a different path, you likely started from the wrong directory — run </a:t>
            </a:r>
            <a:r>
              <a:rPr sz="1100">
                <a:latin typeface="Courier New"/>
              </a:rPr>
              <a:t>cd ~/ism3232/module02_zsh/week2_lab</a:t>
            </a:r>
            <a:r>
              <a:t> directly and re-check.</a:t>
            </a:r>
          </a:p>
          <a:p>
            <a:r>
              <a:t> </a:t>
            </a:r>
          </a:p>
          <a:p>
            <a:r>
              <a:rPr b="1"/>
              <a:t>Step 1 — pwd</a:t>
            </a:r>
          </a:p>
          <a:p>
            <a:r>
              <a:rPr b="1"/>
              <a:t>SAY:</a:t>
            </a:r>
            <a:r>
              <a:t> </a:t>
            </a:r>
            <a:r>
              <a:t>"Where am I right now?"</a:t>
            </a:r>
          </a:p>
          <a:p>
            <a:r>
              <a:t> </a:t>
            </a:r>
          </a:p>
          <a:p>
            <a:r>
              <a:rPr b="1"/>
              <a:t>DO:</a:t>
            </a:r>
          </a:p>
          <a:p>
            <a:r>
              <a:rPr sz="1100">
                <a:latin typeface="Courier New"/>
              </a:rPr>
              <a:t>pwd</a:t>
            </a:r>
          </a:p>
          <a:p>
            <a:r>
              <a:t> </a:t>
            </a:r>
          </a:p>
          <a:p>
            <a:r>
              <a:rPr b="1"/>
              <a:t>CHECK:</a:t>
            </a:r>
          </a:p>
          <a:p>
            <a:r>
              <a:rPr sz="1100">
                <a:latin typeface="Courier New"/>
              </a:rPr>
              <a:t>/Users/yourname/ism3232/module02_zsh/week2_lab</a:t>
            </a:r>
          </a:p>
          <a:p>
            <a:r>
              <a:t> </a:t>
            </a:r>
          </a:p>
          <a:p>
            <a:r>
              <a:rPr b="1"/>
              <a:t>Step 4 — cd .. and pwd</a:t>
            </a:r>
          </a:p>
          <a:p>
            <a:r>
              <a:rPr b="1"/>
              <a:t>SAY:</a:t>
            </a:r>
            <a:r>
              <a:t> </a:t>
            </a:r>
            <a:r>
              <a:t>"Up one level, and confirm it worked."</a:t>
            </a:r>
          </a:p>
          <a:p>
            <a:r>
              <a:t> </a:t>
            </a:r>
          </a:p>
          <a:p>
            <a:r>
              <a:rPr b="1"/>
              <a:t>DO:</a:t>
            </a:r>
          </a:p>
          <a:p>
            <a:r>
              <a:rPr sz="1100">
                <a:latin typeface="Courier New"/>
              </a:rPr>
              <a:t>cd ..</a:t>
            </a:r>
          </a:p>
          <a:p>
            <a:r>
              <a:rPr sz="1100">
                <a:latin typeface="Courier New"/>
              </a:rPr>
              <a:t>pwd</a:t>
            </a:r>
          </a:p>
          <a:p>
            <a:r>
              <a:t> </a:t>
            </a:r>
          </a:p>
          <a:p>
            <a:r>
              <a:rPr b="1"/>
              <a:t>CHECK:</a:t>
            </a:r>
          </a:p>
          <a:p>
            <a:r>
              <a:rPr sz="1100">
                <a:latin typeface="Courier New"/>
              </a:rPr>
              <a:t>/Users/yourname/ism3232/module02_zsh</a:t>
            </a:r>
          </a:p>
          <a:p>
            <a:r>
              <a:t> </a:t>
            </a:r>
          </a:p>
          <a:p>
            <a:r>
              <a:rPr b="1"/>
              <a:t>SLIDE NOTES</a:t>
            </a:r>
          </a:p>
          <a:p>
            <a:r>
              <a:t> </a:t>
            </a:r>
          </a:p>
          <a:p>
            <a:r>
              <a:t>This slide's diagram is illustrative (generic module02_zsh/week2_lab boxes), not a literal terminal transcript — walk students through pwd as "Print Working Directory" and cd .. as moving exactly one level up, then have them actually run both commands and compare their own output to the CHECK text above.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4 — Step 2 — ls</a:t>
            </a:r>
          </a:p>
          <a:p>
            <a:r>
              <a:t> </a:t>
            </a:r>
          </a:p>
          <a:p>
            <a:r>
              <a:rPr b="1"/>
              <a:t>Step 2 — ls</a:t>
            </a:r>
          </a:p>
          <a:p>
            <a:r>
              <a:rPr b="1"/>
              <a:t>SAY:</a:t>
            </a:r>
            <a:r>
              <a:t> </a:t>
            </a:r>
            <a:r>
              <a:t>"What's visible in this folder?"</a:t>
            </a:r>
          </a:p>
          <a:p>
            <a:r>
              <a:t> </a:t>
            </a:r>
          </a:p>
          <a:p>
            <a:r>
              <a:rPr b="1"/>
              <a:t>DO:</a:t>
            </a:r>
          </a:p>
          <a:p>
            <a:r>
              <a:rPr sz="1100">
                <a:latin typeface="Courier New"/>
              </a:rPr>
              <a:t>ls</a:t>
            </a:r>
          </a:p>
          <a:p>
            <a:r>
              <a:t> </a:t>
            </a:r>
          </a:p>
          <a:p>
            <a:r>
              <a:rPr b="1"/>
              <a:t>CHECK:</a:t>
            </a:r>
            <a:r>
              <a:t> </a:t>
            </a:r>
            <a:r>
              <a:t>Empty output — the folder was just created and has nothing in it yet. That's expected, not an error.</a:t>
            </a:r>
          </a:p>
          <a:p>
            <a:r>
              <a:t> </a:t>
            </a:r>
          </a:p>
          <a:p>
            <a:r>
              <a:rPr b="1"/>
              <a:t>Step 3 — ls -la</a:t>
            </a:r>
          </a:p>
          <a:p>
            <a:r>
              <a:rPr b="1"/>
              <a:t>SAY:</a:t>
            </a:r>
            <a:r>
              <a:t> </a:t>
            </a:r>
            <a:r>
              <a:t>"Now the long listing, with hidden files — anything starting with a dot."</a:t>
            </a:r>
          </a:p>
          <a:p>
            <a:r>
              <a:t> </a:t>
            </a:r>
          </a:p>
          <a:p>
            <a:r>
              <a:rPr b="1"/>
              <a:t>DO:</a:t>
            </a:r>
          </a:p>
          <a:p>
            <a:r>
              <a:rPr sz="1100">
                <a:latin typeface="Courier New"/>
              </a:rPr>
              <a:t>ls -la</a:t>
            </a:r>
          </a:p>
          <a:p>
            <a:r>
              <a:t> </a:t>
            </a:r>
          </a:p>
          <a:p>
            <a:r>
              <a:rPr b="1"/>
              <a:t>CHECK:</a:t>
            </a:r>
          </a:p>
          <a:p>
            <a:r>
              <a:rPr sz="1100">
                <a:latin typeface="Courier New"/>
              </a:rPr>
              <a:t>drwxr-xr-x   2 yourname  staff   64 Aug 25 10:03 .</a:t>
            </a:r>
          </a:p>
          <a:p>
            <a:r>
              <a:rPr sz="1100">
                <a:latin typeface="Courier New"/>
              </a:rPr>
              <a:t>drwxr-xr-x   3 yourname  staff   96 Aug 25 10:03 ..</a:t>
            </a:r>
          </a:p>
          <a:p>
            <a:r>
              <a:t>The two entries </a:t>
            </a:r>
            <a:r>
              <a:rPr sz="1100">
                <a:latin typeface="Courier New"/>
              </a:rPr>
              <a:t>.</a:t>
            </a:r>
            <a:r>
              <a:t> (this folder) and </a:t>
            </a:r>
            <a:r>
              <a:rPr sz="1100">
                <a:latin typeface="Courier New"/>
              </a:rPr>
              <a:t>..</a:t>
            </a:r>
            <a:r>
              <a:t> (its parent) always appear even in an empty folder — that's what </a:t>
            </a:r>
            <a:r>
              <a:rPr sz="1100">
                <a:latin typeface="Courier New"/>
              </a:rPr>
              <a:t>-a</a:t>
            </a:r>
            <a:r>
              <a:t> (all) surfaces that plain </a:t>
            </a:r>
            <a:r>
              <a:rPr sz="1100">
                <a:latin typeface="Courier New"/>
              </a:rPr>
              <a:t>ls</a:t>
            </a:r>
            <a:r>
              <a:t> hides.</a:t>
            </a:r>
          </a:p>
          <a:p>
            <a:r>
              <a:t> </a:t>
            </a:r>
          </a:p>
          <a:p>
            <a:r>
              <a:rPr b="1"/>
              <a:t>SLIDE NOTES</a:t>
            </a:r>
          </a:p>
          <a:p>
            <a:r>
              <a:t> </a:t>
            </a:r>
          </a:p>
          <a:p>
            <a:r>
              <a:t>Key insight to say out loud, exactly as the slide states it: the "." and ".." entries ALWAYS appear, even in an empty folder — that is what the -a (all) flag surfaces that plain ls hides. This is the moment to explicitly connect "empty ls output" with "not broken" — a very common beginner panic 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5 — Step 5 — Jump to the course root and visualize it</a:t>
            </a:r>
          </a:p>
          <a:p>
            <a:r>
              <a:t> </a:t>
            </a:r>
          </a:p>
          <a:p>
            <a:r>
              <a:rPr b="1"/>
              <a:t>Step 5 — Jump to the course root and visualize it</a:t>
            </a:r>
          </a:p>
          <a:p>
            <a:r>
              <a:rPr b="1"/>
              <a:t>SAY:</a:t>
            </a:r>
            <a:r>
              <a:t> </a:t>
            </a:r>
            <a:r>
              <a:t>"Let's jump all the way to the course folder and look at the whole structure at once with </a:t>
            </a:r>
            <a:r>
              <a:rPr sz="1100">
                <a:latin typeface="Courier New"/>
              </a:rPr>
              <a:t>tree</a:t>
            </a:r>
            <a:r>
              <a:t>."</a:t>
            </a:r>
          </a:p>
          <a:p>
            <a:r>
              <a:t> </a:t>
            </a:r>
          </a:p>
          <a:p>
            <a:r>
              <a:rPr b="1"/>
              <a:t>DO:</a:t>
            </a:r>
          </a:p>
          <a:p>
            <a:r>
              <a:rPr sz="1100">
                <a:latin typeface="Courier New"/>
              </a:rPr>
              <a:t>cd ~/ism3232</a:t>
            </a:r>
          </a:p>
          <a:p>
            <a:r>
              <a:rPr sz="1100">
                <a:latin typeface="Courier New"/>
              </a:rPr>
              <a:t>tree -L 2</a:t>
            </a:r>
          </a:p>
          <a:p>
            <a:r>
              <a:t> </a:t>
            </a:r>
          </a:p>
          <a:p>
            <a:r>
              <a:rPr b="1"/>
              <a:t>CHECK:</a:t>
            </a:r>
          </a:p>
          <a:p>
            <a:r>
              <a:rPr sz="1100">
                <a:latin typeface="Courier New"/>
              </a:rPr>
              <a:t>.</a:t>
            </a:r>
          </a:p>
          <a:p>
            <a:r>
              <a:rPr sz="1100">
                <a:latin typeface="Courier New"/>
              </a:rPr>
              <a:t>├── module01_setup</a:t>
            </a:r>
          </a:p>
          <a:p>
            <a:r>
              <a:rPr sz="1100">
                <a:latin typeface="Courier New"/>
              </a:rPr>
              <a:t>│   ├── README.md</a:t>
            </a:r>
          </a:p>
          <a:p>
            <a:r>
              <a:rPr sz="1100">
                <a:latin typeface="Courier New"/>
              </a:rPr>
              <a:t>│   └── hello_ism3232.py</a:t>
            </a:r>
          </a:p>
          <a:p>
            <a:r>
              <a:rPr sz="1100">
                <a:latin typeface="Courier New"/>
              </a:rPr>
              <a:t>├── module02_zsh</a:t>
            </a:r>
          </a:p>
          <a:p>
            <a:r>
              <a:rPr sz="1100">
                <a:latin typeface="Courier New"/>
              </a:rPr>
              <a:t>│   └── week2_lab</a:t>
            </a:r>
          </a:p>
          <a:p>
            <a:r>
              <a:rPr sz="1100">
                <a:latin typeface="Courier New"/>
              </a:rPr>
              <a:t>├── module03_git_github</a:t>
            </a:r>
          </a:p>
          <a:p>
            <a:r>
              <a:rPr sz="1100">
                <a:latin typeface="Courier New"/>
              </a:rPr>
              <a:t>├── module04_programming</a:t>
            </a:r>
          </a:p>
          <a:p>
            <a:r>
              <a:rPr sz="1100">
                <a:latin typeface="Courier New"/>
              </a:rPr>
              <a:t>├── module05_functions</a:t>
            </a:r>
          </a:p>
          <a:p>
            <a:r>
              <a:rPr sz="1100">
                <a:latin typeface="Courier New"/>
              </a:rPr>
              <a:t>├── module06_oop</a:t>
            </a:r>
          </a:p>
          <a:p>
            <a:r>
              <a:rPr sz="1100">
                <a:latin typeface="Courier New"/>
              </a:rPr>
              <a:t>├── module07_final_project</a:t>
            </a:r>
          </a:p>
          <a:p>
            <a:r>
              <a:rPr sz="1100">
                <a:latin typeface="Courier New"/>
              </a:rPr>
              <a:t>├── data</a:t>
            </a:r>
          </a:p>
          <a:p>
            <a:r>
              <a:rPr sz="1100">
                <a:latin typeface="Courier New"/>
              </a:rPr>
              <a:t>└── screenshots</a:t>
            </a:r>
          </a:p>
          <a:p>
            <a:r>
              <a:t>(Exact contents of </a:t>
            </a:r>
            <a:r>
              <a:rPr sz="1100">
                <a:latin typeface="Courier New"/>
              </a:rPr>
              <a:t>module01_setup</a:t>
            </a:r>
            <a:r>
              <a:t> will match whatever you built last week; the point is the tree renders without error and </a:t>
            </a:r>
            <a:r>
              <a:rPr sz="1100">
                <a:latin typeface="Courier New"/>
              </a:rPr>
              <a:t>week2_lab</a:t>
            </a:r>
            <a:r>
              <a:t> shows up under </a:t>
            </a:r>
            <a:r>
              <a:rPr sz="1100">
                <a:latin typeface="Courier New"/>
              </a:rPr>
              <a:t>module02_zsh</a:t>
            </a:r>
            <a:r>
              <a:t>.)</a:t>
            </a:r>
          </a:p>
          <a:p>
            <a:r>
              <a:t> </a:t>
            </a:r>
          </a:p>
          <a:p>
            <a:r>
              <a:rPr b="1"/>
              <a:t>FIX:</a:t>
            </a:r>
            <a:r>
              <a:t> </a:t>
            </a:r>
            <a:r>
              <a:t>If </a:t>
            </a:r>
            <a:r>
              <a:rPr sz="1100">
                <a:latin typeface="Courier New"/>
              </a:rPr>
              <a:t>tree: command not found</a:t>
            </a:r>
            <a:r>
              <a:t>, install it — macOS: </a:t>
            </a:r>
            <a:r>
              <a:rPr sz="1100">
                <a:latin typeface="Courier New"/>
              </a:rPr>
              <a:t>brew install tree</a:t>
            </a:r>
            <a:r>
              <a:t>; Ubuntu: </a:t>
            </a:r>
            <a:r>
              <a:rPr sz="1100">
                <a:latin typeface="Courier New"/>
              </a:rPr>
              <a:t>sudo apt install tree</a:t>
            </a:r>
            <a:r>
              <a:t>. As a fallback you can use </a:t>
            </a:r>
            <a:r>
              <a:rPr sz="1100">
                <a:latin typeface="Courier New"/>
              </a:rPr>
              <a:t>ls -R module02_zsh</a:t>
            </a:r>
            <a:r>
              <a:t> to see the same structure less visually.</a:t>
            </a:r>
          </a:p>
          <a:p>
            <a:r>
              <a:t> </a:t>
            </a:r>
          </a:p>
          <a:p>
            <a:r>
              <a:rPr b="1"/>
              <a:t>Screenshot 1 checkpoint</a:t>
            </a:r>
          </a:p>
          <a:p>
            <a:r>
              <a:rPr b="1"/>
              <a:t>SAY:</a:t>
            </a:r>
            <a:r>
              <a:t> </a:t>
            </a:r>
            <a:r>
              <a:t>"Screenshot 1 — the </a:t>
            </a:r>
            <a:r>
              <a:rPr sz="1100">
                <a:latin typeface="Courier New"/>
              </a:rPr>
              <a:t>tree -L 2</a:t>
            </a:r>
            <a:r>
              <a:t> output from </a:t>
            </a:r>
            <a:r>
              <a:rPr sz="1100">
                <a:latin typeface="Courier New"/>
              </a:rPr>
              <a:t>~/ism3232/</a:t>
            </a:r>
            <a:r>
              <a:t>, showing the full module structure."</a:t>
            </a:r>
          </a:p>
          <a:p>
            <a:r>
              <a:t> </a:t>
            </a:r>
          </a:p>
          <a:p>
            <a:r>
              <a:rPr b="1"/>
              <a:t>SLIDE NOTES</a:t>
            </a:r>
          </a:p>
          <a:p>
            <a:r>
              <a:t> </a:t>
            </a:r>
          </a:p>
          <a:p>
            <a:r>
              <a:t>CHECK (the REAL expected output for this course, not the illustrative folder names on this slide): a tree rooted at "." showing module01_setup (with README.md and hello_ism3232.py), module02_zsh (with week2_lab inside it), module03_git_github, module04_programming, module05_functions, module06_oop, module07_final_project, data, and screenshots.</a:t>
            </a:r>
          </a:p>
          <a:p>
            <a:r>
              <a:t> </a:t>
            </a:r>
          </a:p>
          <a:p>
            <a:r>
              <a:t>Note for the presenter: the folder names drawn on this slide graphic (module01_intro, module03_git, "projects", etc.) are a generic stand-in illustration of tree -L 2 output in general — do not read them as the actual expected folder names. State the real ISM3232 folder names above out loud instead so students aren't confused when their own tree looks different from the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6 — Step 6 — Return to the lab folder</a:t>
            </a:r>
          </a:p>
          <a:p>
            <a:r>
              <a:t> </a:t>
            </a:r>
          </a:p>
          <a:p>
            <a:r>
              <a:rPr b="1"/>
              <a:t>Step 6 — Return to the lab folder</a:t>
            </a:r>
          </a:p>
          <a:p>
            <a:r>
              <a:rPr b="1"/>
              <a:t>SAY:</a:t>
            </a:r>
            <a:r>
              <a:t> </a:t>
            </a:r>
            <a:r>
              <a:t>"Back into today's folder before we start creating files."</a:t>
            </a:r>
          </a:p>
          <a:p>
            <a:r>
              <a:t> </a:t>
            </a:r>
          </a:p>
          <a:p>
            <a:r>
              <a:rPr b="1"/>
              <a:t>DO:</a:t>
            </a:r>
          </a:p>
          <a:p>
            <a:r>
              <a:rPr sz="1100">
                <a:latin typeface="Courier New"/>
              </a:rPr>
              <a:t>cd module02_zsh/week2_lab</a:t>
            </a:r>
          </a:p>
          <a:p>
            <a:r>
              <a:rPr sz="1100">
                <a:latin typeface="Courier New"/>
              </a:rPr>
              <a:t>pwd</a:t>
            </a:r>
          </a:p>
          <a:p>
            <a:r>
              <a:t> </a:t>
            </a:r>
          </a:p>
          <a:p>
            <a:r>
              <a:rPr b="1"/>
              <a:t>CHECK:</a:t>
            </a:r>
          </a:p>
          <a:p>
            <a:r>
              <a:rPr sz="1100">
                <a:latin typeface="Courier New"/>
              </a:rPr>
              <a:t>/Users/yourname/ism3232/module02_zsh/week2_lab</a:t>
            </a:r>
          </a:p>
          <a:p>
            <a:r>
              <a:t> </a:t>
            </a:r>
          </a:p>
          <a:p>
            <a:r>
              <a:rPr b="1"/>
              <a:t>Step 7 — Create three files at once</a:t>
            </a:r>
          </a:p>
          <a:p>
            <a:r>
              <a:rPr b="1"/>
              <a:t>SAY:</a:t>
            </a:r>
            <a:r>
              <a:t> </a:t>
            </a:r>
            <a:r>
              <a:t>"</a:t>
            </a:r>
            <a:r>
              <a:rPr sz="1100">
                <a:latin typeface="Courier New"/>
              </a:rPr>
              <a:t>touch</a:t>
            </a:r>
            <a:r>
              <a:t> creates empty files — no content, just the file itself. Let's create three in one line."</a:t>
            </a:r>
          </a:p>
          <a:p>
            <a:r>
              <a:t> </a:t>
            </a:r>
          </a:p>
          <a:p>
            <a:r>
              <a:rPr b="1"/>
              <a:t>DO:</a:t>
            </a:r>
          </a:p>
          <a:p>
            <a:r>
              <a:rPr sz="1100">
                <a:latin typeface="Courier New"/>
              </a:rPr>
              <a:t>touch notes.txt commands.txt hello_week2.py</a:t>
            </a:r>
          </a:p>
          <a:p>
            <a:r>
              <a:rPr sz="1100">
                <a:latin typeface="Courier New"/>
              </a:rPr>
              <a:t>ls -la</a:t>
            </a:r>
          </a:p>
          <a:p>
            <a:r>
              <a:t> </a:t>
            </a:r>
          </a:p>
          <a:p>
            <a:r>
              <a:rPr b="1"/>
              <a:t>CHECK:</a:t>
            </a:r>
          </a:p>
          <a:p>
            <a:r>
              <a:rPr sz="1100">
                <a:latin typeface="Courier New"/>
              </a:rPr>
              <a:t>commands.txt  hello_week2.py  notes.txt</a:t>
            </a:r>
          </a:p>
          <a:p>
            <a:r>
              <a:t>(plus the usual </a:t>
            </a:r>
            <a:r>
              <a:rPr sz="1100">
                <a:latin typeface="Courier New"/>
              </a:rPr>
              <a:t>.</a:t>
            </a:r>
            <a:r>
              <a:t> and </a:t>
            </a:r>
            <a:r>
              <a:rPr sz="1100">
                <a:latin typeface="Courier New"/>
              </a:rPr>
              <a:t>..</a:t>
            </a:r>
            <a:r>
              <a:t> entries from </a:t>
            </a:r>
            <a:r>
              <a:rPr sz="1100">
                <a:latin typeface="Courier New"/>
              </a:rPr>
              <a:t>-la</a:t>
            </a:r>
            <a:r>
              <a:t>)</a:t>
            </a:r>
          </a:p>
          <a:p>
            <a:r>
              <a:t> </a:t>
            </a:r>
          </a:p>
          <a:p>
            <a:r>
              <a:rPr b="1"/>
              <a:t>SLIDE NOTES</a:t>
            </a:r>
          </a:p>
          <a:p>
            <a:r>
              <a:t> </a:t>
            </a:r>
          </a:p>
          <a:p>
            <a:r>
              <a:t>This slide's graphic uses generic names (file1.txt/file2.txt/file3.txt) to illustrate the general shape of "one touch command, multiple files created at once" — say the REAL filenames from the CHECK line above (notes.txt, commands.txt, hello_week2.py) so students type the names they will actually need for the rest of the lab.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7 — Step 8 — Write to a file, then read it back</a:t>
            </a:r>
          </a:p>
          <a:p>
            <a:r>
              <a:t> </a:t>
            </a:r>
          </a:p>
          <a:p>
            <a:r>
              <a:rPr b="1"/>
              <a:t>SAY:</a:t>
            </a:r>
            <a:r>
              <a:t> </a:t>
            </a:r>
            <a:r>
              <a:t>"</a:t>
            </a:r>
            <a:r>
              <a:rPr sz="1100">
                <a:latin typeface="Courier New"/>
              </a:rPr>
              <a:t>&gt;</a:t>
            </a:r>
            <a:r>
              <a:t> writes text into a file, overwriting anything already there. Then we read it back two different ways."</a:t>
            </a:r>
          </a:p>
          <a:p>
            <a:r>
              <a:t> </a:t>
            </a:r>
          </a:p>
          <a:p>
            <a:r>
              <a:rPr b="1"/>
              <a:t>DO:</a:t>
            </a:r>
          </a:p>
          <a:p>
            <a:r>
              <a:rPr sz="1100">
                <a:latin typeface="Courier New"/>
              </a:rPr>
              <a:t>echo 'Week 2 navigation practice' &gt; notes.txt</a:t>
            </a:r>
          </a:p>
          <a:p>
            <a:r>
              <a:rPr sz="1100">
                <a:latin typeface="Courier New"/>
              </a:rPr>
              <a:t>cat notes.txt</a:t>
            </a:r>
          </a:p>
          <a:p>
            <a:r>
              <a:rPr sz="1100">
                <a:latin typeface="Courier New"/>
              </a:rPr>
              <a:t>head -1 notes.txt</a:t>
            </a:r>
          </a:p>
          <a:p>
            <a:r>
              <a:t> </a:t>
            </a:r>
          </a:p>
          <a:p>
            <a:r>
              <a:rPr b="1"/>
              <a:t>CHECK:</a:t>
            </a:r>
          </a:p>
          <a:p>
            <a:r>
              <a:rPr sz="1100">
                <a:latin typeface="Courier New"/>
              </a:rPr>
              <a:t>Week 2 navigation practice</a:t>
            </a:r>
          </a:p>
          <a:p>
            <a:r>
              <a:rPr sz="1100">
                <a:latin typeface="Courier New"/>
              </a:rPr>
              <a:t>Week 2 navigation practice</a:t>
            </a:r>
          </a:p>
          <a:p>
            <a:r>
              <a:rPr sz="1100">
                <a:latin typeface="Courier New"/>
              </a:rPr>
              <a:t>cat</a:t>
            </a:r>
            <a:r>
              <a:t> prints the whole file; </a:t>
            </a:r>
            <a:r>
              <a:rPr sz="1100">
                <a:latin typeface="Courier New"/>
              </a:rPr>
              <a:t>head -1</a:t>
            </a:r>
            <a:r>
              <a:t> prints just the first line. With one line of content, both commands print the same thing — that's expected, and it's a preview of why </a:t>
            </a:r>
            <a:r>
              <a:rPr sz="1100">
                <a:latin typeface="Courier New"/>
              </a:rPr>
              <a:t>head</a:t>
            </a:r>
            <a:r>
              <a:t> matters once files get longer.</a:t>
            </a:r>
          </a:p>
          <a:p>
            <a:r>
              <a:t> </a:t>
            </a:r>
          </a:p>
          <a:p>
            <a:r>
              <a:rPr b="1"/>
              <a:t>SLIDE NOTES</a:t>
            </a:r>
          </a:p>
          <a:p>
            <a:r>
              <a:t> </a:t>
            </a:r>
          </a:p>
          <a:p>
            <a:r>
              <a:t>SAY the crucial insight exactly as the slide frames it: with only one line of content, cat and head -1 look identical — but cat always prints the WHOLE file while head -1 prints just the first line, and that difference becomes essential once files get longer (a preview of why head matters later in the semester).</a:t>
            </a:r>
          </a:p>
          <a:p>
            <a:r>
              <a:t> </a:t>
            </a:r>
          </a:p>
          <a:p>
            <a:r>
              <a:t>The &gt;&gt; (append) operator shown on this slide is background/context — the script itself only exercises &gt; (overwrite) in Step 8; mention &gt;&gt; briefly as "the safe version that adds to the bottom without erasing," but don't spend lab time on a separate append exercise since none is required this week.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8 — Step 9 — Copy, then rename</a:t>
            </a:r>
          </a:p>
          <a:p>
            <a:r>
              <a:t> </a:t>
            </a:r>
          </a:p>
          <a:p>
            <a:r>
              <a:rPr b="1"/>
              <a:t>SAY:</a:t>
            </a:r>
            <a:r>
              <a:t> </a:t>
            </a:r>
            <a:r>
              <a:t>"</a:t>
            </a:r>
            <a:r>
              <a:rPr sz="1100">
                <a:latin typeface="Courier New"/>
              </a:rPr>
              <a:t>cp</a:t>
            </a:r>
            <a:r>
              <a:t> makes a duplicate and leaves the original in place. </a:t>
            </a:r>
            <a:r>
              <a:rPr sz="1100">
                <a:latin typeface="Courier New"/>
              </a:rPr>
              <a:t>mv</a:t>
            </a:r>
            <a:r>
              <a:t> does the opposite — it moves or renames, and the original name is gone afterward."</a:t>
            </a:r>
          </a:p>
          <a:p>
            <a:r>
              <a:t> </a:t>
            </a:r>
          </a:p>
          <a:p>
            <a:r>
              <a:rPr b="1"/>
              <a:t>DO:</a:t>
            </a:r>
          </a:p>
          <a:p>
            <a:r>
              <a:rPr sz="1100">
                <a:latin typeface="Courier New"/>
              </a:rPr>
              <a:t>cp notes.txt notes_backup.txt</a:t>
            </a:r>
          </a:p>
          <a:p>
            <a:r>
              <a:rPr sz="1100">
                <a:latin typeface="Courier New"/>
              </a:rPr>
              <a:t>mv hello_week2.py week2_script.py</a:t>
            </a:r>
          </a:p>
          <a:p>
            <a:r>
              <a:rPr sz="1100">
                <a:latin typeface="Courier New"/>
              </a:rPr>
              <a:t>ls -la</a:t>
            </a:r>
          </a:p>
          <a:p>
            <a:r>
              <a:t> </a:t>
            </a:r>
          </a:p>
          <a:p>
            <a:r>
              <a:rPr b="1"/>
              <a:t>CHECK:</a:t>
            </a:r>
          </a:p>
          <a:p>
            <a:r>
              <a:rPr sz="1100">
                <a:latin typeface="Courier New"/>
              </a:rPr>
              <a:t>commands.txt  notes.txt  notes_backup.txt  week2_script.py</a:t>
            </a:r>
          </a:p>
          <a:p>
            <a:r>
              <a:t>Notice </a:t>
            </a:r>
            <a:r>
              <a:rPr sz="1100">
                <a:latin typeface="Courier New"/>
              </a:rPr>
              <a:t>hello_week2.py</a:t>
            </a:r>
            <a:r>
              <a:t> no longer appears — </a:t>
            </a:r>
            <a:r>
              <a:rPr sz="1100">
                <a:latin typeface="Courier New"/>
              </a:rPr>
              <a:t>mv</a:t>
            </a:r>
            <a:r>
              <a:t> renamed it in place, it didn't create a copy.</a:t>
            </a:r>
          </a:p>
          <a:p>
            <a:r>
              <a:t> </a:t>
            </a:r>
          </a:p>
          <a:p>
            <a:r>
              <a:rPr b="1"/>
              <a:t>SLIDE NOTES</a:t>
            </a:r>
          </a:p>
          <a:p>
            <a:r>
              <a:t> </a:t>
            </a:r>
          </a:p>
          <a:p>
            <a:r>
              <a:t>This is the moment to reinforce the cp-vs-mv distinction visually: cp branches off a duplicate while the original stays; mv just relabels the same file, so the old name vanishes from ls entirely. That is exactly the "Lab Example" called out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9 — Step 10 — Edit and run the script</a:t>
            </a:r>
          </a:p>
          <a:p>
            <a:r>
              <a:t> </a:t>
            </a:r>
          </a:p>
          <a:p>
            <a:r>
              <a:rPr b="1"/>
              <a:t>Step 10 — Edit and run the script</a:t>
            </a:r>
          </a:p>
          <a:p>
            <a:r>
              <a:rPr b="1"/>
              <a:t>SAY:</a:t>
            </a:r>
            <a:r>
              <a:t> </a:t>
            </a:r>
            <a:r>
              <a:t>"Open </a:t>
            </a:r>
            <a:r>
              <a:rPr sz="1100">
                <a:latin typeface="Courier New"/>
              </a:rPr>
              <a:t>week2_script.py</a:t>
            </a:r>
            <a:r>
              <a:t>, add one line, save, and run it."</a:t>
            </a:r>
          </a:p>
          <a:p>
            <a:r>
              <a:t> </a:t>
            </a:r>
          </a:p>
          <a:p>
            <a:r>
              <a:rPr b="1"/>
              <a:t>DO:</a:t>
            </a:r>
            <a:r>
              <a:t> </a:t>
            </a:r>
            <a:r>
              <a:t>In VS Code, add to </a:t>
            </a:r>
            <a:r>
              <a:rPr sz="1100">
                <a:latin typeface="Courier New"/>
              </a:rPr>
              <a:t>week2_script.py</a:t>
            </a:r>
            <a:r>
              <a:t>:</a:t>
            </a:r>
          </a:p>
          <a:p>
            <a:r>
              <a:rPr sz="1100">
                <a:latin typeface="Courier New"/>
              </a:rPr>
              <a:t>print('Week 2 complete')</a:t>
            </a:r>
          </a:p>
          <a:p>
            <a:r>
              <a:t>Then in the terminal:</a:t>
            </a:r>
          </a:p>
          <a:p>
            <a:r>
              <a:rPr sz="1100">
                <a:latin typeface="Courier New"/>
              </a:rPr>
              <a:t>code week2_script.py</a:t>
            </a:r>
          </a:p>
          <a:p>
            <a:r>
              <a:rPr sz="1100">
                <a:latin typeface="Courier New"/>
              </a:rPr>
              <a:t>python3 week2_script.py</a:t>
            </a:r>
          </a:p>
          <a:p>
            <a:r>
              <a:t> </a:t>
            </a:r>
          </a:p>
          <a:p>
            <a:r>
              <a:rPr b="1"/>
              <a:t>CHECK:</a:t>
            </a:r>
          </a:p>
          <a:p>
            <a:r>
              <a:rPr sz="1100">
                <a:latin typeface="Courier New"/>
              </a:rPr>
              <a:t>Week 2 complete</a:t>
            </a:r>
          </a:p>
          <a:p>
            <a:r>
              <a:t> </a:t>
            </a:r>
          </a:p>
          <a:p>
            <a:r>
              <a:rPr b="1"/>
              <a:t>FIX:</a:t>
            </a:r>
            <a:r>
              <a:t> </a:t>
            </a:r>
            <a:r>
              <a:t>If nothing prints, confirm you saved the file (</a:t>
            </a:r>
            <a:r>
              <a:rPr sz="1100">
                <a:latin typeface="Courier New"/>
              </a:rPr>
              <a:t>⌘S</a:t>
            </a:r>
            <a:r>
              <a:t>/</a:t>
            </a:r>
            <a:r>
              <a:rPr sz="1100">
                <a:latin typeface="Courier New"/>
              </a:rPr>
              <a:t>Ctrl+S</a:t>
            </a:r>
            <a:r>
              <a:t>) before running it — VS Code does not auto-save by default.</a:t>
            </a:r>
          </a:p>
          <a:p>
            <a:r>
              <a:t> </a:t>
            </a:r>
          </a:p>
          <a:p>
            <a:r>
              <a:rPr b="1"/>
              <a:t>Screenshot 2 checkpoint</a:t>
            </a:r>
          </a:p>
          <a:p>
            <a:r>
              <a:rPr b="1"/>
              <a:t>SAY:</a:t>
            </a:r>
            <a:r>
              <a:t> </a:t>
            </a:r>
            <a:r>
              <a:t>"Screenshot 2 — </a:t>
            </a:r>
            <a:r>
              <a:rPr sz="1100">
                <a:latin typeface="Courier New"/>
              </a:rPr>
              <a:t>ls -la</a:t>
            </a:r>
            <a:r>
              <a:t> and the </a:t>
            </a:r>
            <a:r>
              <a:rPr sz="1100">
                <a:latin typeface="Courier New"/>
              </a:rPr>
              <a:t>python3 week2_script.py</a:t>
            </a:r>
            <a:r>
              <a:t> output, both visible in the same terminal scroll."</a:t>
            </a:r>
          </a:p>
          <a:p>
            <a:r>
              <a:t> </a:t>
            </a:r>
          </a:p>
          <a:p>
            <a:r>
              <a:rPr b="1"/>
              <a:t>SLIDE NOTES</a:t>
            </a:r>
          </a:p>
          <a:p>
            <a:r>
              <a:t> </a:t>
            </a:r>
          </a:p>
          <a:p>
            <a:r>
              <a:t>Week 2 complete — note the REAL expected print text is "Week 2 complete", not the "Executing week 2 script..." placeholder text drawn on this slide graphic; say the real text out loud so students know exactly what success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10 — Step 11 — Open the whole module, not just a file</a:t>
            </a:r>
          </a:p>
          <a:p>
            <a:r>
              <a:t> </a:t>
            </a:r>
          </a:p>
          <a:p>
            <a:r>
              <a:rPr b="1"/>
              <a:t>Step 11 — Open the whole module, not just a file</a:t>
            </a:r>
          </a:p>
          <a:p>
            <a:r>
              <a:rPr b="1"/>
              <a:t>SAY:</a:t>
            </a:r>
            <a:r>
              <a:t> </a:t>
            </a:r>
            <a:r>
              <a:t>"This is the habit to build now: open the project folder as a workspace, not individual files one at a time."</a:t>
            </a:r>
          </a:p>
          <a:p>
            <a:r>
              <a:t> </a:t>
            </a:r>
          </a:p>
          <a:p>
            <a:r>
              <a:rPr b="1"/>
              <a:t>DO:</a:t>
            </a:r>
          </a:p>
          <a:p>
            <a:r>
              <a:rPr sz="1100">
                <a:latin typeface="Courier New"/>
              </a:rPr>
              <a:t>cd ~/ism3232</a:t>
            </a:r>
          </a:p>
          <a:p>
            <a:r>
              <a:rPr sz="1100">
                <a:latin typeface="Courier New"/>
              </a:rPr>
              <a:t>code module02_zsh</a:t>
            </a:r>
          </a:p>
          <a:p>
            <a:r>
              <a:t> </a:t>
            </a:r>
          </a:p>
          <a:p>
            <a:r>
              <a:rPr b="1"/>
              <a:t>CHECK:</a:t>
            </a:r>
            <a:r>
              <a:t> </a:t>
            </a:r>
            <a:r>
              <a:t>VS Code opens with </a:t>
            </a:r>
            <a:r>
              <a:rPr sz="1100">
                <a:latin typeface="Courier New"/>
              </a:rPr>
              <a:t>module02_zsh</a:t>
            </a:r>
            <a:r>
              <a:t> as the workspace root. The Explorer panel on the left shows </a:t>
            </a:r>
            <a:r>
              <a:rPr sz="1100">
                <a:latin typeface="Courier New"/>
              </a:rPr>
              <a:t>week2_lab/</a:t>
            </a:r>
            <a:r>
              <a:t> as a subfolder, and expanding it reveals </a:t>
            </a:r>
            <a:r>
              <a:rPr sz="1100">
                <a:latin typeface="Courier New"/>
              </a:rPr>
              <a:t>commands.txt</a:t>
            </a:r>
            <a:r>
              <a:t>, </a:t>
            </a:r>
            <a:r>
              <a:rPr sz="1100">
                <a:latin typeface="Courier New"/>
              </a:rPr>
              <a:t>notes.txt</a:t>
            </a:r>
            <a:r>
              <a:t>, </a:t>
            </a:r>
            <a:r>
              <a:rPr sz="1100">
                <a:latin typeface="Courier New"/>
              </a:rPr>
              <a:t>notes_backup.txt</a:t>
            </a:r>
            <a:r>
              <a:t>, and </a:t>
            </a:r>
            <a:r>
              <a:rPr sz="1100">
                <a:latin typeface="Courier New"/>
              </a:rPr>
              <a:t>week2_script.py</a:t>
            </a:r>
            <a:r>
              <a:t>.</a:t>
            </a:r>
          </a:p>
          <a:p>
            <a:r>
              <a:t> </a:t>
            </a:r>
          </a:p>
          <a:p>
            <a:r>
              <a:rPr b="1"/>
              <a:t>Screenshot 3 checkpoint</a:t>
            </a:r>
          </a:p>
          <a:p>
            <a:r>
              <a:rPr b="1"/>
              <a:t>SAY:</a:t>
            </a:r>
            <a:r>
              <a:t> </a:t>
            </a:r>
            <a:r>
              <a:t>"Screenshot 3 — VS Code with </a:t>
            </a:r>
            <a:r>
              <a:rPr sz="1100">
                <a:latin typeface="Courier New"/>
              </a:rPr>
              <a:t>module02_zsh</a:t>
            </a:r>
            <a:r>
              <a:t> open as the workspace, Explorer panel visible."</a:t>
            </a:r>
          </a:p>
          <a:p>
            <a:r>
              <a:t> </a:t>
            </a:r>
          </a:p>
          <a:p>
            <a:r>
              <a:rPr b="1"/>
              <a:t>SLIDE NOTES</a:t>
            </a:r>
          </a:p>
          <a:p>
            <a:r>
              <a:t> </a:t>
            </a:r>
          </a:p>
          <a:p>
            <a:r>
              <a:t>This is a workflow habit slide, not just a command — the teaching point is "open the folder, not the file," because opening individual files loses the Explorer's project-wide view that students will depend on for the rest of the semester (searching, multi-file navigation, Git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11 — Step 12a — Confirm your location</a:t>
            </a:r>
          </a:p>
          <a:p>
            <a:r>
              <a:t> </a:t>
            </a:r>
          </a:p>
          <a:p>
            <a:r>
              <a:rPr b="1"/>
              <a:t>Step 12a — Confirm your location</a:t>
            </a:r>
          </a:p>
          <a:p>
            <a:r>
              <a:rPr b="1"/>
              <a:t>SAY:</a:t>
            </a:r>
            <a:r>
              <a:t> </a:t>
            </a:r>
            <a:r>
              <a:t>"Before any delete, step one: where am I?"</a:t>
            </a:r>
          </a:p>
          <a:p>
            <a:r>
              <a:t> </a:t>
            </a:r>
          </a:p>
          <a:p>
            <a:r>
              <a:rPr b="1"/>
              <a:t>DO:</a:t>
            </a:r>
          </a:p>
          <a:p>
            <a:r>
              <a:rPr sz="1100">
                <a:latin typeface="Courier New"/>
              </a:rPr>
              <a:t>cd ~/ism3232/module02_zsh/week2_lab</a:t>
            </a:r>
          </a:p>
          <a:p>
            <a:r>
              <a:rPr sz="1100">
                <a:latin typeface="Courier New"/>
              </a:rPr>
              <a:t>pwd</a:t>
            </a:r>
          </a:p>
          <a:p>
            <a:r>
              <a:t> </a:t>
            </a:r>
          </a:p>
          <a:p>
            <a:r>
              <a:rPr b="1"/>
              <a:t>CHECK:</a:t>
            </a:r>
          </a:p>
          <a:p>
            <a:r>
              <a:rPr sz="1100">
                <a:latin typeface="Courier New"/>
              </a:rPr>
              <a:t>/Users/yourname/ism3232/module02_zsh/week2_lab</a:t>
            </a:r>
          </a:p>
          <a:p>
            <a:r>
              <a:t> </a:t>
            </a:r>
          </a:p>
          <a:p>
            <a:r>
              <a:rPr b="1"/>
              <a:t>Step 12b — Confirm what's here</a:t>
            </a:r>
          </a:p>
          <a:p>
            <a:r>
              <a:rPr b="1"/>
              <a:t>SAY:</a:t>
            </a:r>
            <a:r>
              <a:t> </a:t>
            </a:r>
            <a:r>
              <a:t>"Step two: what exactly is in this folder, so I know precisely what I'm about to delete?"</a:t>
            </a:r>
          </a:p>
          <a:p>
            <a:r>
              <a:t> </a:t>
            </a:r>
          </a:p>
          <a:p>
            <a:r>
              <a:rPr b="1"/>
              <a:t>DO:</a:t>
            </a:r>
          </a:p>
          <a:p>
            <a:r>
              <a:rPr sz="1100">
                <a:latin typeface="Courier New"/>
              </a:rPr>
              <a:t>ls</a:t>
            </a:r>
          </a:p>
          <a:p>
            <a:r>
              <a:t> </a:t>
            </a:r>
          </a:p>
          <a:p>
            <a:r>
              <a:rPr b="1"/>
              <a:t>CHECK:</a:t>
            </a:r>
          </a:p>
          <a:p>
            <a:r>
              <a:rPr sz="1100">
                <a:latin typeface="Courier New"/>
              </a:rPr>
              <a:t>commands.txt  notes.txt  notes_backup.txt  week2_script.py</a:t>
            </a:r>
          </a:p>
          <a:p>
            <a:r>
              <a:t> </a:t>
            </a:r>
          </a:p>
          <a:p>
            <a:r>
              <a:rPr b="1"/>
              <a:t>Step 12c — Delete only what you intend</a:t>
            </a:r>
          </a:p>
          <a:p>
            <a:r>
              <a:rPr b="1"/>
              <a:t>SAY:</a:t>
            </a:r>
            <a:r>
              <a:t> </a:t>
            </a:r>
            <a:r>
              <a:t>"Only now — after confirming location and contents — do we delete. We're removing </a:t>
            </a:r>
            <a:r>
              <a:rPr sz="1100">
                <a:latin typeface="Courier New"/>
              </a:rPr>
              <a:t>notes_backup.txt</a:t>
            </a:r>
            <a:r>
              <a:t> because it was just a throwaway copy."</a:t>
            </a:r>
          </a:p>
          <a:p>
            <a:r>
              <a:t> </a:t>
            </a:r>
          </a:p>
          <a:p>
            <a:r>
              <a:rPr b="1"/>
              <a:t>DO:</a:t>
            </a:r>
          </a:p>
          <a:p>
            <a:r>
              <a:rPr sz="1100">
                <a:latin typeface="Courier New"/>
              </a:rPr>
              <a:t>rm notes_backup.txt</a:t>
            </a:r>
          </a:p>
          <a:p>
            <a:r>
              <a:t> </a:t>
            </a:r>
          </a:p>
          <a:p>
            <a:r>
              <a:rPr b="1"/>
              <a:t>CHECK:</a:t>
            </a:r>
            <a:r>
              <a:t> </a:t>
            </a:r>
            <a:r>
              <a:t>No output — </a:t>
            </a:r>
            <a:r>
              <a:rPr sz="1100">
                <a:latin typeface="Courier New"/>
              </a:rPr>
              <a:t>rm</a:t>
            </a:r>
            <a:r>
              <a:t> is silent on success. That silence is normal, not a failure.</a:t>
            </a:r>
          </a:p>
          <a:p>
            <a:r>
              <a:t> </a:t>
            </a:r>
          </a:p>
          <a:p>
            <a:r>
              <a:rPr b="1"/>
              <a:t>Step 12d — Confirm it's gone</a:t>
            </a:r>
          </a:p>
          <a:p>
            <a:r>
              <a:rPr b="1"/>
              <a:t>SAY:</a:t>
            </a:r>
            <a:r>
              <a:t> </a:t>
            </a:r>
            <a:r>
              <a:t>"Step three: verify. Never assume a delete worked — check."</a:t>
            </a:r>
          </a:p>
          <a:p>
            <a:r>
              <a:t> </a:t>
            </a:r>
          </a:p>
          <a:p>
            <a:r>
              <a:rPr b="1"/>
              <a:t>DO:</a:t>
            </a:r>
          </a:p>
          <a:p>
            <a:r>
              <a:rPr sz="1100">
                <a:latin typeface="Courier New"/>
              </a:rPr>
              <a:t>ls</a:t>
            </a:r>
          </a:p>
          <a:p>
            <a:r>
              <a:t> </a:t>
            </a:r>
          </a:p>
          <a:p>
            <a:r>
              <a:rPr b="1"/>
              <a:t>CHECK:</a:t>
            </a:r>
          </a:p>
          <a:p>
            <a:r>
              <a:rPr sz="1100">
                <a:latin typeface="Courier New"/>
              </a:rPr>
              <a:t>commands.txt  notes.txt  week2_script.py</a:t>
            </a:r>
          </a:p>
          <a:p>
            <a:r>
              <a:rPr sz="1100">
                <a:latin typeface="Courier New"/>
              </a:rPr>
              <a:t>notes_backup.txt</a:t>
            </a:r>
            <a:r>
              <a:t> no longer appears.</a:t>
            </a:r>
          </a:p>
          <a:p>
            <a:r>
              <a:t> </a:t>
            </a:r>
          </a:p>
          <a:p>
            <a:r>
              <a:rPr b="1"/>
              <a:t>FIX:</a:t>
            </a:r>
            <a:r>
              <a:t> </a:t>
            </a:r>
            <a:r>
              <a:t>If you deleted the wrong file, there is no undo — </a:t>
            </a:r>
            <a:r>
              <a:rPr sz="1100">
                <a:latin typeface="Courier New"/>
              </a:rPr>
              <a:t>rm</a:t>
            </a:r>
            <a:r>
              <a:t> does not use the Trash/Recycle Bin. That's exactly why this ritual exists: say the ritual out loud every time, before you type </a:t>
            </a:r>
            <a:r>
              <a:rPr sz="1100">
                <a:latin typeface="Courier New"/>
              </a:rPr>
              <a:t>rm</a:t>
            </a:r>
            <a:r>
              <a:t>, for the rest of the semester.</a:t>
            </a:r>
          </a:p>
          <a:p>
            <a:r>
              <a:t> </a:t>
            </a:r>
          </a:p>
          <a:p>
            <a:r>
              <a:rPr b="1"/>
              <a:t>SLIDE NOTES</a:t>
            </a:r>
          </a:p>
          <a:p>
            <a:r>
              <a:t> </a:t>
            </a:r>
          </a:p>
          <a:p>
            <a:r>
              <a:t>Rule 0 (top-left box, say it verbatim): "rm is permanent. Say this ritual out loud every single time. Silence from the terminal means success."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12 — Screenshot 4 checkpoint</a:t>
            </a:r>
          </a:p>
          <a:p>
            <a:r>
              <a:t> </a:t>
            </a:r>
          </a:p>
          <a:p>
            <a:r>
              <a:rPr b="1"/>
              <a:t>SAY:</a:t>
            </a:r>
            <a:r>
              <a:t> </a:t>
            </a:r>
            <a:r>
              <a:t>"Screenshot 4 — all four commands from the ritual in one screenshot: </a:t>
            </a:r>
            <a:r>
              <a:rPr sz="1100">
                <a:latin typeface="Courier New"/>
              </a:rPr>
              <a:t>pwd</a:t>
            </a:r>
            <a:r>
              <a:t>, </a:t>
            </a:r>
            <a:r>
              <a:rPr sz="1100">
                <a:latin typeface="Courier New"/>
              </a:rPr>
              <a:t>ls</a:t>
            </a:r>
            <a:r>
              <a:t> before, </a:t>
            </a:r>
            <a:r>
              <a:rPr sz="1100">
                <a:latin typeface="Courier New"/>
              </a:rPr>
              <a:t>rm</a:t>
            </a:r>
            <a:r>
              <a:t>, and </a:t>
            </a:r>
            <a:r>
              <a:rPr sz="1100">
                <a:latin typeface="Courier New"/>
              </a:rPr>
              <a:t>ls</a:t>
            </a:r>
            <a:r>
              <a:t> after."</a:t>
            </a:r>
          </a:p>
          <a:p>
            <a:r>
              <a:t> </a:t>
            </a:r>
          </a:p>
          <a:p>
            <a:r>
              <a:rPr b="1"/>
              <a:t>SLIDE NOTES</a:t>
            </a:r>
          </a:p>
          <a:p>
            <a:r>
              <a:t> </a:t>
            </a:r>
          </a:p>
          <a:p>
            <a:r>
              <a:t>SCREENSHOT 4 CHECKPOINT — the rm ritual as one continuous, literal terminal transcript (this slide's text matches the script's CHECK output exactly, unlike some earlier slides' illustrative examples).</a:t>
            </a:r>
          </a:p>
          <a:p>
            <a:r>
              <a:t> </a:t>
            </a:r>
          </a:p>
          <a:p>
            <a:r>
              <a:t>pwd → /Users/student/ism3232/module02_zsh/week2_lab</a:t>
            </a:r>
          </a:p>
          <a:p>
            <a:r>
              <a:t> </a:t>
            </a:r>
          </a:p>
          <a:p>
            <a:r>
              <a:t>rm notes_backup.txt → (silent — no output)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13 — Step 13 — Write the README table</a:t>
            </a:r>
          </a:p>
          <a:p>
            <a:r>
              <a:t> </a:t>
            </a:r>
          </a:p>
          <a:p>
            <a:r>
              <a:rPr b="1"/>
              <a:t>Step 13 — Write the README table</a:t>
            </a:r>
          </a:p>
          <a:p>
            <a:r>
              <a:rPr b="1"/>
              <a:t>SAY:</a:t>
            </a:r>
            <a:r>
              <a:t> </a:t>
            </a:r>
            <a:r>
              <a:t>"Now document every command from today in a table — this becomes your own personal cheat sheet for the rest of the semester."</a:t>
            </a:r>
          </a:p>
          <a:p>
            <a:r>
              <a:t> </a:t>
            </a:r>
          </a:p>
          <a:p>
            <a:r>
              <a:rPr b="1"/>
              <a:t>DO:</a:t>
            </a:r>
          </a:p>
          <a:p>
            <a:r>
              <a:rPr sz="1100">
                <a:latin typeface="Courier New"/>
              </a:rPr>
              <a:t>cd ~/ism3232/module02_zsh</a:t>
            </a:r>
          </a:p>
          <a:p>
            <a:r>
              <a:rPr sz="1100">
                <a:latin typeface="Courier New"/>
              </a:rPr>
              <a:t>touch README.md</a:t>
            </a:r>
          </a:p>
          <a:p>
            <a:r>
              <a:rPr sz="1100">
                <a:latin typeface="Courier New"/>
              </a:rPr>
              <a:t>code README.md</a:t>
            </a:r>
          </a:p>
          <a:p>
            <a:r>
              <a:t>Type:</a:t>
            </a:r>
          </a:p>
          <a:p>
            <a:r>
              <a:rPr sz="1100">
                <a:latin typeface="Courier New"/>
              </a:rPr>
              <a:t># ISM3232 - Module 2: zsh Navigation and File Operations</a:t>
            </a:r>
          </a:p>
          <a:p>
            <a:r>
              <a:rPr sz="1100">
                <a:latin typeface="Courier New"/>
              </a:rPr>
              <a:t> </a:t>
            </a:r>
          </a:p>
          <a:p>
            <a:r>
              <a:rPr sz="1100">
                <a:latin typeface="Courier New"/>
              </a:rPr>
              <a:t>## Commands Practiced</a:t>
            </a:r>
          </a:p>
          <a:p>
            <a:r>
              <a:rPr sz="1100">
                <a:latin typeface="Courier New"/>
              </a:rPr>
              <a:t> </a:t>
            </a:r>
          </a:p>
          <a:p>
            <a:r>
              <a:rPr sz="1100">
                <a:latin typeface="Courier New"/>
              </a:rPr>
              <a:t>| Command        | What it does                            |</a:t>
            </a:r>
          </a:p>
          <a:p>
            <a:r>
              <a:rPr sz="1100">
                <a:latin typeface="Courier New"/>
              </a:rPr>
              <a:t>|----------------|------------------------------------------|</a:t>
            </a:r>
          </a:p>
          <a:p>
            <a:r>
              <a:rPr sz="1100">
                <a:latin typeface="Courier New"/>
              </a:rPr>
              <a:t>| pwd            | Prints the current working directory    |</a:t>
            </a:r>
          </a:p>
          <a:p>
            <a:r>
              <a:rPr sz="1100">
                <a:latin typeface="Courier New"/>
              </a:rPr>
              <a:t>| ls             | Lists visible files and folders         |</a:t>
            </a:r>
          </a:p>
          <a:p>
            <a:r>
              <a:rPr sz="1100">
                <a:latin typeface="Courier New"/>
              </a:rPr>
              <a:t>| ls -la         | Lists all files including hidden ones   |</a:t>
            </a:r>
          </a:p>
          <a:p>
            <a:r>
              <a:rPr sz="1100">
                <a:latin typeface="Courier New"/>
              </a:rPr>
              <a:t>| [add the rest] | [your description]                      |</a:t>
            </a:r>
          </a:p>
          <a:p>
            <a:r>
              <a:rPr sz="1100">
                <a:latin typeface="Courier New"/>
              </a:rPr>
              <a:t> </a:t>
            </a:r>
          </a:p>
          <a:p>
            <a:r>
              <a:rPr sz="1100">
                <a:latin typeface="Courier New"/>
              </a:rPr>
              <a:t>## AI Use Statement</a:t>
            </a:r>
          </a:p>
          <a:p>
            <a:r>
              <a:rPr sz="1100">
                <a:latin typeface="Courier New"/>
              </a:rPr>
              <a:t>I did not use AI for this lab.</a:t>
            </a:r>
          </a:p>
          <a:p>
            <a:r>
              <a:t> </a:t>
            </a:r>
          </a:p>
          <a:p>
            <a:r>
              <a:rPr b="1"/>
              <a:t>CHECK:</a:t>
            </a:r>
            <a:r>
              <a:t> </a:t>
            </a:r>
            <a:r>
              <a:t>Count your table rows — the lab requires at least 12 commands documented. Go back through this script's steps (</a:t>
            </a:r>
            <a:r>
              <a:rPr sz="1100">
                <a:latin typeface="Courier New"/>
              </a:rPr>
              <a:t>cd</a:t>
            </a:r>
            <a:r>
              <a:t>, </a:t>
            </a:r>
            <a:r>
              <a:rPr sz="1100">
                <a:latin typeface="Courier New"/>
              </a:rPr>
              <a:t>mkdir</a:t>
            </a:r>
            <a:r>
              <a:t>, </a:t>
            </a:r>
            <a:r>
              <a:rPr sz="1100">
                <a:latin typeface="Courier New"/>
              </a:rPr>
              <a:t>touch</a:t>
            </a:r>
            <a:r>
              <a:t>, </a:t>
            </a:r>
            <a:r>
              <a:rPr sz="1100">
                <a:latin typeface="Courier New"/>
              </a:rPr>
              <a:t>echo</a:t>
            </a:r>
            <a:r>
              <a:t>, </a:t>
            </a:r>
            <a:r>
              <a:rPr sz="1100">
                <a:latin typeface="Courier New"/>
              </a:rPr>
              <a:t>cat</a:t>
            </a:r>
            <a:r>
              <a:t>, </a:t>
            </a:r>
            <a:r>
              <a:rPr sz="1100">
                <a:latin typeface="Courier New"/>
              </a:rPr>
              <a:t>head</a:t>
            </a:r>
            <a:r>
              <a:t>, </a:t>
            </a:r>
            <a:r>
              <a:rPr sz="1100">
                <a:latin typeface="Courier New"/>
              </a:rPr>
              <a:t>cp</a:t>
            </a:r>
            <a:r>
              <a:t>, </a:t>
            </a:r>
            <a:r>
              <a:rPr sz="1100">
                <a:latin typeface="Courier New"/>
              </a:rPr>
              <a:t>mv</a:t>
            </a:r>
            <a:r>
              <a:t>, </a:t>
            </a:r>
            <a:r>
              <a:rPr sz="1100">
                <a:latin typeface="Courier New"/>
              </a:rPr>
              <a:t>rm</a:t>
            </a:r>
            <a:r>
              <a:t>, </a:t>
            </a:r>
            <a:r>
              <a:rPr sz="1100">
                <a:latin typeface="Courier New"/>
              </a:rPr>
              <a:t>tree</a:t>
            </a:r>
            <a:r>
              <a:t>, </a:t>
            </a:r>
            <a:r>
              <a:rPr sz="1100">
                <a:latin typeface="Courier New"/>
              </a:rPr>
              <a:t>code</a:t>
            </a:r>
            <a:r>
              <a:t>) and make sure each one you actually ran has its own row.</a:t>
            </a:r>
          </a:p>
          <a:p>
            <a:r>
              <a:t> </a:t>
            </a:r>
          </a:p>
          <a:p>
            <a:r>
              <a:rPr b="1"/>
              <a:t>SUBMISSION CHECKLIST</a:t>
            </a:r>
          </a:p>
          <a:p>
            <a:r>
              <a:t>• [ ] Screenshot 1: </a:t>
            </a:r>
            <a:r>
              <a:rPr sz="1100">
                <a:latin typeface="Courier New"/>
              </a:rPr>
              <a:t>tree -L 2</a:t>
            </a:r>
            <a:r>
              <a:t> output from </a:t>
            </a:r>
            <a:r>
              <a:rPr sz="1100">
                <a:latin typeface="Courier New"/>
              </a:rPr>
              <a:t>~/ism3232/</a:t>
            </a:r>
          </a:p>
          <a:p>
            <a:r>
              <a:t>• [ ] Screenshot 2: </a:t>
            </a:r>
            <a:r>
              <a:rPr sz="1100">
                <a:latin typeface="Courier New"/>
              </a:rPr>
              <a:t>ls -la</a:t>
            </a:r>
            <a:r>
              <a:t> and </a:t>
            </a:r>
            <a:r>
              <a:rPr sz="1100">
                <a:latin typeface="Courier New"/>
              </a:rPr>
              <a:t>python3 week2_script.py</a:t>
            </a:r>
            <a:r>
              <a:t> output</a:t>
            </a:r>
          </a:p>
          <a:p>
            <a:r>
              <a:t>• [ ] Screenshot 3: VS Code with </a:t>
            </a:r>
            <a:r>
              <a:rPr sz="1100">
                <a:latin typeface="Courier New"/>
              </a:rPr>
              <a:t>module02_zsh</a:t>
            </a:r>
            <a:r>
              <a:t> open as workspace</a:t>
            </a:r>
          </a:p>
          <a:p>
            <a:r>
              <a:t>• [ ] Screenshot 4: </a:t>
            </a:r>
            <a:r>
              <a:rPr sz="1100">
                <a:latin typeface="Courier New"/>
              </a:rPr>
              <a:t>pwd</a:t>
            </a:r>
            <a:r>
              <a:t> + </a:t>
            </a:r>
            <a:r>
              <a:rPr sz="1100">
                <a:latin typeface="Courier New"/>
              </a:rPr>
              <a:t>ls</a:t>
            </a:r>
            <a:r>
              <a:t> before </a:t>
            </a:r>
            <a:r>
              <a:rPr sz="1100">
                <a:latin typeface="Courier New"/>
              </a:rPr>
              <a:t>rm</a:t>
            </a:r>
            <a:r>
              <a:t>, then </a:t>
            </a:r>
            <a:r>
              <a:rPr sz="1100">
                <a:latin typeface="Courier New"/>
              </a:rPr>
              <a:t>ls</a:t>
            </a:r>
            <a:r>
              <a:t> after — all in one screenshot</a:t>
            </a:r>
          </a:p>
          <a:p>
            <a:r>
              <a:t>• [ ] </a:t>
            </a:r>
            <a:r>
              <a:rPr sz="1100">
                <a:latin typeface="Courier New"/>
              </a:rPr>
              <a:t>module02_zsh/README.md</a:t>
            </a:r>
            <a:r>
              <a:t> — command reference table with at least 12 commands</a:t>
            </a:r>
          </a:p>
          <a:p>
            <a:r>
              <a:t>• [ ] Submitted to Canvas</a:t>
            </a:r>
          </a:p>
          <a:p>
            <a:r>
              <a:t> </a:t>
            </a:r>
          </a:p>
          <a:p>
            <a:r>
              <a:rPr b="1"/>
              <a:t>SLIDE NOTES</a:t>
            </a:r>
          </a:p>
          <a:p>
            <a:r>
              <a:t> </a:t>
            </a:r>
          </a:p>
          <a:p>
            <a:r>
              <a:t>Have students type a real Markdown table with a header row (Command | What it does) and one row per command actually run this lab: cd, mkdir, touch, echo, cat, head, cp, mv, rm, tree, code — plus a short "AI Use Statement" section at the bottom (e.g.</a:t>
            </a:r>
          </a:p>
          <a:p>
            <a:r>
              <a:t> </a:t>
            </a:r>
          </a:p>
          <a:p>
            <a:r>
              <a:t>count the table rows — the lab requires at least 12 commands documented.</a:t>
            </a:r>
          </a:p>
          <a:p>
            <a:r>
              <a:t> </a:t>
            </a:r>
          </a:p>
          <a:p>
            <a:r>
              <a:t>SUBMISSION CHECKLIST — walk every item before Canvas: Screenshot 1 (tree -L 2 from ~/ism3232/); Screenshot 2 (ls -la + python3 week2_script.py output); Screenshot 3 (VS Code with module02_zsh open as workspace); Screenshot 4 (pwd + ls before rm, then ls after — all one screenshot); module02_zsh/README.md with a command table of at least 12 commands; submitted to Canvas.</a:t>
            </a:r>
          </a:p>
          <a:p>
            <a:r>
              <a:t> </a:t>
            </a:r>
          </a:p>
          <a:p>
            <a:r>
              <a:t>Note: this slide's checklist text says "code . with Explorer visible" for Screenshot 3 — the script's actual command is code module02_zsh (open the module folder specifically, not the current directory with a bare dot); say the real command from the script so students don't run the wrong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