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9" r:id="rId19"/>
  </p:sldIdLst>
  <p:sldSz cx="16256000" cy="9144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esProps" Target="presProps.xml"/><Relationship Id="rId3" Type="http://schemas.openxmlformats.org/officeDocument/2006/relationships/viewProps" Target="viewProps.xml"/><Relationship Id="rId4" Type="http://schemas.openxmlformats.org/officeDocument/2006/relationships/theme" Target="theme/theme1.xml"/><Relationship Id="rId5" Type="http://schemas.openxmlformats.org/officeDocument/2006/relationships/tableStyles" Target="tableStyles.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a:t>SLIDE 1 — INTRO</a:t>
            </a:r>
          </a:p>
          <a:p>
            <a:r>
              <a:t> </a:t>
            </a:r>
          </a:p>
          <a:p>
            <a:r>
              <a:rPr b="1"/>
              <a:t>TEACHING GOAL:</a:t>
            </a:r>
            <a:r>
              <a:t> frame the whole lab before anyone touches the keyboard. A venv gives true, provable isolation per project; .zshrc habits (aliases + functions) become permanent, global developer tooling that carries across the entire semester.</a:t>
            </a:r>
          </a:p>
          <a:p>
            <a:r>
              <a:t> </a:t>
            </a:r>
          </a:p>
          <a:p>
            <a:r>
              <a:rPr b="1"/>
              <a:t>SAY:</a:t>
            </a:r>
            <a:r>
              <a:t> </a:t>
            </a:r>
            <a:r>
              <a:t>"Lab 3 — virtual environments and shell customization. Here's the mental model before we type anything: a venv is a private room for each project. Activate it and you walk in — every package you install stacks up on that room's shelves. Deactivate and you walk out — other projects are completely unaffected. Let's build one."</a:t>
            </a:r>
          </a:p>
          <a:p>
            <a:r>
              <a:t> </a:t>
            </a:r>
          </a:p>
          <a:p>
            <a:r>
              <a:rPr b="1"/>
              <a:t>SLIDE NOTES</a:t>
            </a:r>
          </a:p>
          <a:p>
            <a:r>
              <a:t> </a:t>
            </a:r>
          </a:p>
          <a:p>
            <a:r>
              <a:t>The diagram's labeled zones (virtual environment container, isolated processes, terminal, shell configuration, automation scripts) preview the lab's four parts: Part 1 venv workflow, Part 2 .gitignore, Part 3 .zshrc aliases/functions, Part 4 practice + deactivate.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a:t>SLIDE 2</a:t>
            </a:r>
          </a:p>
          <a:p>
            <a:r>
              <a:t> </a:t>
            </a:r>
          </a:p>
          <a:p>
            <a:r>
              <a:rPr b="1"/>
              <a:t>TEACHING GOAL:</a:t>
            </a:r>
            <a:r>
              <a:t> establish the working rhythm for every remaining step in this lab, and every lab for the rest of the semester — SAY the mental model before typing, DO the exact command with precision, CHECK that the output matches exactly, and if it doesn't, FIX the syntax before moving on. Never proceed past a mismatch.</a:t>
            </a:r>
          </a:p>
          <a:p>
            <a:r>
              <a:t> </a:t>
            </a:r>
          </a:p>
          <a:p>
            <a:r>
              <a:t>This is the same How to Use This Script pattern from the top of the script, restated visually: 'Execute the exact command with precision' and 'Verify the output matches exactly — proceed only on a perfect match.' Set this expectation explicitly now since the rest of the lab is dense with commands.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a:t>SLIDE 3 — Step 1 — Create the venv</a:t>
            </a:r>
          </a:p>
          <a:p>
            <a:r>
              <a:t> </a:t>
            </a:r>
          </a:p>
          <a:p>
            <a:r>
              <a:rPr b="1"/>
              <a:t>TEACHING GOAL:</a:t>
            </a:r>
            <a:r>
              <a:t> land the private-room metaphor visually, then immediately make it concrete with the one command that creates the room.</a:t>
            </a:r>
          </a:p>
          <a:p>
            <a:r>
              <a:t> </a:t>
            </a:r>
          </a:p>
          <a:p>
            <a:r>
              <a:rPr b="1"/>
              <a:t>SAY:</a:t>
            </a:r>
            <a:r>
              <a:t> </a:t>
            </a:r>
            <a:r>
              <a:t>"One command creates the whole isolated environment as a folder called </a:t>
            </a:r>
            <a:r>
              <a:rPr sz="1100">
                <a:latin typeface="Courier New"/>
              </a:rPr>
              <a:t>.venv</a:t>
            </a:r>
            <a:r>
              <a:t>."</a:t>
            </a:r>
          </a:p>
          <a:p>
            <a:r>
              <a:t> </a:t>
            </a:r>
          </a:p>
          <a:p>
            <a:r>
              <a:rPr b="1"/>
              <a:t>DO:</a:t>
            </a:r>
          </a:p>
          <a:p>
            <a:r>
              <a:rPr sz="1100">
                <a:latin typeface="Courier New"/>
              </a:rPr>
              <a:t>cd ~/ism3232/module02_zsh</a:t>
            </a:r>
          </a:p>
          <a:p>
            <a:r>
              <a:rPr sz="1100">
                <a:latin typeface="Courier New"/>
              </a:rPr>
              <a:t>python3 -m venv .venv</a:t>
            </a:r>
          </a:p>
          <a:p>
            <a:r>
              <a:t> </a:t>
            </a:r>
          </a:p>
          <a:p>
            <a:r>
              <a:rPr b="1"/>
              <a:t>CHECK:</a:t>
            </a:r>
            <a:r>
              <a:t> </a:t>
            </a:r>
            <a:r>
              <a:t>No output on success, and a new hidden </a:t>
            </a:r>
            <a:r>
              <a:rPr sz="1100">
                <a:latin typeface="Courier New"/>
              </a:rPr>
              <a:t>.venv/</a:t>
            </a:r>
            <a:r>
              <a:t> folder now exists — confirm with </a:t>
            </a:r>
            <a:r>
              <a:rPr sz="1100">
                <a:latin typeface="Courier New"/>
              </a:rPr>
              <a:t>ls -la</a:t>
            </a:r>
            <a:r>
              <a:t> (the leading dot means plain </a:t>
            </a:r>
            <a:r>
              <a:rPr sz="1100">
                <a:latin typeface="Courier New"/>
              </a:rPr>
              <a:t>ls</a:t>
            </a:r>
            <a:r>
              <a:t> won't show it).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a:t>SLIDE 4 — Step 2 — Activate it</a:t>
            </a:r>
          </a:p>
          <a:p>
            <a:r>
              <a:t> </a:t>
            </a:r>
          </a:p>
          <a:p>
            <a:r>
              <a:rPr b="1"/>
              <a:t>TEACHING GOAL:</a:t>
            </a:r>
            <a:r>
              <a:t> prove the isolation is real and provable, not just a prompt-prefix cosmetic — walk every row of this Global System vs. Isolated Environment table live.</a:t>
            </a:r>
          </a:p>
          <a:p>
            <a:r>
              <a:t> </a:t>
            </a:r>
          </a:p>
          <a:p>
            <a:r>
              <a:rPr b="1"/>
              <a:t>Step 2 — Activate it</a:t>
            </a:r>
          </a:p>
          <a:p>
            <a:r>
              <a:rPr b="1"/>
              <a:t>SAY:</a:t>
            </a:r>
            <a:r>
              <a:t> </a:t>
            </a:r>
            <a:r>
              <a:t>"Activating doesn't install anything — it just tells the shell 'use this room's Python from now on.'"</a:t>
            </a:r>
          </a:p>
          <a:p>
            <a:r>
              <a:t> </a:t>
            </a:r>
          </a:p>
          <a:p>
            <a:r>
              <a:rPr b="1"/>
              <a:t>DO:</a:t>
            </a:r>
          </a:p>
          <a:p>
            <a:r>
              <a:rPr sz="1100">
                <a:latin typeface="Courier New"/>
              </a:rPr>
              <a:t>source .venv/bin/activate</a:t>
            </a:r>
          </a:p>
          <a:p>
            <a:r>
              <a:t> </a:t>
            </a:r>
          </a:p>
          <a:p>
            <a:r>
              <a:rPr b="1"/>
              <a:t>CHECK:</a:t>
            </a:r>
            <a:r>
              <a:t> </a:t>
            </a:r>
            <a:r>
              <a:t>Your prompt now shows a </a:t>
            </a:r>
            <a:r>
              <a:rPr sz="1100">
                <a:latin typeface="Courier New"/>
              </a:rPr>
              <a:t>(.venv)</a:t>
            </a:r>
            <a:r>
              <a:t> prefix:</a:t>
            </a:r>
          </a:p>
          <a:p>
            <a:r>
              <a:rPr sz="1100">
                <a:latin typeface="Courier New"/>
              </a:rPr>
              <a:t>(.venv) yourname@machine module02_zsh %</a:t>
            </a:r>
          </a:p>
          <a:p>
            <a:r>
              <a:t> </a:t>
            </a:r>
          </a:p>
          <a:p>
            <a:r>
              <a:rPr b="1"/>
              <a:t>FIX:</a:t>
            </a:r>
            <a:r>
              <a:t> </a:t>
            </a:r>
            <a:r>
              <a:t>If you don't see </a:t>
            </a:r>
            <a:r>
              <a:rPr sz="1100">
                <a:latin typeface="Courier New"/>
              </a:rPr>
              <a:t>(.venv)</a:t>
            </a:r>
            <a:r>
              <a:t>, confirm you ran the command from inside </a:t>
            </a:r>
            <a:r>
              <a:rPr sz="1100">
                <a:latin typeface="Courier New"/>
              </a:rPr>
              <a:t>module02_zsh</a:t>
            </a:r>
            <a:r>
              <a:t> and that </a:t>
            </a:r>
            <a:r>
              <a:rPr sz="1100">
                <a:latin typeface="Courier New"/>
              </a:rPr>
              <a:t>.venv/bin/activate</a:t>
            </a:r>
            <a:r>
              <a:t> exists via </a:t>
            </a:r>
            <a:r>
              <a:rPr sz="1100">
                <a:latin typeface="Courier New"/>
              </a:rPr>
              <a:t>ls .venv/bin</a:t>
            </a:r>
            <a:r>
              <a:t>.</a:t>
            </a:r>
          </a:p>
          <a:p>
            <a:r>
              <a:t> </a:t>
            </a:r>
          </a:p>
          <a:p>
            <a:r>
              <a:rPr b="1"/>
              <a:t>Step 3 — Confirm which Python is active</a:t>
            </a:r>
          </a:p>
          <a:p>
            <a:r>
              <a:rPr b="1"/>
              <a:t>SAY:</a:t>
            </a:r>
            <a:r>
              <a:t> </a:t>
            </a:r>
            <a:r>
              <a:t>"Let's prove the isolation is real, not just cosmetic — which </a:t>
            </a:r>
            <a:r>
              <a:rPr sz="1100">
                <a:latin typeface="Courier New"/>
              </a:rPr>
              <a:t>python3</a:t>
            </a:r>
            <a:r>
              <a:t> binary is actually running now?"</a:t>
            </a:r>
          </a:p>
          <a:p>
            <a:r>
              <a:t> </a:t>
            </a:r>
          </a:p>
          <a:p>
            <a:r>
              <a:rPr b="1"/>
              <a:t>DO:</a:t>
            </a:r>
          </a:p>
          <a:p>
            <a:r>
              <a:rPr sz="1100">
                <a:latin typeface="Courier New"/>
              </a:rPr>
              <a:t>which python3</a:t>
            </a:r>
          </a:p>
          <a:p>
            <a:r>
              <a:t> </a:t>
            </a:r>
          </a:p>
          <a:p>
            <a:r>
              <a:rPr b="1"/>
              <a:t>CHECK:</a:t>
            </a:r>
          </a:p>
          <a:p>
            <a:r>
              <a:rPr sz="1100">
                <a:latin typeface="Courier New"/>
              </a:rPr>
              <a:t>/Users/yourname/ism3232/module02_zsh/.venv/bin/python3</a:t>
            </a:r>
          </a:p>
          <a:p>
            <a:r>
              <a:t>It points inside </a:t>
            </a:r>
            <a:r>
              <a:rPr sz="1100">
                <a:latin typeface="Courier New"/>
              </a:rPr>
              <a:t>.venv</a:t>
            </a:r>
            <a:r>
              <a:t>, not at the system Python — that's isolation working.</a:t>
            </a:r>
          </a:p>
          <a:p>
            <a:r>
              <a:t> </a:t>
            </a:r>
          </a:p>
          <a:p>
            <a:r>
              <a:rPr b="1"/>
              <a:t>Step 4 — Check installed packages</a:t>
            </a:r>
          </a:p>
          <a:p>
            <a:r>
              <a:rPr b="1"/>
              <a:t>SAY:</a:t>
            </a:r>
            <a:r>
              <a:t> </a:t>
            </a:r>
            <a:r>
              <a:t>"A fresh venv starts almost empty — let's see."</a:t>
            </a:r>
          </a:p>
          <a:p>
            <a:r>
              <a:t> </a:t>
            </a:r>
          </a:p>
          <a:p>
            <a:r>
              <a:rPr b="1"/>
              <a:t>DO:</a:t>
            </a:r>
          </a:p>
          <a:p>
            <a:r>
              <a:rPr sz="1100">
                <a:latin typeface="Courier New"/>
              </a:rPr>
              <a:t>pip list</a:t>
            </a:r>
          </a:p>
          <a:p>
            <a:r>
              <a:t> </a:t>
            </a:r>
          </a:p>
          <a:p>
            <a:r>
              <a:rPr b="1"/>
              <a:t>CHECK:</a:t>
            </a:r>
          </a:p>
          <a:p>
            <a:r>
              <a:rPr sz="1100">
                <a:latin typeface="Courier New"/>
              </a:rPr>
              <a:t>Package    Version</a:t>
            </a:r>
          </a:p>
          <a:p>
            <a:r>
              <a:rPr sz="1100">
                <a:latin typeface="Courier New"/>
              </a:rPr>
              <a:t>---------- -------</a:t>
            </a:r>
          </a:p>
          <a:p>
            <a:r>
              <a:rPr sz="1100">
                <a:latin typeface="Courier New"/>
              </a:rPr>
              <a:t>pip        24.x</a:t>
            </a:r>
          </a:p>
          <a:p>
            <a:r>
              <a:t>Just </a:t>
            </a:r>
            <a:r>
              <a:rPr sz="1100">
                <a:latin typeface="Courier New"/>
              </a:rPr>
              <a:t>pip</a:t>
            </a:r>
            <a:r>
              <a:t> itself (and maybe </a:t>
            </a:r>
            <a:r>
              <a:rPr sz="1100">
                <a:latin typeface="Courier New"/>
              </a:rPr>
              <a:t>setuptools</a:t>
            </a:r>
            <a:r>
              <a:t>) — nothing else yet.</a:t>
            </a:r>
          </a:p>
          <a:p>
            <a:r>
              <a:t> </a:t>
            </a:r>
          </a:p>
          <a:p>
            <a:r>
              <a:rPr b="1"/>
              <a:t>Screenshot 1 checkpoint</a:t>
            </a:r>
          </a:p>
          <a:p>
            <a:r>
              <a:rPr b="1"/>
              <a:t>SAY:</a:t>
            </a:r>
            <a:r>
              <a:t> </a:t>
            </a:r>
            <a:r>
              <a:t>"Screenshot 1 — the </a:t>
            </a:r>
            <a:r>
              <a:rPr sz="1100">
                <a:latin typeface="Courier New"/>
              </a:rPr>
              <a:t>(.venv)</a:t>
            </a:r>
            <a:r>
              <a:t> prefix in the prompt, plus the </a:t>
            </a:r>
            <a:r>
              <a:rPr sz="1100">
                <a:latin typeface="Courier New"/>
              </a:rPr>
              <a:t>which python3</a:t>
            </a:r>
            <a:r>
              <a:t> output."</a:t>
            </a:r>
          </a:p>
          <a:p>
            <a:r>
              <a:t> </a:t>
            </a:r>
          </a:p>
          <a:p>
            <a:r>
              <a:rPr b="1"/>
              <a:t>Step 7 — Verify isolation from a second terminal</a:t>
            </a:r>
          </a:p>
          <a:p>
            <a:r>
              <a:rPr b="1"/>
              <a:t>SAY:</a:t>
            </a:r>
            <a:r>
              <a:t> </a:t>
            </a:r>
            <a:r>
              <a:t>"The real test: open a brand-new terminal tab — do not activate the venv in it — and check the same two things."</a:t>
            </a:r>
          </a:p>
          <a:p>
            <a:r>
              <a:t> </a:t>
            </a:r>
          </a:p>
          <a:p>
            <a:r>
              <a:rPr b="1"/>
              <a:t>DO:</a:t>
            </a:r>
            <a:r>
              <a:t> </a:t>
            </a:r>
            <a:r>
              <a:t>In a new terminal tab (venv </a:t>
            </a:r>
            <a:r>
              <a:rPr b="1"/>
              <a:t>not</a:t>
            </a:r>
            <a:r>
              <a:t> activated):</a:t>
            </a:r>
          </a:p>
          <a:p>
            <a:r>
              <a:rPr sz="1100">
                <a:latin typeface="Courier New"/>
              </a:rPr>
              <a:t>which python3</a:t>
            </a:r>
          </a:p>
          <a:p>
            <a:r>
              <a:rPr sz="1100">
                <a:latin typeface="Courier New"/>
              </a:rPr>
              <a:t>pip list</a:t>
            </a:r>
          </a:p>
          <a:p>
            <a:r>
              <a:t> </a:t>
            </a:r>
          </a:p>
          <a:p>
            <a:r>
              <a:rPr b="1"/>
              <a:t>CHECK:</a:t>
            </a:r>
          </a:p>
          <a:p>
            <a:r>
              <a:rPr sz="1100">
                <a:latin typeface="Courier New"/>
              </a:rPr>
              <a:t>/usr/bin/python3</a:t>
            </a:r>
          </a:p>
          <a:p>
            <a:r>
              <a:t>and a </a:t>
            </a:r>
            <a:r>
              <a:rPr sz="1100">
                <a:latin typeface="Courier New"/>
              </a:rPr>
              <a:t>pip list</a:t>
            </a:r>
            <a:r>
              <a:t> that does </a:t>
            </a:r>
            <a:r>
              <a:rPr b="1"/>
              <a:t>not</a:t>
            </a:r>
            <a:r>
              <a:t> include </a:t>
            </a:r>
            <a:r>
              <a:rPr sz="1100">
                <a:latin typeface="Courier New"/>
              </a:rPr>
              <a:t>pytest</a:t>
            </a:r>
            <a:r>
              <a:t> or </a:t>
            </a:r>
            <a:r>
              <a:rPr sz="1100">
                <a:latin typeface="Courier New"/>
              </a:rPr>
              <a:t>ruff</a:t>
            </a:r>
            <a:r>
              <a:t>.</a:t>
            </a:r>
          </a:p>
          <a:p>
            <a:r>
              <a:t>This confirms the venv only affects the terminal session where you activated it — that's what "isolated" means in practice. Switch back to your original, activated terminal before continuing.</a:t>
            </a:r>
          </a:p>
          <a:p>
            <a:r>
              <a:t> </a:t>
            </a:r>
          </a:p>
          <a:p>
            <a:r>
              <a:rPr b="1"/>
              <a:t>SLIDE NOTES</a:t>
            </a:r>
          </a:p>
          <a:p>
            <a:r>
              <a:t> </a:t>
            </a:r>
          </a:p>
          <a:p>
            <a:r>
              <a:t>Fold in Step 7 here as the deeper proof of isolation, right after this table: open a brand-new terminal tab, do NOT activate the venv in it, then run which python3 (expect /usr/bin/python3, the system Python) and pip list (should NOT include pytest or ruff once installed in Step 5).</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a:t>SLIDE 5 — Step 5 — Install packages</a:t>
            </a:r>
          </a:p>
          <a:p>
            <a:r>
              <a:t> </a:t>
            </a:r>
          </a:p>
          <a:p>
            <a:r>
              <a:rPr b="1"/>
              <a:t>TEACHING GOAL:</a:t>
            </a:r>
            <a:r>
              <a:t> install the two tools this whole course depends on, then capture the exact versions so the environment is reproducible by anyone, including future-you.</a:t>
            </a:r>
          </a:p>
          <a:p>
            <a:r>
              <a:t> </a:t>
            </a:r>
          </a:p>
          <a:p>
            <a:r>
              <a:rPr b="1"/>
              <a:t>Step 5 — Install packages</a:t>
            </a:r>
          </a:p>
          <a:p>
            <a:r>
              <a:rPr b="1"/>
              <a:t>SAY:</a:t>
            </a:r>
            <a:r>
              <a:t> </a:t>
            </a:r>
            <a:r>
              <a:t>"Now we furnish the room — installing the two tools this course uses everywhere: </a:t>
            </a:r>
            <a:r>
              <a:rPr sz="1100">
                <a:latin typeface="Courier New"/>
              </a:rPr>
              <a:t>pytest</a:t>
            </a:r>
            <a:r>
              <a:t> for testing, </a:t>
            </a:r>
            <a:r>
              <a:rPr sz="1100">
                <a:latin typeface="Courier New"/>
              </a:rPr>
              <a:t>ruff</a:t>
            </a:r>
            <a:r>
              <a:t> for linting."</a:t>
            </a:r>
          </a:p>
          <a:p>
            <a:r>
              <a:t> </a:t>
            </a:r>
          </a:p>
          <a:p>
            <a:r>
              <a:rPr b="1"/>
              <a:t>DO:</a:t>
            </a:r>
          </a:p>
          <a:p>
            <a:r>
              <a:rPr sz="1100">
                <a:latin typeface="Courier New"/>
              </a:rPr>
              <a:t>pip install pytest ruff</a:t>
            </a:r>
          </a:p>
          <a:p>
            <a:r>
              <a:rPr sz="1100">
                <a:latin typeface="Courier New"/>
              </a:rPr>
              <a:t>pip list</a:t>
            </a:r>
          </a:p>
          <a:p>
            <a:r>
              <a:t> </a:t>
            </a:r>
          </a:p>
          <a:p>
            <a:r>
              <a:rPr b="1"/>
              <a:t>CHECK:</a:t>
            </a:r>
            <a:r>
              <a:t> </a:t>
            </a:r>
            <a:r>
              <a:t>The second </a:t>
            </a:r>
            <a:r>
              <a:rPr sz="1100">
                <a:latin typeface="Courier New"/>
              </a:rPr>
              <a:t>pip list</a:t>
            </a:r>
            <a:r>
              <a:t> now includes both:</a:t>
            </a:r>
          </a:p>
          <a:p>
            <a:r>
              <a:rPr sz="1100">
                <a:latin typeface="Courier New"/>
              </a:rPr>
              <a:t>pytest     8.x.x</a:t>
            </a:r>
          </a:p>
          <a:p>
            <a:r>
              <a:rPr sz="1100">
                <a:latin typeface="Courier New"/>
              </a:rPr>
              <a:t>ruff       0.x.x</a:t>
            </a:r>
          </a:p>
          <a:p>
            <a:r>
              <a:t>plus their dependencies.</a:t>
            </a:r>
          </a:p>
          <a:p>
            <a:r>
              <a:t> </a:t>
            </a:r>
          </a:p>
          <a:p>
            <a:r>
              <a:rPr b="1"/>
              <a:t>Step 6 — Freeze requirements</a:t>
            </a:r>
          </a:p>
          <a:p>
            <a:r>
              <a:rPr b="1"/>
              <a:t>SAY:</a:t>
            </a:r>
            <a:r>
              <a:t> </a:t>
            </a:r>
            <a:r>
              <a:t>"</a:t>
            </a:r>
            <a:r>
              <a:rPr sz="1100">
                <a:latin typeface="Courier New"/>
              </a:rPr>
              <a:t>pip freeze</a:t>
            </a:r>
            <a:r>
              <a:t> writes down every installed package and its exact version, so anyone — including future you — can rebuild this exact environment."</a:t>
            </a:r>
          </a:p>
          <a:p>
            <a:r>
              <a:t> </a:t>
            </a:r>
          </a:p>
          <a:p>
            <a:r>
              <a:rPr b="1"/>
              <a:t>DO:</a:t>
            </a:r>
          </a:p>
          <a:p>
            <a:r>
              <a:rPr sz="1100">
                <a:latin typeface="Courier New"/>
              </a:rPr>
              <a:t>pip freeze &gt; requirements.txt</a:t>
            </a:r>
          </a:p>
          <a:p>
            <a:r>
              <a:rPr sz="1100">
                <a:latin typeface="Courier New"/>
              </a:rPr>
              <a:t>cat requirements.txt</a:t>
            </a:r>
          </a:p>
          <a:p>
            <a:r>
              <a:t> </a:t>
            </a:r>
          </a:p>
          <a:p>
            <a:r>
              <a:rPr b="1"/>
              <a:t>CHECK:</a:t>
            </a:r>
            <a:r>
              <a:t> </a:t>
            </a:r>
            <a:r>
              <a:t>File contents list </a:t>
            </a:r>
            <a:r>
              <a:rPr sz="1100">
                <a:latin typeface="Courier New"/>
              </a:rPr>
              <a:t>pytest==8.x.x</a:t>
            </a:r>
            <a:r>
              <a:t>, </a:t>
            </a:r>
            <a:r>
              <a:rPr sz="1100">
                <a:latin typeface="Courier New"/>
              </a:rPr>
              <a:t>ruff==0.x.x</a:t>
            </a:r>
            <a:r>
              <a:t>, and their dependencies, each pinned to an exact version number.</a:t>
            </a:r>
          </a:p>
          <a:p>
            <a:r>
              <a:t> </a:t>
            </a:r>
          </a:p>
          <a:p>
            <a:r>
              <a:rPr b="1"/>
              <a:t>Screenshot 2 checkpoint</a:t>
            </a:r>
          </a:p>
          <a:p>
            <a:r>
              <a:rPr b="1"/>
              <a:t>SAY:</a:t>
            </a:r>
            <a:r>
              <a:t> </a:t>
            </a:r>
            <a:r>
              <a:t>"Screenshot 2 — the </a:t>
            </a:r>
            <a:r>
              <a:rPr sz="1100">
                <a:latin typeface="Courier New"/>
              </a:rPr>
              <a:t>pip install</a:t>
            </a:r>
            <a:r>
              <a:t> output and </a:t>
            </a:r>
            <a:r>
              <a:rPr sz="1100">
                <a:latin typeface="Courier New"/>
              </a:rPr>
              <a:t>cat requirements.txt</a:t>
            </a:r>
            <a:r>
              <a:t> output."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a:t>SLIDE 6 — Step 8 — Write .gitignore line by line</a:t>
            </a:r>
          </a:p>
          <a:p>
            <a:r>
              <a:t> </a:t>
            </a:r>
          </a:p>
          <a:p>
            <a:r>
              <a:rPr b="1"/>
              <a:t>TEACHING GOAL:</a:t>
            </a:r>
            <a:r>
              <a:t> protect the repo from ever committing the (large, fully reproducible) .venv/ folder, and get the &gt; vs &gt;&gt; distinction exactly right before students start using it habitually.</a:t>
            </a:r>
          </a:p>
          <a:p>
            <a:r>
              <a:t> </a:t>
            </a:r>
          </a:p>
          <a:p>
            <a:r>
              <a:rPr b="1"/>
              <a:t>Step 8 — Write .gitignore line by line</a:t>
            </a:r>
          </a:p>
          <a:p>
            <a:r>
              <a:rPr b="1"/>
              <a:t>SAY:</a:t>
            </a:r>
            <a:r>
              <a:t> </a:t>
            </a:r>
            <a:r>
              <a:t>"The </a:t>
            </a:r>
            <a:r>
              <a:rPr sz="1100">
                <a:latin typeface="Courier New"/>
              </a:rPr>
              <a:t>.venv/</a:t>
            </a:r>
            <a:r>
              <a:t> folder can be hundreds of megabytes and is entirely reproducible from </a:t>
            </a:r>
            <a:r>
              <a:rPr sz="1100">
                <a:latin typeface="Courier New"/>
              </a:rPr>
              <a:t>requirements.txt</a:t>
            </a:r>
            <a:r>
              <a:t> — it should never be committed to Git. Let's write the rule before we ever run </a:t>
            </a:r>
            <a:r>
              <a:rPr sz="1100">
                <a:latin typeface="Courier New"/>
              </a:rPr>
              <a:t>git add</a:t>
            </a:r>
            <a:r>
              <a:t>."</a:t>
            </a:r>
          </a:p>
          <a:p>
            <a:r>
              <a:t> </a:t>
            </a:r>
          </a:p>
          <a:p>
            <a:r>
              <a:rPr b="1"/>
              <a:t>DO:</a:t>
            </a:r>
          </a:p>
          <a:p>
            <a:r>
              <a:rPr sz="1100">
                <a:latin typeface="Courier New"/>
              </a:rPr>
              <a:t>cd ~/ism3232/module02_zsh</a:t>
            </a:r>
          </a:p>
          <a:p>
            <a:r>
              <a:rPr sz="1100">
                <a:latin typeface="Courier New"/>
              </a:rPr>
              <a:t>echo '.venv/' &gt; .gitignore</a:t>
            </a:r>
          </a:p>
          <a:p>
            <a:r>
              <a:rPr sz="1100">
                <a:latin typeface="Courier New"/>
              </a:rPr>
              <a:t>echo '__pycache__/' &gt;&gt; .gitignore</a:t>
            </a:r>
          </a:p>
          <a:p>
            <a:r>
              <a:rPr sz="1100">
                <a:latin typeface="Courier New"/>
              </a:rPr>
              <a:t>echo '*.pyc' &gt;&gt; .gitignore</a:t>
            </a:r>
          </a:p>
          <a:p>
            <a:r>
              <a:rPr sz="1100">
                <a:latin typeface="Courier New"/>
              </a:rPr>
              <a:t>cat .gitignore</a:t>
            </a:r>
          </a:p>
          <a:p>
            <a:r>
              <a:t> </a:t>
            </a:r>
          </a:p>
          <a:p>
            <a:r>
              <a:rPr b="1"/>
              <a:t>CHECK:</a:t>
            </a:r>
          </a:p>
          <a:p>
            <a:r>
              <a:rPr sz="1100">
                <a:latin typeface="Courier New"/>
              </a:rPr>
              <a:t>.venv/</a:t>
            </a:r>
          </a:p>
          <a:p>
            <a:r>
              <a:rPr sz="1100">
                <a:latin typeface="Courier New"/>
              </a:rPr>
              <a:t>__pycache__/</a:t>
            </a:r>
          </a:p>
          <a:p>
            <a:r>
              <a:rPr sz="1100">
                <a:latin typeface="Courier New"/>
              </a:rPr>
              <a:t>*.pyc</a:t>
            </a:r>
          </a:p>
          <a:p>
            <a:r>
              <a:t>Note the first line used </a:t>
            </a:r>
            <a:r>
              <a:rPr sz="1100">
                <a:latin typeface="Courier New"/>
              </a:rPr>
              <a:t>&gt;</a:t>
            </a:r>
            <a:r>
              <a:t> (create/overwrite) and the next two used </a:t>
            </a:r>
            <a:r>
              <a:rPr sz="1100">
                <a:latin typeface="Courier New"/>
              </a:rPr>
              <a:t>&gt;&gt;</a:t>
            </a:r>
            <a:r>
              <a:t> (append) — using </a:t>
            </a:r>
            <a:r>
              <a:rPr sz="1100">
                <a:latin typeface="Courier New"/>
              </a:rPr>
              <a:t>&gt;</a:t>
            </a:r>
            <a:r>
              <a:t> again on lines 2 or 3 would have erased line 1.</a:t>
            </a:r>
          </a:p>
          <a:p>
            <a:r>
              <a:t> </a:t>
            </a:r>
          </a:p>
          <a:p>
            <a:r>
              <a:rPr b="1"/>
              <a:t>Step 9 — Confirm both files exist</a:t>
            </a:r>
          </a:p>
          <a:p>
            <a:r>
              <a:rPr b="1"/>
              <a:t>SAY:</a:t>
            </a:r>
            <a:r>
              <a:t> </a:t>
            </a:r>
            <a:r>
              <a:t>"One more check — both the environment and the ignore rule for it should be sitting side by side."</a:t>
            </a:r>
          </a:p>
          <a:p>
            <a:r>
              <a:t> </a:t>
            </a:r>
          </a:p>
          <a:p>
            <a:r>
              <a:rPr b="1"/>
              <a:t>DO:</a:t>
            </a:r>
          </a:p>
          <a:p>
            <a:r>
              <a:rPr sz="1100">
                <a:latin typeface="Courier New"/>
              </a:rPr>
              <a:t>ls -la</a:t>
            </a:r>
          </a:p>
          <a:p>
            <a:r>
              <a:t> </a:t>
            </a:r>
          </a:p>
          <a:p>
            <a:r>
              <a:rPr b="1"/>
              <a:t>CHECK:</a:t>
            </a:r>
            <a:r>
              <a:t> </a:t>
            </a:r>
            <a:r>
              <a:t>Output includes both </a:t>
            </a:r>
            <a:r>
              <a:rPr sz="1100">
                <a:latin typeface="Courier New"/>
              </a:rPr>
              <a:t>.venv</a:t>
            </a:r>
            <a:r>
              <a:t> and </a:t>
            </a:r>
            <a:r>
              <a:rPr sz="1100">
                <a:latin typeface="Courier New"/>
              </a:rPr>
              <a:t>.gitignore</a:t>
            </a:r>
            <a:r>
              <a:t> in the listing (along with </a:t>
            </a:r>
            <a:r>
              <a:rPr sz="1100">
                <a:latin typeface="Courier New"/>
              </a:rPr>
              <a:t>requirements.txt</a:t>
            </a:r>
            <a:r>
              <a:t> from Step 6).</a:t>
            </a:r>
          </a:p>
          <a:p>
            <a:r>
              <a:t> </a:t>
            </a:r>
          </a:p>
          <a:p>
            <a:r>
              <a:rPr b="1"/>
              <a:t>Screenshot 3 checkpoint</a:t>
            </a:r>
          </a:p>
          <a:p>
            <a:r>
              <a:rPr b="1"/>
              <a:t>SAY:</a:t>
            </a:r>
            <a:r>
              <a:t> </a:t>
            </a:r>
            <a:r>
              <a:t>"Screenshot 3 — </a:t>
            </a:r>
            <a:r>
              <a:rPr sz="1100">
                <a:latin typeface="Courier New"/>
              </a:rPr>
              <a:t>ls -la</a:t>
            </a:r>
            <a:r>
              <a:t> showing both </a:t>
            </a:r>
            <a:r>
              <a:rPr sz="1100">
                <a:latin typeface="Courier New"/>
              </a:rPr>
              <a:t>.venv/</a:t>
            </a:r>
            <a:r>
              <a:t> and </a:t>
            </a:r>
            <a:r>
              <a:rPr sz="1100">
                <a:latin typeface="Courier New"/>
              </a:rPr>
              <a:t>.gitignore</a:t>
            </a:r>
            <a:r>
              <a:t>."</a:t>
            </a:r>
          </a:p>
          <a:p>
            <a:r>
              <a:t> </a:t>
            </a:r>
          </a:p>
          <a:p>
            <a:r>
              <a:rPr b="1"/>
              <a:t>SLIDE NOTES</a:t>
            </a:r>
          </a:p>
          <a:p>
            <a:r>
              <a:t> </a:t>
            </a:r>
          </a:p>
          <a:p>
            <a:r>
              <a:t>Note on the graphic: the illustration's own example text (a repeated .venv/ line plus .DS_Store) is just placeholder art from the deck generator — teach the ACTUAL three lines from the script above, not the literal text shown on the slide. Use the graphic only to land the underlying lesson: the first line must use &gt; (create/overwrite), and every line after it must use &gt;&gt; (append) — using &gt; again on line 2 or 3 would silently erase line 1.</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a:t>SLIDE 7</a:t>
            </a:r>
          </a:p>
          <a:p>
            <a:r>
              <a:t> </a:t>
            </a:r>
          </a:p>
          <a:p>
            <a:r>
              <a:rPr b="1"/>
              <a:t>TEACHING GOAL:</a:t>
            </a:r>
            <a:r>
              <a:t> make the scope contrast explicit before touching .zshrc — .venv/ is LOCAL (must be activated manually, isolated to one project folder), while ~/.zshrc is GLOBAL (loads automatically in every new terminal window, becomes part of the permanent developer toolkit across every project).</a:t>
            </a:r>
          </a:p>
          <a:p>
            <a:r>
              <a:t> </a:t>
            </a:r>
          </a:p>
          <a:p>
            <a:r>
              <a:rPr b="1"/>
              <a:t>SAY (bridge line):</a:t>
            </a:r>
            <a:r>
              <a:t> "Now we customize the shell itself. .zshrc runs every time you open a new terminal — anything defined here is available everywhere, in every project." Emphasize the slide's closing line out loud: anything defined in ~/.zshrc becomes part of your permanent developer toolkit across all projects, not just this one.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a:t>SLIDE 8 — Step 10 — Open .zshrc and add the required aliases</a:t>
            </a:r>
          </a:p>
          <a:p>
            <a:r>
              <a:t> </a:t>
            </a:r>
          </a:p>
          <a:p>
            <a:r>
              <a:rPr b="1"/>
              <a:t>TEACHING GOAL:</a:t>
            </a:r>
            <a:r>
              <a:t> distinguish a simple alias (pure text substitution, no logic) from a shell function (accepts an argument, runs real logic) before students add nine of the former and one of the latter.</a:t>
            </a:r>
          </a:p>
          <a:p>
            <a:r>
              <a:t> </a:t>
            </a:r>
          </a:p>
          <a:p>
            <a:r>
              <a:rPr b="1"/>
              <a:t>Step 10 — Open .zshrc and add the required aliases</a:t>
            </a:r>
          </a:p>
          <a:p>
            <a:r>
              <a:rPr b="1"/>
              <a:t>SAY:</a:t>
            </a:r>
            <a:r>
              <a:t> </a:t>
            </a:r>
            <a:r>
              <a:t>"Now we customize the shell itself. </a:t>
            </a:r>
            <a:r>
              <a:rPr sz="1100">
                <a:latin typeface="Courier New"/>
              </a:rPr>
              <a:t>.zshrc</a:t>
            </a:r>
            <a:r>
              <a:t> runs every time you open a new terminal — anything defined here is available everywhere, in every project."</a:t>
            </a:r>
          </a:p>
          <a:p>
            <a:r>
              <a:t> </a:t>
            </a:r>
          </a:p>
          <a:p>
            <a:r>
              <a:rPr b="1"/>
              <a:t>DO:</a:t>
            </a:r>
          </a:p>
          <a:p>
            <a:r>
              <a:rPr sz="1100">
                <a:latin typeface="Courier New"/>
              </a:rPr>
              <a:t>code ~/.zshrc</a:t>
            </a:r>
          </a:p>
          <a:p>
            <a:r>
              <a:t>Add these lines at the end of the file — </a:t>
            </a:r>
            <a:r>
              <a:rPr b="1"/>
              <a:t>do not delete anything already there</a:t>
            </a:r>
            <a:r>
              <a:t>:</a:t>
            </a:r>
          </a:p>
          <a:p>
            <a:r>
              <a:rPr sz="1100">
                <a:latin typeface="Courier New"/>
              </a:rPr>
              <a:t># ISM3232 required aliases</a:t>
            </a:r>
          </a:p>
          <a:p>
            <a:r>
              <a:rPr sz="1100">
                <a:latin typeface="Courier New"/>
              </a:rPr>
              <a:t>alias ll='ls -la'</a:t>
            </a:r>
          </a:p>
          <a:p>
            <a:r>
              <a:rPr sz="1100">
                <a:latin typeface="Courier New"/>
              </a:rPr>
              <a:t>alias c='clear'</a:t>
            </a:r>
          </a:p>
          <a:p>
            <a:r>
              <a:rPr sz="1100">
                <a:latin typeface="Courier New"/>
              </a:rPr>
              <a:t>alias py='python3'</a:t>
            </a:r>
          </a:p>
          <a:p>
            <a:r>
              <a:rPr sz="1100">
                <a:latin typeface="Courier New"/>
              </a:rPr>
              <a:t>alias gs='git status'</a:t>
            </a:r>
          </a:p>
          <a:p>
            <a:r>
              <a:rPr sz="1100">
                <a:latin typeface="Courier New"/>
              </a:rPr>
              <a:t>alias ga='git add .'</a:t>
            </a:r>
          </a:p>
          <a:p>
            <a:r>
              <a:rPr sz="1100">
                <a:latin typeface="Courier New"/>
              </a:rPr>
              <a:t>alias gcmsg='git commit -m'</a:t>
            </a:r>
          </a:p>
          <a:p>
            <a:r>
              <a:rPr sz="1100">
                <a:latin typeface="Courier New"/>
              </a:rPr>
              <a:t>alias gp='git push'</a:t>
            </a:r>
          </a:p>
          <a:p>
            <a:r>
              <a:rPr sz="1100">
                <a:latin typeface="Courier New"/>
              </a:rPr>
              <a:t>alias gl='git log --oneline'</a:t>
            </a:r>
          </a:p>
          <a:p>
            <a:r>
              <a:rPr sz="1100">
                <a:latin typeface="Courier New"/>
              </a:rPr>
              <a:t>alias tree2='tree -L 2'</a:t>
            </a:r>
          </a:p>
          <a:p>
            <a:r>
              <a:t> </a:t>
            </a:r>
          </a:p>
          <a:p>
            <a:r>
              <a:rPr b="1"/>
              <a:t>CHECK:</a:t>
            </a:r>
            <a:r>
              <a:t> </a:t>
            </a:r>
            <a:r>
              <a:t>Nine </a:t>
            </a:r>
            <a:r>
              <a:rPr sz="1100">
                <a:latin typeface="Courier New"/>
              </a:rPr>
              <a:t>alias</a:t>
            </a:r>
            <a:r>
              <a:t> lines are now in </a:t>
            </a:r>
            <a:r>
              <a:rPr sz="1100">
                <a:latin typeface="Courier New"/>
              </a:rPr>
              <a:t>~/.zshrc</a:t>
            </a:r>
            <a:r>
              <a:t>, each mapping a short name to a longer command you'll type constantly this semester.</a:t>
            </a:r>
          </a:p>
          <a:p>
            <a:r>
              <a:t> </a:t>
            </a:r>
          </a:p>
          <a:p>
            <a:r>
              <a:rPr b="1"/>
              <a:t>Step 11 — Add the mkcd function</a:t>
            </a:r>
          </a:p>
          <a:p>
            <a:r>
              <a:rPr b="1"/>
              <a:t>SAY:</a:t>
            </a:r>
            <a:r>
              <a:t> </a:t>
            </a:r>
            <a:r>
              <a:t>"One more addition — a shell function, not just an alias, because it needs to take an argument: a folder name."</a:t>
            </a:r>
          </a:p>
          <a:p>
            <a:r>
              <a:t> </a:t>
            </a:r>
          </a:p>
          <a:p>
            <a:r>
              <a:rPr b="1"/>
              <a:t>DO:</a:t>
            </a:r>
            <a:r>
              <a:t> </a:t>
            </a:r>
            <a:r>
              <a:t>Directly below the aliases:</a:t>
            </a:r>
          </a:p>
          <a:p>
            <a:r>
              <a:rPr sz="1100">
                <a:latin typeface="Courier New"/>
              </a:rPr>
              <a:t># Required shell function</a:t>
            </a:r>
          </a:p>
          <a:p>
            <a:r>
              <a:rPr sz="1100">
                <a:latin typeface="Courier New"/>
              </a:rPr>
              <a:t>mkcd() { mkdir -p "$1" &amp;&amp; cd "$1" }</a:t>
            </a:r>
          </a:p>
          <a:p>
            <a:r>
              <a:t>Save the file.</a:t>
            </a:r>
          </a:p>
          <a:p>
            <a:r>
              <a:t> </a:t>
            </a:r>
          </a:p>
          <a:p>
            <a:r>
              <a:rPr b="1"/>
              <a:t>CHECK:</a:t>
            </a:r>
            <a:r>
              <a:t> </a:t>
            </a:r>
            <a:r>
              <a:t>Read the function back on camera: "</a:t>
            </a:r>
            <a:r>
              <a:rPr sz="1100">
                <a:latin typeface="Courier New"/>
              </a:rPr>
              <a:t>mkcd</a:t>
            </a:r>
            <a:r>
              <a:t> takes one argument, </a:t>
            </a:r>
            <a:r>
              <a:rPr sz="1100">
                <a:latin typeface="Courier New"/>
              </a:rPr>
              <a:t>$1</a:t>
            </a:r>
            <a:r>
              <a:t>, makes that directory — including any missing parent folders because of </a:t>
            </a:r>
            <a:r>
              <a:rPr sz="1100">
                <a:latin typeface="Courier New"/>
              </a:rPr>
              <a:t>-p</a:t>
            </a:r>
            <a:r>
              <a:t> — and if that succeeds, changes into it. One command instead of two."</a:t>
            </a:r>
          </a:p>
          <a:p>
            <a:r>
              <a:t> </a:t>
            </a:r>
          </a:p>
          <a:p>
            <a:r>
              <a:rPr b="1"/>
              <a:t>SLIDE NOTES</a:t>
            </a:r>
          </a:p>
          <a:p>
            <a:r>
              <a:t> </a:t>
            </a:r>
          </a:p>
          <a:p>
            <a:r>
              <a:t>Reference the left half of this slide: an alias is just the custom short name pointing at the longer command it secretly executes.</a:t>
            </a:r>
          </a:p>
          <a:p>
            <a:r>
              <a:t> </a:t>
            </a:r>
          </a:p>
          <a:p>
            <a:r>
              <a:t>This matches the right half of the slide exactly: accepts the folder name as an argument, -p creates missing parents without erroring, &amp;&amp; only runs cd if mkdir succeeds.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a:t>SLIDE 9 — Step 12 — Reload and test every alias</a:t>
            </a:r>
          </a:p>
          <a:p>
            <a:r>
              <a:t> </a:t>
            </a:r>
          </a:p>
          <a:p>
            <a:r>
              <a:rPr b="1"/>
              <a:t>TEACHING GOAL:</a:t>
            </a:r>
            <a:r>
              <a:t> close the edit-reload-verify loop — config changes in .zshrc are inert until the shell is told to re-read the file.</a:t>
            </a:r>
          </a:p>
          <a:p>
            <a:r>
              <a:t> </a:t>
            </a:r>
          </a:p>
          <a:p>
            <a:r>
              <a:rPr b="1"/>
              <a:t>Step 12 — Reload and test every alias</a:t>
            </a:r>
          </a:p>
          <a:p>
            <a:r>
              <a:rPr b="1"/>
              <a:t>SAY:</a:t>
            </a:r>
            <a:r>
              <a:t> </a:t>
            </a:r>
            <a:r>
              <a:t>"New config in </a:t>
            </a:r>
            <a:r>
              <a:rPr sz="1100">
                <a:latin typeface="Courier New"/>
              </a:rPr>
              <a:t>.zshrc</a:t>
            </a:r>
            <a:r>
              <a:t> doesn't apply automatically to an already-open terminal — we have to reload it."</a:t>
            </a:r>
          </a:p>
          <a:p>
            <a:r>
              <a:t> </a:t>
            </a:r>
          </a:p>
          <a:p>
            <a:r>
              <a:rPr b="1"/>
              <a:t>DO:</a:t>
            </a:r>
          </a:p>
          <a:p>
            <a:r>
              <a:rPr sz="1100">
                <a:latin typeface="Courier New"/>
              </a:rPr>
              <a:t>source ~/.zshrc</a:t>
            </a:r>
          </a:p>
          <a:p>
            <a:r>
              <a:rPr sz="1100">
                <a:latin typeface="Courier New"/>
              </a:rPr>
              <a:t>ll</a:t>
            </a:r>
          </a:p>
          <a:p>
            <a:r>
              <a:rPr sz="1100">
                <a:latin typeface="Courier New"/>
              </a:rPr>
              <a:t>gs</a:t>
            </a:r>
          </a:p>
          <a:p>
            <a:r>
              <a:rPr sz="1100">
                <a:latin typeface="Courier New"/>
              </a:rPr>
              <a:t>mkcd testdir</a:t>
            </a:r>
          </a:p>
          <a:p>
            <a:r>
              <a:rPr sz="1100">
                <a:latin typeface="Courier New"/>
              </a:rPr>
              <a:t>pwd</a:t>
            </a:r>
          </a:p>
          <a:p>
            <a:r>
              <a:t> </a:t>
            </a:r>
          </a:p>
          <a:p>
            <a:r>
              <a:rPr b="1"/>
              <a:t>CHECK:</a:t>
            </a:r>
          </a:p>
          <a:p>
            <a:r>
              <a:t>• </a:t>
            </a:r>
            <a:r>
              <a:rPr sz="1100">
                <a:latin typeface="Courier New"/>
              </a:rPr>
              <a:t>ll</a:t>
            </a:r>
            <a:r>
              <a:t> prints a long listing (same as </a:t>
            </a:r>
            <a:r>
              <a:rPr sz="1100">
                <a:latin typeface="Courier New"/>
              </a:rPr>
              <a:t>ls -la</a:t>
            </a:r>
            <a:r>
              <a:t>)</a:t>
            </a:r>
          </a:p>
          <a:p>
            <a:r>
              <a:t>• </a:t>
            </a:r>
            <a:r>
              <a:rPr sz="1100">
                <a:latin typeface="Courier New"/>
              </a:rPr>
              <a:t>gs</a:t>
            </a:r>
            <a:r>
              <a:t> prints </a:t>
            </a:r>
            <a:r>
              <a:rPr sz="1100">
                <a:latin typeface="Courier New"/>
              </a:rPr>
              <a:t>git status</a:t>
            </a:r>
            <a:r>
              <a:t> output for the current repo (or "not a git repository" if you're outside one — either confirms the alias works)</a:t>
            </a:r>
          </a:p>
          <a:p>
            <a:r>
              <a:t>• </a:t>
            </a:r>
            <a:r>
              <a:rPr sz="1100">
                <a:latin typeface="Courier New"/>
              </a:rPr>
              <a:t>mkcd testdir</a:t>
            </a:r>
            <a:r>
              <a:t> produces no output but changes directory</a:t>
            </a:r>
          </a:p>
          <a:p>
            <a:r>
              <a:t>• </a:t>
            </a:r>
            <a:r>
              <a:rPr sz="1100">
                <a:latin typeface="Courier New"/>
              </a:rPr>
              <a:t>pwd</a:t>
            </a:r>
            <a:r>
              <a:t> confirms you're now inside </a:t>
            </a:r>
            <a:r>
              <a:rPr sz="1100">
                <a:latin typeface="Courier New"/>
              </a:rPr>
              <a:t>testdir</a:t>
            </a:r>
            <a:r>
              <a:t>:</a:t>
            </a:r>
          </a:p>
          <a:p>
            <a:r>
              <a:rPr sz="1100">
                <a:latin typeface="Courier New"/>
              </a:rPr>
              <a:t>/Users/yourname/ism3232/module02_zsh/testdir</a:t>
            </a:r>
          </a:p>
          <a:p>
            <a:r>
              <a:t> </a:t>
            </a:r>
          </a:p>
          <a:p>
            <a:r>
              <a:rPr b="1"/>
              <a:t>FIX:</a:t>
            </a:r>
            <a:r>
              <a:t> </a:t>
            </a:r>
            <a:r>
              <a:t>If </a:t>
            </a:r>
            <a:r>
              <a:rPr sz="1100">
                <a:latin typeface="Courier New"/>
              </a:rPr>
              <a:t>source ~/.zshrc</a:t>
            </a:r>
            <a:r>
              <a:t> throws a syntax error, check for a missing quote or brace on the </a:t>
            </a:r>
            <a:r>
              <a:rPr sz="1100">
                <a:latin typeface="Courier New"/>
              </a:rPr>
              <a:t>mkcd</a:t>
            </a:r>
            <a:r>
              <a:t> line — the braces </a:t>
            </a:r>
            <a:r>
              <a:rPr sz="1100">
                <a:latin typeface="Courier New"/>
              </a:rPr>
              <a:t>{ }</a:t>
            </a:r>
            <a:r>
              <a:t> must both be present with a space after </a:t>
            </a:r>
            <a:r>
              <a:rPr sz="1100">
                <a:latin typeface="Courier New"/>
              </a:rPr>
              <a:t>{</a:t>
            </a:r>
            <a:r>
              <a:t>.</a:t>
            </a:r>
          </a:p>
          <a:p>
            <a:r>
              <a:t> </a:t>
            </a:r>
          </a:p>
          <a:p>
            <a:r>
              <a:rPr b="1"/>
              <a:t>Screenshot 4 checkpoint</a:t>
            </a:r>
          </a:p>
          <a:p>
            <a:r>
              <a:rPr b="1"/>
              <a:t>SAY:</a:t>
            </a:r>
            <a:r>
              <a:t> </a:t>
            </a:r>
            <a:r>
              <a:t>"Screenshot 4 — </a:t>
            </a:r>
            <a:r>
              <a:rPr sz="1100">
                <a:latin typeface="Courier New"/>
              </a:rPr>
              <a:t>ll</a:t>
            </a:r>
            <a:r>
              <a:t>, </a:t>
            </a:r>
            <a:r>
              <a:rPr sz="1100">
                <a:latin typeface="Courier New"/>
              </a:rPr>
              <a:t>gs</a:t>
            </a:r>
            <a:r>
              <a:t>, and </a:t>
            </a:r>
            <a:r>
              <a:rPr sz="1100">
                <a:latin typeface="Courier New"/>
              </a:rPr>
              <a:t>mkcd</a:t>
            </a:r>
            <a:r>
              <a:t> all working, right after </a:t>
            </a:r>
            <a:r>
              <a:rPr sz="1100">
                <a:latin typeface="Courier New"/>
              </a:rPr>
              <a:t>source ~/.zshrc</a:t>
            </a:r>
            <a:r>
              <a:t>."</a:t>
            </a:r>
          </a:p>
          <a:p>
            <a:r>
              <a:t> </a:t>
            </a:r>
          </a:p>
          <a:p>
            <a:r>
              <a:rPr b="1"/>
              <a:t>SLIDE NOTES</a:t>
            </a:r>
          </a:p>
          <a:p>
            <a:r>
              <a:t> </a:t>
            </a:r>
          </a:p>
          <a:p>
            <a:r>
              <a:t>"New config in .zshrc doesn't apply automatically to an already-open terminal — we have to reload it." Reinforce the slide's warning flag: do not delete existing code when editing ~/.zshrc, only add to the bottom.</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a:t>SLIDE 10 — Step 13 — Quick pytest sanity check, then deactivate</a:t>
            </a:r>
          </a:p>
          <a:p>
            <a:r>
              <a:t> </a:t>
            </a:r>
          </a:p>
          <a:p>
            <a:r>
              <a:rPr b="1"/>
              <a:t>TEACHING GOAL:</a:t>
            </a:r>
            <a:r>
              <a:t> confirm the testing tool itself works correctly (finds zero tests, since none exist yet) before leaving the venv cleanly.</a:t>
            </a:r>
          </a:p>
          <a:p>
            <a:r>
              <a:t> </a:t>
            </a:r>
          </a:p>
          <a:p>
            <a:r>
              <a:rPr b="1"/>
              <a:t>SAY:</a:t>
            </a:r>
            <a:r>
              <a:t> </a:t>
            </a:r>
            <a:r>
              <a:t>"Before we leave the venv, one quick test that the tooling itself works, even with zero test files yet."</a:t>
            </a:r>
          </a:p>
          <a:p>
            <a:r>
              <a:t> </a:t>
            </a:r>
          </a:p>
          <a:p>
            <a:r>
              <a:rPr b="1"/>
              <a:t>DO:</a:t>
            </a:r>
          </a:p>
          <a:p>
            <a:r>
              <a:rPr sz="1100">
                <a:latin typeface="Courier New"/>
              </a:rPr>
              <a:t>cd ~/ism3232/module02_zsh</a:t>
            </a:r>
          </a:p>
          <a:p>
            <a:r>
              <a:rPr sz="1100">
                <a:latin typeface="Courier New"/>
              </a:rPr>
              <a:t>source .venv/bin/activate</a:t>
            </a:r>
          </a:p>
          <a:p>
            <a:r>
              <a:rPr sz="1100">
                <a:latin typeface="Courier New"/>
              </a:rPr>
              <a:t>pytest --collect-only</a:t>
            </a:r>
          </a:p>
          <a:p>
            <a:r>
              <a:t> </a:t>
            </a:r>
          </a:p>
          <a:p>
            <a:r>
              <a:rPr b="1"/>
              <a:t>CHECK:</a:t>
            </a:r>
          </a:p>
          <a:p>
            <a:r>
              <a:rPr sz="1100">
                <a:latin typeface="Courier New"/>
              </a:rPr>
              <a:t>no tests found</a:t>
            </a:r>
          </a:p>
          <a:p>
            <a:r>
              <a:t>(or similar language — pytest confirming it looked and found nothing yet, which is correct since we haven't written test files).</a:t>
            </a:r>
          </a:p>
          <a:p>
            <a:r>
              <a:t>Now leave the room:</a:t>
            </a:r>
          </a:p>
          <a:p>
            <a:r>
              <a:rPr sz="1100">
                <a:latin typeface="Courier New"/>
              </a:rPr>
              <a:t>deactivate</a:t>
            </a:r>
          </a:p>
          <a:p>
            <a:r>
              <a:rPr sz="1100">
                <a:latin typeface="Courier New"/>
              </a:rPr>
              <a:t>which python3</a:t>
            </a:r>
          </a:p>
          <a:p>
            <a:r>
              <a:t> </a:t>
            </a:r>
          </a:p>
          <a:p>
            <a:r>
              <a:rPr b="1"/>
              <a:t>CHECK:</a:t>
            </a:r>
          </a:p>
          <a:p>
            <a:r>
              <a:rPr sz="1100">
                <a:latin typeface="Courier New"/>
              </a:rPr>
              <a:t>/usr/bin/python3</a:t>
            </a:r>
          </a:p>
          <a:p>
            <a:r>
              <a:t>Back to the system Python, and the </a:t>
            </a:r>
            <a:r>
              <a:rPr sz="1100">
                <a:latin typeface="Courier New"/>
              </a:rPr>
              <a:t>(.venv)</a:t>
            </a:r>
            <a:r>
              <a:t> prefix is gone from the prompt.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a:t>SLIDE 11 — Step 14 — Add the Week 3 README section</a:t>
            </a:r>
          </a:p>
          <a:p>
            <a:r>
              <a:t> </a:t>
            </a:r>
          </a:p>
          <a:p>
            <a:r>
              <a:rPr b="1"/>
              <a:t>TEACHING GOAL:</a:t>
            </a:r>
            <a:r>
              <a:t> build the habit of a living, append-only README that accumulates across the whole semester rather than being overwritten week to week.</a:t>
            </a:r>
          </a:p>
          <a:p>
            <a:r>
              <a:t> </a:t>
            </a:r>
          </a:p>
          <a:p>
            <a:r>
              <a:rPr b="1"/>
              <a:t>SAY:</a:t>
            </a:r>
            <a:r>
              <a:t> </a:t>
            </a:r>
            <a:r>
              <a:t>"Same README from last week, one more section appended — never delete previous weeks' work."</a:t>
            </a:r>
          </a:p>
          <a:p>
            <a:r>
              <a:t> </a:t>
            </a:r>
          </a:p>
          <a:p>
            <a:r>
              <a:rPr b="1"/>
              <a:t>DO:</a:t>
            </a:r>
          </a:p>
          <a:p>
            <a:r>
              <a:rPr sz="1100">
                <a:latin typeface="Courier New"/>
              </a:rPr>
              <a:t>cd ~/ism3232/module02_zsh</a:t>
            </a:r>
          </a:p>
          <a:p>
            <a:r>
              <a:rPr sz="1100">
                <a:latin typeface="Courier New"/>
              </a:rPr>
              <a:t>code README.md</a:t>
            </a:r>
          </a:p>
          <a:p>
            <a:r>
              <a:t>Add:</a:t>
            </a:r>
          </a:p>
          <a:p>
            <a:r>
              <a:rPr sz="1100">
                <a:latin typeface="Courier New"/>
              </a:rPr>
              <a:t>## Week 3: Virtual Environments and .zshrc</a:t>
            </a:r>
          </a:p>
          <a:p>
            <a:r>
              <a:rPr sz="1100">
                <a:latin typeface="Courier New"/>
              </a:rPr>
              <a:t> </a:t>
            </a:r>
          </a:p>
          <a:p>
            <a:r>
              <a:rPr sz="1100">
                <a:latin typeface="Courier New"/>
              </a:rPr>
              <a:t>- `python3 -m venv .venv` — creates an isolated environment</a:t>
            </a:r>
          </a:p>
          <a:p>
            <a:r>
              <a:rPr sz="1100">
                <a:latin typeface="Courier New"/>
              </a:rPr>
              <a:t>- `source .venv/bin/activate` — activates it (shows `(.venv)` in prompt)</a:t>
            </a:r>
          </a:p>
          <a:p>
            <a:r>
              <a:rPr sz="1100">
                <a:latin typeface="Courier New"/>
              </a:rPr>
              <a:t>- `pip install &lt;package&gt;` — installs into the active venv only</a:t>
            </a:r>
          </a:p>
          <a:p>
            <a:r>
              <a:rPr sz="1100">
                <a:latin typeface="Courier New"/>
              </a:rPr>
              <a:t>- `pip freeze &gt; requirements.txt` — records exact installed versions</a:t>
            </a:r>
          </a:p>
          <a:p>
            <a:r>
              <a:rPr sz="1100">
                <a:latin typeface="Courier New"/>
              </a:rPr>
              <a:t>- `deactivate` — leaves the venv, returns to system Python</a:t>
            </a:r>
          </a:p>
          <a:p>
            <a:r>
              <a:rPr sz="1100">
                <a:latin typeface="Courier New"/>
              </a:rPr>
              <a:t>- 9 required aliases and `mkcd` added to `~/.zshrc`</a:t>
            </a:r>
          </a:p>
          <a:p>
            <a:r>
              <a:t> </a:t>
            </a:r>
          </a:p>
          <a:p>
            <a:r>
              <a:rPr b="1"/>
              <a:t>CHECK:</a:t>
            </a:r>
            <a:r>
              <a:t> </a:t>
            </a:r>
            <a:r>
              <a:rPr sz="1100">
                <a:latin typeface="Courier New"/>
              </a:rPr>
              <a:t>README.md</a:t>
            </a:r>
            <a:r>
              <a:t> now has two sections — the Week 1/2 content from before, plus this new </a:t>
            </a:r>
            <a:r>
              <a:rPr sz="1100">
                <a:latin typeface="Courier New"/>
              </a:rPr>
              <a:t>## Week 3</a:t>
            </a:r>
            <a:r>
              <a:t> heading — nothing earlier was overwritten.</a:t>
            </a:r>
          </a:p>
          <a:p>
            <a:r>
              <a:t> </a:t>
            </a:r>
          </a:p>
          <a:p>
            <a:r>
              <a:rPr b="1"/>
              <a:t>SLIDE NOTES</a:t>
            </a:r>
          </a:p>
          <a:p>
            <a:r>
              <a:t> </a:t>
            </a:r>
          </a:p>
          <a:p>
            <a:r>
              <a:t>Reinforce the graphic's framing: Week 1 &amp; 2 content is historical data at the top of the file, Week 3 is a clean new append at the bottom.</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a:t>SLIDE 12</a:t>
            </a:r>
          </a:p>
          <a:p>
            <a:r>
              <a:t> </a:t>
            </a:r>
          </a:p>
          <a:p>
            <a:r>
              <a:rPr b="1"/>
              <a:t>TEACHING GOAL:</a:t>
            </a:r>
            <a:r>
              <a:t> pull every artifact from this lab into one mental map before the checklist — use this as a closing recap, and consider asking students to explain each arrow out loud.</a:t>
            </a:r>
          </a:p>
          <a:p>
            <a:r>
              <a:t> </a:t>
            </a:r>
          </a:p>
          <a:p>
            <a:r>
              <a:t>Walk the diagram top to bottom: ~/.zshrc floats globally above every project, injecting the nine aliases and the mkcd function downward into every folder — including module02_zsh, the project root for this lab. Inside that root sit four artifacts: .venv/ (the isolated room, ignored by Git), .gitignore (the shield that keeps .venv/ out of version control), requirements.txt (the blueprint recording exact tool versions via pip freeze), and README.md (the log, updated iteratively — Week 1/2 plus this week's new Week 3 section).</a:t>
            </a:r>
          </a:p>
          <a:p>
            <a:r>
              <a:t> </a:t>
            </a:r>
          </a:p>
          <a:p>
            <a:r>
              <a:t>This is the moment to connect every prior slide: the private-room metaphor (slide 3), the isolation proof (slide 4), pip freeze (slide 5), .gitignore (slide 6), the local-vs-global scope contrast (slide 7), and the README habit (slide 11) all collapse into this one picture.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a:t>SLIDE 13 — SUBMISSION CHECKLIST</a:t>
            </a:r>
          </a:p>
          <a:p>
            <a:r>
              <a:t> </a:t>
            </a:r>
          </a:p>
          <a:p>
            <a:r>
              <a:t>• [ ] Screenshot 1: </a:t>
            </a:r>
            <a:r>
              <a:rPr sz="1100">
                <a:latin typeface="Courier New"/>
              </a:rPr>
              <a:t>(.venv)</a:t>
            </a:r>
            <a:r>
              <a:t> prompt and </a:t>
            </a:r>
            <a:r>
              <a:rPr sz="1100">
                <a:latin typeface="Courier New"/>
              </a:rPr>
              <a:t>which python3</a:t>
            </a:r>
            <a:r>
              <a:t> output</a:t>
            </a:r>
          </a:p>
          <a:p>
            <a:r>
              <a:t>• [ ] Screenshot 2: </a:t>
            </a:r>
            <a:r>
              <a:rPr sz="1100">
                <a:latin typeface="Courier New"/>
              </a:rPr>
              <a:t>pip install</a:t>
            </a:r>
            <a:r>
              <a:t> output and </a:t>
            </a:r>
            <a:r>
              <a:rPr sz="1100">
                <a:latin typeface="Courier New"/>
              </a:rPr>
              <a:t>cat requirements.txt</a:t>
            </a:r>
          </a:p>
          <a:p>
            <a:r>
              <a:t>• [ ] Screenshot 3: </a:t>
            </a:r>
            <a:r>
              <a:rPr sz="1100">
                <a:latin typeface="Courier New"/>
              </a:rPr>
              <a:t>ls -la</a:t>
            </a:r>
            <a:r>
              <a:t> showing </a:t>
            </a:r>
            <a:r>
              <a:rPr sz="1100">
                <a:latin typeface="Courier New"/>
              </a:rPr>
              <a:t>.venv/</a:t>
            </a:r>
            <a:r>
              <a:t> and </a:t>
            </a:r>
            <a:r>
              <a:rPr sz="1100">
                <a:latin typeface="Courier New"/>
              </a:rPr>
              <a:t>.gitignore</a:t>
            </a:r>
          </a:p>
          <a:p>
            <a:r>
              <a:t>• [ ] Screenshot 4: </a:t>
            </a:r>
            <a:r>
              <a:rPr sz="1100">
                <a:latin typeface="Courier New"/>
              </a:rPr>
              <a:t>ll</a:t>
            </a:r>
            <a:r>
              <a:t>, </a:t>
            </a:r>
            <a:r>
              <a:rPr sz="1100">
                <a:latin typeface="Courier New"/>
              </a:rPr>
              <a:t>gs</a:t>
            </a:r>
            <a:r>
              <a:t>, and </a:t>
            </a:r>
            <a:r>
              <a:rPr sz="1100">
                <a:latin typeface="Courier New"/>
              </a:rPr>
              <a:t>mkcd</a:t>
            </a:r>
            <a:r>
              <a:t> working after </a:t>
            </a:r>
            <a:r>
              <a:rPr sz="1100">
                <a:latin typeface="Courier New"/>
              </a:rPr>
              <a:t>source ~/.zshrc</a:t>
            </a:r>
          </a:p>
          <a:p>
            <a:r>
              <a:t>• [ ] </a:t>
            </a:r>
            <a:r>
              <a:rPr sz="1100">
                <a:latin typeface="Courier New"/>
              </a:rPr>
              <a:t>module02_zsh/requirements.txt</a:t>
            </a:r>
            <a:r>
              <a:t> uploaded</a:t>
            </a:r>
          </a:p>
          <a:p>
            <a:r>
              <a:t>• [ ] </a:t>
            </a:r>
            <a:r>
              <a:rPr sz="1100">
                <a:latin typeface="Courier New"/>
              </a:rPr>
              <a:t>module02_zsh/.gitignore</a:t>
            </a:r>
            <a:r>
              <a:t> uploaded</a:t>
            </a:r>
          </a:p>
          <a:p>
            <a:r>
              <a:t>• [ ] </a:t>
            </a:r>
            <a:r>
              <a:rPr sz="1100">
                <a:latin typeface="Courier New"/>
              </a:rPr>
              <a:t>README.md</a:t>
            </a:r>
            <a:r>
              <a:t> with Week 3 section added, uploaded</a:t>
            </a:r>
          </a:p>
          <a:p>
            <a:r>
              <a:t>• [ ] Submitted to Canvas</a:t>
            </a:r>
          </a:p>
          <a:p>
            <a:r>
              <a:t> </a:t>
            </a:r>
          </a:p>
          <a:p>
            <a:r>
              <a:rPr b="1"/>
              <a:t>SLIDE NOTES</a:t>
            </a:r>
          </a:p>
          <a:p>
            <a:r>
              <a:t> </a:t>
            </a:r>
          </a:p>
          <a:p>
            <a:r>
              <a:t>Walk this checklist live before anyone uploads to Canvas — don't just read it, have students actually locate each item on their own screen.</a:t>
            </a:r>
          </a:p>
          <a:p>
            <a:r>
              <a:t> </a:t>
            </a:r>
          </a:p>
          <a:p>
            <a:r>
              <a:t>Required screenshots: Screenshot 1 — the (.venv) prompt prefix and which python3 output. Screenshot 3 — ls -la showing .venv/ and .gitignore side-by-side. Screenshot 4 — ll, gs, and mkcd all working immediately after source ~/.zshrc.</a:t>
            </a:r>
          </a:p>
          <a:p>
            <a:r>
              <a:t> </a:t>
            </a:r>
          </a:p>
          <a:p>
            <a:r>
              <a:t>Required files: module02_zsh/requirements.txt uploaded; module02_zsh/.gitignore uploaded; README.md containing the Week 1, Week 2, and new Week 3 sections uploaded. Confirm the whole set is submitted to Canvas before ending the session.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14.xml"/></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a:off x="0" y="38100"/>
            <a:ext cx="16256000" cy="9067800"/>
          </a:xfrm>
          <a:prstGeom prst="rect">
            <a:avLst/>
          </a:prstGeom>
        </p:spPr>
      </p:pic>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a:off x="0" y="38100"/>
            <a:ext cx="16256000" cy="9067800"/>
          </a:xfrm>
          <a:prstGeom prst="rect">
            <a:avLst/>
          </a:prstGeom>
        </p:spPr>
      </p:pic>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a:off x="0" y="38100"/>
            <a:ext cx="16256000" cy="9067800"/>
          </a:xfrm>
          <a:prstGeom prst="rect">
            <a:avLst/>
          </a:prstGeom>
        </p:spPr>
      </p:pic>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a:off x="0" y="38100"/>
            <a:ext cx="16256000" cy="9067800"/>
          </a:xfrm>
          <a:prstGeom prst="rect">
            <a:avLst/>
          </a:prstGeom>
        </p:spPr>
      </p:pic>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a:off x="0" y="38100"/>
            <a:ext cx="16256000" cy="9067800"/>
          </a:xfrm>
          <a:prstGeom prst="rect">
            <a:avLst/>
          </a:prstGeom>
        </p:spPr>
      </p:pic>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a:off x="0" y="38100"/>
            <a:ext cx="16256000" cy="9067800"/>
          </a:xfrm>
          <a:prstGeom prst="rect">
            <a:avLst/>
          </a:prstGeom>
        </p:spPr>
      </p:pic>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a:off x="0" y="38100"/>
            <a:ext cx="16256000" cy="9067800"/>
          </a:xfrm>
          <a:prstGeom prst="rect">
            <a:avLst/>
          </a:prstGeom>
        </p:spPr>
      </p:pic>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a:off x="0" y="38100"/>
            <a:ext cx="16256000" cy="9067800"/>
          </a:xfrm>
          <a:prstGeom prst="rect">
            <a:avLst/>
          </a:prstGeom>
        </p:spPr>
      </p:pic>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a:off x="0" y="38100"/>
            <a:ext cx="16256000" cy="9067800"/>
          </a:xfrm>
          <a:prstGeom prst="rect">
            <a:avLst/>
          </a:prstGeom>
        </p:spPr>
      </p:pic>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a:off x="0" y="38100"/>
            <a:ext cx="16256000" cy="9067800"/>
          </a:xfrm>
          <a:prstGeom prst="rect">
            <a:avLst/>
          </a:prstGeom>
        </p:spPr>
      </p:pic>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a:off x="0" y="38100"/>
            <a:ext cx="16256000" cy="9067800"/>
          </a:xfrm>
          <a:prstGeom prst="rect">
            <a:avLst/>
          </a:prstGeom>
        </p:spPr>
      </p:pic>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a:off x="0" y="38100"/>
            <a:ext cx="16256000" cy="9067800"/>
          </a:xfrm>
          <a:prstGeom prst="rect">
            <a:avLst/>
          </a:prstGeom>
        </p:spPr>
      </p:pic>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a:off x="0" y="38100"/>
            <a:ext cx="16256000" cy="90678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terms:modified xsi:type="dcterms:W3CDTF">2011-08-01T06:04:30Z</dcterms:modified>
  <cp:revision>1</cp:revision>
</cp:coreProperties>
</file>