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9" r:id="rId19"/>
    <p:sldId id="270" r:id="rId2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/>
              <a:t>SLIDE 1 — INTRO</a:t>
            </a:r>
          </a:p>
          <a:p>
            <a:r>
              <a:t> </a:t>
            </a:r>
          </a:p>
          <a:p>
            <a:r>
              <a:rPr b="1"/>
              <a:t>SAY:</a:t>
            </a:r>
            <a:r>
              <a:t> </a:t>
            </a:r>
            <a:r>
              <a:t>"Lab 3 — the Product Pricer. This is the first lab where you build something that looks like a real tiny tool, not just a print statement. Four variable types, f-string formatting, user input, and a small business calculation — margin — all in one file called </a:t>
            </a:r>
            <a:r>
              <a:rPr sz="1100">
                <a:latin typeface="Courier New"/>
              </a:rPr>
              <a:t>pricer.py</a:t>
            </a:r>
            <a:r>
              <a:t>."</a:t>
            </a:r>
          </a:p>
          <a:p>
            <a:r>
              <a:t> </a:t>
            </a:r>
          </a:p>
          <a:p>
            <a:r>
              <a:rPr b="1"/>
              <a:t>SLIDE NOTES</a:t>
            </a:r>
          </a:p>
          <a:p>
            <a:r>
              <a:t> </a:t>
            </a:r>
          </a:p>
          <a:p>
            <a:r>
              <a:t>This is the title/cold-open slide.</a:t>
            </a:r>
          </a:p>
          <a:p>
            <a:r>
              <a:t> </a:t>
            </a:r>
          </a:p>
          <a:p>
            <a:r>
              <a:t>The on-screen code preview (product_name, price, discount, and a final-price f-string with a :.2f spec) is illustrative branding for the deck, not the actual Exercise 1 starter code — the real file uses product/unit_price/quantity/in_stock. Don't let students copy this preview verbatim; it's just here to signal "we're building a pricer."</a:t>
            </a:r>
          </a:p>
          <a:p>
            <a:r>
              <a:t> </a:t>
            </a:r>
          </a:p>
          <a:p>
            <a:r>
              <a:t>Transition: everything from here builds inside one file, pricer.py, with # comments separating each exercise — say that up front so students create the file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/>
              <a:t>SLIDE 2</a:t>
            </a:r>
          </a:p>
          <a:p>
            <a:r>
              <a:t> </a:t>
            </a:r>
          </a:p>
          <a:p>
            <a:r>
              <a:t>Frame the arc for the whole lab before touching any exercise.</a:t>
            </a:r>
          </a:p>
          <a:p>
            <a:r>
              <a:t> </a:t>
            </a:r>
          </a:p>
          <a:p>
            <a:r>
              <a:rPr b="1"/>
              <a:t>SAY:</a:t>
            </a:r>
            <a:r>
              <a:t> students move from static, hardcoded data (Exercise 1) to f-string formatting (Exercise 2) to a live, user-driven calculator (Exercise 3) to a full five-line business report computing margin (Exercise 4) — all inside the single file pricer.py. That's the throughline: raw values -&gt; formatted text -&gt; dynamic input -&gt; a real business metric.</a:t>
            </a:r>
          </a:p>
          <a:p>
            <a:r>
              <a:t> </a:t>
            </a:r>
          </a:p>
          <a:p>
            <a:r>
              <a:t>The terminal mock on this slide (Enter product name / cost / price / quantity, then Product/Revenue/Cost/Margin) is a composite preview of where the file ends up, using Pen at $1.25, cost $0.60, quantity 20, for a 52.0% margin — that specific Pen example doesn't appear in the current 5-exercise script (it was originally the take-home Stretch A comparison), so don't promise students the script will literally print a "Cost:" line; the real Exercise 4 output prints Product/Price/Qty/Revenue/Margin for the Notebook example. Use this slide only to sell the destination — a live pricing calculator — not as an exact preview of Exercise 4's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/>
              <a:t>SLIDE 3</a:t>
            </a:r>
          </a:p>
          <a:p>
            <a:r>
              <a:t> </a:t>
            </a:r>
          </a:p>
          <a:p>
            <a:r>
              <a:t>The lab's operating loop for every exercise, all the way through the lab: SAY it, DO it, CHECK the exact output, FIX it if it doesn't match — then move on.</a:t>
            </a:r>
          </a:p>
          <a:p>
            <a:r>
              <a:t> </a:t>
            </a:r>
          </a:p>
          <a:p>
            <a:r>
              <a:t>This is the "How to Use This Script" section made visual.</a:t>
            </a:r>
          </a:p>
          <a:p>
            <a:r>
              <a:rPr b="1"/>
              <a:t>Say it explicitly before Exercise 1 starts:</a:t>
            </a:r>
            <a:r>
              <a:t> "Everything gets built inside one file, pricer.py, with comments separating each exercise — that's the exact submission format required."</a:t>
            </a:r>
          </a:p>
          <a:p>
            <a:r>
              <a:t> </a:t>
            </a:r>
          </a:p>
          <a:p>
            <a:r>
              <a:t>Emphasize CHECK is not optional — students should be comparing their terminal output character-for-character against the expected block before moving to the next exercise, and FIX means diagnosing the actual error message rather than guessing.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/>
              <a:t>SLIDE 4 — EXERCISE 1 — Variables and Types</a:t>
            </a:r>
          </a:p>
          <a:p>
            <a:r>
              <a:t> </a:t>
            </a:r>
          </a:p>
          <a:p>
            <a:r>
              <a:rPr b="1"/>
              <a:t>SAY:</a:t>
            </a:r>
            <a:r>
              <a:t> </a:t>
            </a:r>
            <a:r>
              <a:t>"Four variables, four different data types — and we confirm each type explicitly with </a:t>
            </a:r>
            <a:r>
              <a:rPr sz="1100">
                <a:latin typeface="Courier New"/>
              </a:rPr>
              <a:t>type()</a:t>
            </a:r>
            <a:r>
              <a:t>, rather than assuming."</a:t>
            </a:r>
          </a:p>
          <a:p>
            <a:r>
              <a:t> </a:t>
            </a:r>
          </a:p>
          <a:p>
            <a:r>
              <a:rPr b="1"/>
              <a:t>DO:</a:t>
            </a:r>
            <a:r>
              <a:t> </a:t>
            </a:r>
            <a:r>
              <a:t>In </a:t>
            </a:r>
            <a:r>
              <a:rPr sz="1100">
                <a:latin typeface="Courier New"/>
              </a:rPr>
              <a:t>pricer.py</a:t>
            </a:r>
            <a:r>
              <a:t>:</a:t>
            </a:r>
          </a:p>
          <a:p>
            <a:r>
              <a:rPr sz="1100">
                <a:latin typeface="Courier New"/>
              </a:rPr>
              <a:t># Exercise 1: variables and types</a:t>
            </a:r>
          </a:p>
          <a:p>
            <a:r>
              <a:rPr sz="1100">
                <a:latin typeface="Courier New"/>
              </a:rPr>
              <a:t>product    = "Notebook"</a:t>
            </a:r>
          </a:p>
          <a:p>
            <a:r>
              <a:rPr sz="1100">
                <a:latin typeface="Courier New"/>
              </a:rPr>
              <a:t>unit_price = 4.99</a:t>
            </a:r>
          </a:p>
          <a:p>
            <a:r>
              <a:rPr sz="1100">
                <a:latin typeface="Courier New"/>
              </a:rPr>
              <a:t>quantity   = 12</a:t>
            </a:r>
          </a:p>
          <a:p>
            <a:r>
              <a:rPr sz="1100">
                <a:latin typeface="Courier New"/>
              </a:rPr>
              <a:t>in_stock   = True</a:t>
            </a:r>
          </a:p>
          <a:p>
            <a:r>
              <a:rPr sz="1100">
                <a:latin typeface="Courier New"/>
              </a:rPr>
              <a:t> </a:t>
            </a:r>
          </a:p>
          <a:p>
            <a:r>
              <a:rPr sz="1100">
                <a:latin typeface="Courier New"/>
              </a:rPr>
              <a:t>print(type(product))</a:t>
            </a:r>
          </a:p>
          <a:p>
            <a:r>
              <a:rPr sz="1100">
                <a:latin typeface="Courier New"/>
              </a:rPr>
              <a:t>print(type(unit_price))</a:t>
            </a:r>
          </a:p>
          <a:p>
            <a:r>
              <a:rPr sz="1100">
                <a:latin typeface="Courier New"/>
              </a:rPr>
              <a:t>print(type(quantity))</a:t>
            </a:r>
          </a:p>
          <a:p>
            <a:r>
              <a:rPr sz="1100">
                <a:latin typeface="Courier New"/>
              </a:rPr>
              <a:t>print(type(in_stock))</a:t>
            </a:r>
          </a:p>
          <a:p>
            <a:r>
              <a:t> </a:t>
            </a:r>
          </a:p>
          <a:p>
            <a:r>
              <a:rPr sz="1100">
                <a:latin typeface="Courier New"/>
              </a:rPr>
              <a:t>python3 pricer.py</a:t>
            </a:r>
          </a:p>
          <a:p>
            <a:r>
              <a:t> </a:t>
            </a:r>
          </a:p>
          <a:p>
            <a:r>
              <a:rPr b="1"/>
              <a:t>CHECK:</a:t>
            </a:r>
          </a:p>
          <a:p>
            <a:r>
              <a:rPr sz="1100">
                <a:latin typeface="Courier New"/>
              </a:rPr>
              <a:t>&lt;class 'str'&gt;</a:t>
            </a:r>
          </a:p>
          <a:p>
            <a:r>
              <a:rPr sz="1100">
                <a:latin typeface="Courier New"/>
              </a:rPr>
              <a:t>&lt;class 'float'&gt;</a:t>
            </a:r>
          </a:p>
          <a:p>
            <a:r>
              <a:rPr sz="1100">
                <a:latin typeface="Courier New"/>
              </a:rPr>
              <a:t>&lt;class 'int'&gt;</a:t>
            </a:r>
          </a:p>
          <a:p>
            <a:r>
              <a:rPr sz="1100">
                <a:latin typeface="Courier New"/>
              </a:rPr>
              <a:t>&lt;class 'bool'&gt;</a:t>
            </a:r>
          </a:p>
          <a:p>
            <a:r>
              <a:t>Four distinct types, matching exactly what you'd expect from how each value is written: quotes mean string, a decimal point means float, a whole number means int, </a:t>
            </a:r>
            <a:r>
              <a:rPr sz="1100">
                <a:latin typeface="Courier New"/>
              </a:rPr>
              <a:t>True</a:t>
            </a:r>
            <a:r>
              <a:t>/</a:t>
            </a:r>
            <a:r>
              <a:rPr sz="1100">
                <a:latin typeface="Courier New"/>
              </a:rPr>
              <a:t>False</a:t>
            </a:r>
            <a:r>
              <a:t> means bool.</a:t>
            </a:r>
          </a:p>
          <a:p>
            <a:r>
              <a:t> </a:t>
            </a:r>
          </a:p>
          <a:p>
            <a:r>
              <a:rPr b="1"/>
              <a:t>SLIDE NOTES</a:t>
            </a:r>
          </a:p>
          <a:p>
            <a:r>
              <a:t> </a:t>
            </a:r>
          </a:p>
          <a:p>
            <a:r>
              <a:t>Note the slide's product/price example ("Pen", 1.25) is just decorative branding for the four data-type cards — the real Exercise 1 values are Notebook/4.99/12/True. Keep the class names on the live terminal, not this slide, as the CHECK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/>
              <a:t>SLIDE 5 — EXERCISE 2 — f-string Practice</a:t>
            </a:r>
          </a:p>
          <a:p>
            <a:r>
              <a:t> </a:t>
            </a:r>
          </a:p>
          <a:p>
            <a:r>
              <a:rPr b="1"/>
              <a:t>SAY:</a:t>
            </a:r>
            <a:r>
              <a:t> </a:t>
            </a:r>
            <a:r>
              <a:t>"Now format those four variables into one readable sentence, computing the total right inside the f-string."</a:t>
            </a:r>
          </a:p>
          <a:p>
            <a:r>
              <a:t> </a:t>
            </a:r>
          </a:p>
          <a:p>
            <a:r>
              <a:rPr b="1"/>
              <a:t>DO:</a:t>
            </a:r>
          </a:p>
          <a:p>
            <a:r>
              <a:rPr sz="1100">
                <a:latin typeface="Courier New"/>
              </a:rPr>
              <a:t># Exercise 2: f-string practice</a:t>
            </a:r>
          </a:p>
          <a:p>
            <a:r>
              <a:rPr sz="1100">
                <a:latin typeface="Courier New"/>
              </a:rPr>
              <a:t>print(f"{quantity} units of {product} at ${unit_price} each = ${unit_price * quantity:.2f}")</a:t>
            </a:r>
          </a:p>
          <a:p>
            <a:r>
              <a:t> </a:t>
            </a:r>
          </a:p>
          <a:p>
            <a:r>
              <a:rPr sz="1100">
                <a:latin typeface="Courier New"/>
              </a:rPr>
              <a:t>python3 pricer.py</a:t>
            </a:r>
          </a:p>
          <a:p>
            <a:r>
              <a:t> </a:t>
            </a:r>
          </a:p>
          <a:p>
            <a:r>
              <a:rPr b="1"/>
              <a:t>CHECK:</a:t>
            </a:r>
          </a:p>
          <a:p>
            <a:r>
              <a:rPr sz="1100">
                <a:latin typeface="Courier New"/>
              </a:rPr>
              <a:t>12 units of Notebook at $4.99 each = $59.88</a:t>
            </a:r>
          </a:p>
          <a:p>
            <a:r>
              <a:t> </a:t>
            </a:r>
          </a:p>
          <a:p>
            <a:r>
              <a:rPr b="1"/>
              <a:t>SAY:</a:t>
            </a:r>
            <a:r>
              <a:t> </a:t>
            </a:r>
            <a:r>
              <a:t>"Notice </a:t>
            </a:r>
            <a:r>
              <a:rPr sz="1100">
                <a:latin typeface="Courier New"/>
              </a:rPr>
              <a:t>{unit_price * quantity:.2f}</a:t>
            </a:r>
            <a:r>
              <a:t> — the calculation happens directly inside the curly braces, and </a:t>
            </a:r>
            <a:r>
              <a:rPr sz="1100">
                <a:latin typeface="Courier New"/>
              </a:rPr>
              <a:t>:.2f</a:t>
            </a:r>
            <a:r>
              <a:t> forces exactly two decimal places on the result, so </a:t>
            </a:r>
            <a:r>
              <a:rPr sz="1100">
                <a:latin typeface="Courier New"/>
              </a:rPr>
              <a:t>59.88</a:t>
            </a:r>
            <a:r>
              <a:t> prints cleanly instead of risking something like </a:t>
            </a:r>
            <a:r>
              <a:rPr sz="1100">
                <a:latin typeface="Courier New"/>
              </a:rPr>
              <a:t>59.879999999999995</a:t>
            </a:r>
            <a:r>
              <a:t> from floating-point math."</a:t>
            </a:r>
          </a:p>
          <a:p>
            <a:r>
              <a:t> </a:t>
            </a:r>
          </a:p>
          <a:p>
            <a:r>
              <a:rPr b="1"/>
              <a:t>SLIDE NOTES</a:t>
            </a:r>
          </a:p>
          <a:p>
            <a:r>
              <a:t> </a:t>
            </a:r>
          </a:p>
          <a:p>
            <a:r>
              <a:t>This slide's anatomy callouts map directly onto that line: the f-prefix / opening brace is "the engine" that activates interpolation, unit_price * quantity inside the braces is "the calculation zone" — math happens live, right inside the string — and the :.2f suffix is "the formatter," forcing exactly two decimal places so the result prints as 59.88 instead of risking a floating-point artifact like 59.879999999999995. Say that distinction explicitly; it's the core takeaway of this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/>
              <a:t>SLIDE 6 — EXERCISE 3 — Input Version</a:t>
            </a:r>
          </a:p>
          <a:p>
            <a:r>
              <a:t> </a:t>
            </a:r>
          </a:p>
          <a:p>
            <a:r>
              <a:rPr b="1"/>
              <a:t>SAY:</a:t>
            </a:r>
            <a:r>
              <a:t> </a:t>
            </a:r>
            <a:r>
              <a:t>"Same summary line, but now the three values come from the user at runtime instead of being hardcoded."</a:t>
            </a:r>
          </a:p>
          <a:p>
            <a:r>
              <a:t> </a:t>
            </a:r>
          </a:p>
          <a:p>
            <a:r>
              <a:rPr b="1"/>
              <a:t>DO:</a:t>
            </a:r>
          </a:p>
          <a:p>
            <a:r>
              <a:rPr sz="1100">
                <a:latin typeface="Courier New"/>
              </a:rPr>
              <a:t># Exercise 3: input version</a:t>
            </a:r>
          </a:p>
          <a:p>
            <a:r>
              <a:rPr sz="1100">
                <a:latin typeface="Courier New"/>
              </a:rPr>
              <a:t>product_in  = input("Product name: ")</a:t>
            </a:r>
          </a:p>
          <a:p>
            <a:r>
              <a:rPr sz="1100">
                <a:latin typeface="Courier New"/>
              </a:rPr>
              <a:t>price_in    = float(input("Unit price: "))</a:t>
            </a:r>
          </a:p>
          <a:p>
            <a:r>
              <a:rPr sz="1100">
                <a:latin typeface="Courier New"/>
              </a:rPr>
              <a:t>quantity_in = int(input("Quantity: "))</a:t>
            </a:r>
          </a:p>
          <a:p>
            <a:r>
              <a:rPr sz="1100">
                <a:latin typeface="Courier New"/>
              </a:rPr>
              <a:t> </a:t>
            </a:r>
          </a:p>
          <a:p>
            <a:r>
              <a:rPr sz="1100">
                <a:latin typeface="Courier New"/>
              </a:rPr>
              <a:t>print(f"{quantity_in} units of {product_in} at ${price_in} each = ${price_in * quantity_in:.2f}")</a:t>
            </a:r>
          </a:p>
          <a:p>
            <a:r>
              <a:t> </a:t>
            </a:r>
          </a:p>
          <a:p>
            <a:r>
              <a:rPr sz="1100">
                <a:latin typeface="Courier New"/>
              </a:rPr>
              <a:t>python3 pricer.py</a:t>
            </a:r>
          </a:p>
          <a:p>
            <a:r>
              <a:t>Type </a:t>
            </a:r>
            <a:r>
              <a:rPr sz="1100">
                <a:latin typeface="Courier New"/>
              </a:rPr>
              <a:t>Pen</a:t>
            </a:r>
            <a:r>
              <a:t>, </a:t>
            </a:r>
            <a:r>
              <a:rPr sz="1100">
                <a:latin typeface="Courier New"/>
              </a:rPr>
              <a:t>1.25</a:t>
            </a:r>
            <a:r>
              <a:t>, and </a:t>
            </a:r>
            <a:r>
              <a:rPr sz="1100">
                <a:latin typeface="Courier New"/>
              </a:rPr>
              <a:t>20</a:t>
            </a:r>
            <a:r>
              <a:t> at the three prompts.</a:t>
            </a:r>
          </a:p>
          <a:p>
            <a:r>
              <a:t> </a:t>
            </a:r>
          </a:p>
          <a:p>
            <a:r>
              <a:rPr b="1"/>
              <a:t>CHECK:</a:t>
            </a:r>
          </a:p>
          <a:p>
            <a:r>
              <a:rPr sz="1100">
                <a:latin typeface="Courier New"/>
              </a:rPr>
              <a:t>Product name: Pen</a:t>
            </a:r>
          </a:p>
          <a:p>
            <a:r>
              <a:rPr sz="1100">
                <a:latin typeface="Courier New"/>
              </a:rPr>
              <a:t>Unit price: 1.25</a:t>
            </a:r>
          </a:p>
          <a:p>
            <a:r>
              <a:rPr sz="1100">
                <a:latin typeface="Courier New"/>
              </a:rPr>
              <a:t>Quantity: 20</a:t>
            </a:r>
          </a:p>
          <a:p>
            <a:r>
              <a:rPr sz="1100">
                <a:latin typeface="Courier New"/>
              </a:rPr>
              <a:t>20 units of Pen at $1.25 each = $25.00</a:t>
            </a:r>
          </a:p>
          <a:p>
            <a:r>
              <a:t> </a:t>
            </a:r>
          </a:p>
          <a:p>
            <a:r>
              <a:rPr b="1"/>
              <a:t>FIX:</a:t>
            </a:r>
            <a:r>
              <a:t> </a:t>
            </a:r>
            <a:r>
              <a:t>If you get </a:t>
            </a:r>
            <a:r>
              <a:rPr sz="1100">
                <a:latin typeface="Courier New"/>
              </a:rPr>
              <a:t>ValueError: could not convert string to float</a:t>
            </a:r>
            <a:r>
              <a:t>, you likely typed non-numeric text at the price prompt — </a:t>
            </a:r>
            <a:r>
              <a:rPr sz="1100">
                <a:latin typeface="Courier New"/>
              </a:rPr>
              <a:t>input()</a:t>
            </a:r>
            <a:r>
              <a:t> always returns a string, and </a:t>
            </a:r>
            <a:r>
              <a:rPr sz="1100">
                <a:latin typeface="Courier New"/>
              </a:rPr>
              <a:t>float(...)</a:t>
            </a:r>
            <a:r>
              <a:t> needs that string to actually look like a number.</a:t>
            </a:r>
          </a:p>
          <a:p>
            <a:r>
              <a:t> </a:t>
            </a:r>
          </a:p>
          <a:p>
            <a:r>
              <a:rPr b="1"/>
              <a:t>SLIDE NOTES</a:t>
            </a:r>
          </a:p>
          <a:p>
            <a:r>
              <a:t> </a:t>
            </a:r>
          </a:p>
          <a:p>
            <a:r>
              <a:t>This is the slide's "Golden Rule of Input": input() ALWAYS returns a string — visualized here as the raw string "1.25" dropping into a float() funnel and coming out as the number 1.25. Say that rule out loud before running the code, so the float(...) and int(...) wrappers around input() don't look arbitrary.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/>
              <a:t>SLIDE 7 — EXERCISE 3 — Input Version</a:t>
            </a:r>
          </a:p>
          <a:p>
            <a:r>
              <a:t> </a:t>
            </a:r>
          </a:p>
          <a:p>
            <a:r>
              <a:rPr b="1"/>
              <a:t>FIX:</a:t>
            </a:r>
            <a:r>
              <a:t> </a:t>
            </a:r>
            <a:r>
              <a:t>If you get </a:t>
            </a:r>
            <a:r>
              <a:rPr sz="1100">
                <a:latin typeface="Courier New"/>
              </a:rPr>
              <a:t>ValueError: could not convert string to float</a:t>
            </a:r>
            <a:r>
              <a:t>, you likely typed non-numeric text at the price prompt — </a:t>
            </a:r>
            <a:r>
              <a:rPr sz="1100">
                <a:latin typeface="Courier New"/>
              </a:rPr>
              <a:t>input()</a:t>
            </a:r>
            <a:r>
              <a:t> always returns a string, and </a:t>
            </a:r>
            <a:r>
              <a:rPr sz="1100">
                <a:latin typeface="Courier New"/>
              </a:rPr>
              <a:t>float(...)</a:t>
            </a:r>
            <a:r>
              <a:t> needs that string to actually look like a number.</a:t>
            </a:r>
          </a:p>
          <a:p>
            <a:r>
              <a:t> </a:t>
            </a:r>
          </a:p>
          <a:p>
            <a:r>
              <a:rPr b="1"/>
              <a:t>SLIDE NOTES</a:t>
            </a:r>
          </a:p>
          <a:p>
            <a:r>
              <a:t> </a:t>
            </a:r>
          </a:p>
          <a:p>
            <a:r>
              <a:t>This is the FIX for Exercise 3, shown as its own slide because it's the first real error students will hit in the lab.</a:t>
            </a:r>
          </a:p>
          <a:p>
            <a:r>
              <a:t> </a:t>
            </a:r>
          </a:p>
          <a:p>
            <a:r>
              <a:t>The slide's example error is ValueError: could not convert string to float: 'ten' — walk through why: the student typed the word "ten" instead of the digit 10 at the "Unit price:" prompt, so float() received a string it cannot parse as a number and the float() conversion ("funnel" from the previous slide) jams. Have students deliberately reproduce this error once so the message is familiar, then re-run with a numeric value to confirm the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/>
              <a:t>SLIDE 8 — EXERCISE 4 — Multi-Variable Product Card</a:t>
            </a:r>
          </a:p>
          <a:p>
            <a:r>
              <a:t> </a:t>
            </a:r>
          </a:p>
          <a:p>
            <a:r>
              <a:rPr b="1"/>
              <a:t>SAY:</a:t>
            </a:r>
            <a:r>
              <a:t> </a:t>
            </a:r>
            <a:r>
              <a:t>"Now a five-line formatted report, including a business calculation you haven't done yet this semester: margin — the percentage of revenue that's profit."</a:t>
            </a:r>
          </a:p>
          <a:p>
            <a:r>
              <a:t> </a:t>
            </a:r>
          </a:p>
          <a:p>
            <a:r>
              <a:rPr b="1"/>
              <a:t>DO:</a:t>
            </a:r>
          </a:p>
          <a:p>
            <a:r>
              <a:rPr sz="1100">
                <a:latin typeface="Courier New"/>
              </a:rPr>
              <a:t># Exercise 4: multi-variable product card</a:t>
            </a:r>
          </a:p>
          <a:p>
            <a:r>
              <a:rPr sz="1100">
                <a:latin typeface="Courier New"/>
              </a:rPr>
              <a:t>unit_cost = 3.29</a:t>
            </a:r>
          </a:p>
          <a:p>
            <a:r>
              <a:rPr sz="1100">
                <a:latin typeface="Courier New"/>
              </a:rPr>
              <a:t> </a:t>
            </a:r>
          </a:p>
          <a:p>
            <a:r>
              <a:rPr sz="1100">
                <a:latin typeface="Courier New"/>
              </a:rPr>
              <a:t>revenue = unit_price * quantity</a:t>
            </a:r>
          </a:p>
          <a:p>
            <a:r>
              <a:rPr sz="1100">
                <a:latin typeface="Courier New"/>
              </a:rPr>
              <a:t>margin  = (unit_price - unit_cost) / unit_price * 100</a:t>
            </a:r>
          </a:p>
          <a:p>
            <a:r>
              <a:rPr sz="1100">
                <a:latin typeface="Courier New"/>
              </a:rPr>
              <a:t> </a:t>
            </a:r>
          </a:p>
          <a:p>
            <a:r>
              <a:rPr sz="1100">
                <a:latin typeface="Courier New"/>
              </a:rPr>
              <a:t>print(f"Product:  {product}")</a:t>
            </a:r>
          </a:p>
          <a:p>
            <a:r>
              <a:rPr sz="1100">
                <a:latin typeface="Courier New"/>
              </a:rPr>
              <a:t>print(f"Price:    ${unit_price:.2f}")</a:t>
            </a:r>
          </a:p>
          <a:p>
            <a:r>
              <a:rPr sz="1100">
                <a:latin typeface="Courier New"/>
              </a:rPr>
              <a:t>print(f"Qty:      {quantity}")</a:t>
            </a:r>
          </a:p>
          <a:p>
            <a:r>
              <a:rPr sz="1100">
                <a:latin typeface="Courier New"/>
              </a:rPr>
              <a:t>print(f"Revenue:  ${revenue:.2f}")</a:t>
            </a:r>
          </a:p>
          <a:p>
            <a:r>
              <a:rPr sz="1100">
                <a:latin typeface="Courier New"/>
              </a:rPr>
              <a:t>print(f"Margin:   {margin:.1f}%")</a:t>
            </a:r>
          </a:p>
          <a:p>
            <a:r>
              <a:t> </a:t>
            </a:r>
          </a:p>
          <a:p>
            <a:r>
              <a:rPr sz="1100">
                <a:latin typeface="Courier New"/>
              </a:rPr>
              <a:t>python3 pricer.py</a:t>
            </a:r>
          </a:p>
          <a:p>
            <a:r>
              <a:t> </a:t>
            </a:r>
          </a:p>
          <a:p>
            <a:r>
              <a:rPr b="1"/>
              <a:t>CHECK:</a:t>
            </a:r>
          </a:p>
          <a:p>
            <a:r>
              <a:rPr sz="1100">
                <a:latin typeface="Courier New"/>
              </a:rPr>
              <a:t>Product:  Notebook</a:t>
            </a:r>
          </a:p>
          <a:p>
            <a:r>
              <a:rPr sz="1100">
                <a:latin typeface="Courier New"/>
              </a:rPr>
              <a:t>Price:    $4.99</a:t>
            </a:r>
          </a:p>
          <a:p>
            <a:r>
              <a:rPr sz="1100">
                <a:latin typeface="Courier New"/>
              </a:rPr>
              <a:t>Qty:      12</a:t>
            </a:r>
          </a:p>
          <a:p>
            <a:r>
              <a:rPr sz="1100">
                <a:latin typeface="Courier New"/>
              </a:rPr>
              <a:t>Revenue:  $59.88</a:t>
            </a:r>
          </a:p>
          <a:p>
            <a:r>
              <a:rPr sz="1100">
                <a:latin typeface="Courier New"/>
              </a:rPr>
              <a:t>Margin:   34.1%</a:t>
            </a:r>
          </a:p>
          <a:p>
            <a:r>
              <a:t> </a:t>
            </a:r>
          </a:p>
          <a:p>
            <a:r>
              <a:rPr b="1"/>
              <a:t>SAY:</a:t>
            </a:r>
            <a:r>
              <a:t> </a:t>
            </a:r>
            <a:r>
              <a:t>"Trace the margin formula out loud before trusting the output: </a:t>
            </a:r>
            <a:r>
              <a:rPr sz="1100">
                <a:latin typeface="Courier New"/>
              </a:rPr>
              <a:t>(4.99 - 3.29) / 4.99 * 100</a:t>
            </a:r>
            <a:r>
              <a:t> — that's </a:t>
            </a:r>
            <a:r>
              <a:rPr sz="1100">
                <a:latin typeface="Courier New"/>
              </a:rPr>
              <a:t>1.70 / 4.99</a:t>
            </a:r>
            <a:r>
              <a:t>, roughly </a:t>
            </a:r>
            <a:r>
              <a:rPr sz="1100">
                <a:latin typeface="Courier New"/>
              </a:rPr>
              <a:t>0.3407</a:t>
            </a:r>
            <a:r>
              <a:t>, times 100 is </a:t>
            </a:r>
            <a:r>
              <a:rPr sz="1100">
                <a:latin typeface="Courier New"/>
              </a:rPr>
              <a:t>34.07</a:t>
            </a:r>
            <a:r>
              <a:t>, and </a:t>
            </a:r>
            <a:r>
              <a:rPr sz="1100">
                <a:latin typeface="Courier New"/>
              </a:rPr>
              <a:t>:.1f</a:t>
            </a:r>
            <a:r>
              <a:t> rounds that to one decimal place: </a:t>
            </a:r>
            <a:r>
              <a:rPr sz="1100">
                <a:latin typeface="Courier New"/>
              </a:rPr>
              <a:t>34.1</a:t>
            </a:r>
            <a:r>
              <a:t>."</a:t>
            </a:r>
          </a:p>
          <a:p>
            <a:r>
              <a:t> </a:t>
            </a:r>
          </a:p>
          <a:p>
            <a:r>
              <a:rPr b="1"/>
              <a:t>SLIDE NOTES</a:t>
            </a:r>
          </a:p>
          <a:p>
            <a:r>
              <a:t> </a:t>
            </a:r>
          </a:p>
          <a:p>
            <a:r>
              <a:t>This slide is the exact margin trace students should say out loud before trusting the output — it's on the receipt graphic: (4.99 - 3.29) / 4.99 * 100. That's 1.70 / 4.99, roughly 0.3407, times 100 is 34.07, and the :.1f format spec rounds that to one decimal place: 34.1. Make every student narrate this arithmetic once; it's the first real business formula of the course and the anchor for Reflection-adjacent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/>
              <a:t>SLIDE 9</a:t>
            </a:r>
          </a:p>
          <a:p>
            <a:r>
              <a:t> </a:t>
            </a:r>
          </a:p>
          <a:p>
            <a:r>
              <a:t>Exercise 5 — Type Investigation, core observation (part of 6:10–7:50).</a:t>
            </a:r>
          </a:p>
          <a:p>
            <a:r>
              <a:t> </a:t>
            </a:r>
          </a:p>
          <a:p>
            <a:r>
              <a:t>This is the payoff table for the interactive-interpreter session: same + symbol, two completely different behaviors depending on operand type.</a:t>
            </a:r>
          </a:p>
          <a:p>
            <a:r>
              <a:t> </a:t>
            </a:r>
          </a:p>
          <a:p>
            <a:r>
              <a:t>SAY, once the interpreter has printed both results: "Write down exactly what you're seeing: \"5\" + \"3\" produces '53' — that's concatenation, gluing two strings end to end, because both sides are strings. 5 + 3 produces 8 — plain addition, because both sides are integers. Same + symbol, completely different behavior, entirely determined by the types on either side."</a:t>
            </a:r>
          </a:p>
          <a:p>
            <a:r>
              <a:t> </a:t>
            </a:r>
          </a:p>
          <a:p>
            <a:r>
              <a:t>Tie this explicitly back to Exercise 3: input() always returns a str, so if you skip the float()/int() wrapper, you get silent string concatenation instead of a math error in some cases (or a crash in others) — this table is the reason those wrappers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/>
              <a:t>SLIDE 10 — EXERCISE 5 — Type Investigation</a:t>
            </a:r>
          </a:p>
          <a:p>
            <a:r>
              <a:t> </a:t>
            </a:r>
          </a:p>
          <a:p>
            <a:r>
              <a:rPr b="1"/>
              <a:t>SAY:</a:t>
            </a:r>
            <a:r>
              <a:t> </a:t>
            </a:r>
            <a:r>
              <a:t>"Now a completely different environment — the Python interactive interpreter, where you type one line at a time and see the result immediately, with no file at all."</a:t>
            </a:r>
          </a:p>
          <a:p>
            <a:r>
              <a:t> </a:t>
            </a:r>
          </a:p>
          <a:p>
            <a:r>
              <a:rPr b="1"/>
              <a:t>DO:</a:t>
            </a:r>
          </a:p>
          <a:p>
            <a:r>
              <a:rPr sz="1100">
                <a:latin typeface="Courier New"/>
              </a:rPr>
              <a:t>python3</a:t>
            </a:r>
          </a:p>
          <a:p>
            <a:r>
              <a:t> </a:t>
            </a:r>
          </a:p>
          <a:p>
            <a:r>
              <a:rPr sz="1100">
                <a:latin typeface="Courier New"/>
              </a:rPr>
              <a:t>&gt;&gt;&gt; type("12")</a:t>
            </a:r>
          </a:p>
          <a:p>
            <a:r>
              <a:rPr sz="1100">
                <a:latin typeface="Courier New"/>
              </a:rPr>
              <a:t>&gt;&gt;&gt; type(12)</a:t>
            </a:r>
          </a:p>
          <a:p>
            <a:r>
              <a:rPr sz="1100">
                <a:latin typeface="Courier New"/>
              </a:rPr>
              <a:t>&gt;&gt;&gt; type(12.0)</a:t>
            </a:r>
          </a:p>
          <a:p>
            <a:r>
              <a:rPr sz="1100">
                <a:latin typeface="Courier New"/>
              </a:rPr>
              <a:t>&gt;&gt;&gt; type(True)</a:t>
            </a:r>
          </a:p>
          <a:p>
            <a:r>
              <a:rPr sz="1100">
                <a:latin typeface="Courier New"/>
              </a:rPr>
              <a:t>&gt;&gt;&gt; "5" + "3"</a:t>
            </a:r>
          </a:p>
          <a:p>
            <a:r>
              <a:rPr sz="1100">
                <a:latin typeface="Courier New"/>
              </a:rPr>
              <a:t>&gt;&gt;&gt; 5 + 3</a:t>
            </a:r>
          </a:p>
          <a:p>
            <a:r>
              <a:rPr sz="1100">
                <a:latin typeface="Courier New"/>
              </a:rPr>
              <a:t>&gt;&gt;&gt; exit()</a:t>
            </a:r>
          </a:p>
          <a:p>
            <a:r>
              <a:t> </a:t>
            </a:r>
          </a:p>
          <a:p>
            <a:r>
              <a:rPr b="1"/>
              <a:t>CHECK:</a:t>
            </a:r>
          </a:p>
          <a:p>
            <a:r>
              <a:rPr sz="1100">
                <a:latin typeface="Courier New"/>
              </a:rPr>
              <a:t>&gt;&gt;&gt; type("12")</a:t>
            </a:r>
          </a:p>
          <a:p>
            <a:r>
              <a:rPr sz="1100">
                <a:latin typeface="Courier New"/>
              </a:rPr>
              <a:t>&lt;class 'str'&gt;</a:t>
            </a:r>
          </a:p>
          <a:p>
            <a:r>
              <a:rPr sz="1100">
                <a:latin typeface="Courier New"/>
              </a:rPr>
              <a:t>&gt;&gt;&gt; type(12)</a:t>
            </a:r>
          </a:p>
          <a:p>
            <a:r>
              <a:rPr sz="1100">
                <a:latin typeface="Courier New"/>
              </a:rPr>
              <a:t>&lt;class 'int'&gt;</a:t>
            </a:r>
          </a:p>
          <a:p>
            <a:r>
              <a:rPr sz="1100">
                <a:latin typeface="Courier New"/>
              </a:rPr>
              <a:t>&gt;&gt;&gt; type(12.0)</a:t>
            </a:r>
          </a:p>
          <a:p>
            <a:r>
              <a:rPr sz="1100">
                <a:latin typeface="Courier New"/>
              </a:rPr>
              <a:t>&lt;class 'float'&gt;</a:t>
            </a:r>
          </a:p>
          <a:p>
            <a:r>
              <a:rPr sz="1100">
                <a:latin typeface="Courier New"/>
              </a:rPr>
              <a:t>&gt;&gt;&gt; type(True)</a:t>
            </a:r>
          </a:p>
          <a:p>
            <a:r>
              <a:rPr sz="1100">
                <a:latin typeface="Courier New"/>
              </a:rPr>
              <a:t>&lt;class 'bool'&gt;</a:t>
            </a:r>
          </a:p>
          <a:p>
            <a:r>
              <a:rPr sz="1100">
                <a:latin typeface="Courier New"/>
              </a:rPr>
              <a:t>&gt;&gt;&gt; "5" + "3"</a:t>
            </a:r>
          </a:p>
          <a:p>
            <a:r>
              <a:rPr sz="1100">
                <a:latin typeface="Courier New"/>
              </a:rPr>
              <a:t>'53'</a:t>
            </a:r>
          </a:p>
          <a:p>
            <a:r>
              <a:rPr sz="1100">
                <a:latin typeface="Courier New"/>
              </a:rPr>
              <a:t>&gt;&gt;&gt; 5 + 3</a:t>
            </a:r>
          </a:p>
          <a:p>
            <a:r>
              <a:rPr sz="1100">
                <a:latin typeface="Courier New"/>
              </a:rPr>
              <a:t>8</a:t>
            </a:r>
          </a:p>
          <a:p>
            <a:r>
              <a:t> </a:t>
            </a:r>
          </a:p>
          <a:p>
            <a:r>
              <a:rPr b="1"/>
              <a:t>SAY:</a:t>
            </a:r>
            <a:r>
              <a:t> </a:t>
            </a:r>
            <a:r>
              <a:t>"Write down exactly what you're seeing: </a:t>
            </a:r>
            <a:r>
              <a:rPr sz="1100">
                <a:latin typeface="Courier New"/>
              </a:rPr>
              <a:t>\"5\" + \"3\"</a:t>
            </a:r>
            <a:r>
              <a:t> produces </a:t>
            </a:r>
            <a:r>
              <a:rPr sz="1100">
                <a:latin typeface="Courier New"/>
              </a:rPr>
              <a:t>'53'</a:t>
            </a:r>
            <a:r>
              <a:t> — that's concatenation, gluing two strings end to end, because both sides are strings. </a:t>
            </a:r>
            <a:r>
              <a:rPr sz="1100">
                <a:latin typeface="Courier New"/>
              </a:rPr>
              <a:t>5 + 3</a:t>
            </a:r>
            <a:r>
              <a:t> produces </a:t>
            </a:r>
            <a:r>
              <a:rPr sz="1100">
                <a:latin typeface="Courier New"/>
              </a:rPr>
              <a:t>8</a:t>
            </a:r>
            <a:r>
              <a:t> — plain addition, because both sides are integers. Same </a:t>
            </a:r>
            <a:r>
              <a:rPr sz="1100">
                <a:latin typeface="Courier New"/>
              </a:rPr>
              <a:t>+</a:t>
            </a:r>
            <a:r>
              <a:t> symbol, completely different behavior, entirely determined by the types on either side."</a:t>
            </a:r>
          </a:p>
          <a:p>
            <a:r>
              <a:t> </a:t>
            </a:r>
          </a:p>
          <a:p>
            <a:r>
              <a:rPr b="1"/>
              <a:t>SLIDE NOTES</a:t>
            </a:r>
          </a:p>
          <a:p>
            <a:r>
              <a:t> </a:t>
            </a:r>
          </a:p>
          <a:p>
            <a:r>
              <a:t>This slide's script-vs-interpreter contrast ("write once, run top-to-bottom entirely" vs. "live, one line at a time, instant feedback") is exactly the framing to give before students open python3 — make sure they understand they are leaving pricer.py entirely for this exercise, with no file involved, and that the type()/string-concatenation results from this REPL session feed directly into the written observations required in the CHECK on the following table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/>
              <a:t>SLIDE 11 — REFLECTION QUESTIONS</a:t>
            </a:r>
          </a:p>
          <a:p>
            <a:r>
              <a:t> </a:t>
            </a:r>
          </a:p>
          <a:p>
            <a:r>
              <a:rPr b="1"/>
              <a:t>DO:</a:t>
            </a:r>
            <a:r>
              <a:t> </a:t>
            </a:r>
            <a:r>
              <a:t>Answer honestly:</a:t>
            </a:r>
          </a:p>
          <a:p>
            <a:r>
              <a:t>1. What happened when you ran Exercise 3 and forgot to convert the price from string to float? Describe the exact error message and explain why it occurred in your own words.</a:t>
            </a:r>
          </a:p>
          <a:p>
            <a:r>
              <a:t>2. In Exercise 5, </a:t>
            </a:r>
            <a:r>
              <a:rPr sz="1100">
                <a:latin typeface="Courier New"/>
              </a:rPr>
              <a:t>"5" + "3"</a:t>
            </a:r>
            <a:r>
              <a:t> returned </a:t>
            </a:r>
            <a:r>
              <a:rPr sz="1100">
                <a:latin typeface="Courier New"/>
              </a:rPr>
              <a:t>"53"</a:t>
            </a:r>
            <a:r>
              <a:t> instead of </a:t>
            </a:r>
            <a:r>
              <a:rPr sz="1100">
                <a:latin typeface="Courier New"/>
              </a:rPr>
              <a:t>8</a:t>
            </a:r>
            <a:r>
              <a:t>. Why does Python do this, and how does it explain why </a:t>
            </a:r>
            <a:r>
              <a:rPr sz="1100">
                <a:latin typeface="Courier New"/>
              </a:rPr>
              <a:t>input()</a:t>
            </a:r>
            <a:r>
              <a:t> must always be converted before doing math?</a:t>
            </a:r>
          </a:p>
          <a:p>
            <a:r>
              <a:t>3. How would you use variables, types, and f-strings to build a real tool for a task in your future career? Describe a specific scenario in 2–3 sentences.</a:t>
            </a:r>
          </a:p>
          <a:p>
            <a:r>
              <a:t> </a:t>
            </a:r>
          </a:p>
          <a:p>
            <a:r>
              <a:rPr b="1"/>
              <a:t>CHECK:</a:t>
            </a:r>
            <a:r>
              <a:t> </a:t>
            </a:r>
            <a:r>
              <a:t>Question 2's answer should connect directly back to Exercise 5's observation: </a:t>
            </a:r>
            <a:r>
              <a:rPr sz="1100">
                <a:latin typeface="Courier New"/>
              </a:rPr>
              <a:t>input()</a:t>
            </a:r>
            <a:r>
              <a:t> always returns a </a:t>
            </a:r>
            <a:r>
              <a:rPr sz="1100">
                <a:latin typeface="Courier New"/>
              </a:rPr>
              <a:t>str</a:t>
            </a:r>
            <a:r>
              <a:t>, and </a:t>
            </a:r>
            <a:r>
              <a:rPr sz="1100">
                <a:latin typeface="Courier New"/>
              </a:rPr>
              <a:t>+</a:t>
            </a:r>
            <a:r>
              <a:t> on two strings concatenates rather than adds — exactly the behavior you just saw, which is why Exercise 3 required </a:t>
            </a:r>
            <a:r>
              <a:rPr sz="1100">
                <a:latin typeface="Courier New"/>
              </a:rPr>
              <a:t>float(...)</a:t>
            </a:r>
            <a:r>
              <a:t> and </a:t>
            </a:r>
            <a:r>
              <a:rPr sz="1100">
                <a:latin typeface="Courier New"/>
              </a:rPr>
              <a:t>int(...)</a:t>
            </a:r>
            <a:r>
              <a:t> wrappers around every </a:t>
            </a:r>
            <a:r>
              <a:rPr sz="1100">
                <a:latin typeface="Courier New"/>
              </a:rPr>
              <a:t>input()</a:t>
            </a:r>
            <a:r>
              <a:t> call.</a:t>
            </a:r>
          </a:p>
          <a:p>
            <a:r>
              <a:t> </a:t>
            </a:r>
          </a:p>
          <a:p>
            <a:r>
              <a:rPr b="1"/>
              <a:t>SLIDE NOTES</a:t>
            </a:r>
          </a:p>
          <a:p>
            <a:r>
              <a:t> </a:t>
            </a:r>
          </a:p>
          <a:p>
            <a:r>
              <a:t>This slide's three career-application examples — f-strings -&gt; automated invoice generation, input()+float() -&gt; live ROI dashboards, format specs -&gt; executive financial reports — are illustrative prompts for Question 3, not required answers; students should write their own specific 2–3 sentence scenario rather than copy one of these verbatim.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/>
              <a:t>SLIDE 12 — SUBMISSION CHECKLIST</a:t>
            </a:r>
          </a:p>
          <a:p>
            <a:r>
              <a:t> </a:t>
            </a:r>
          </a:p>
          <a:p>
            <a:r>
              <a:t>• [ ] </a:t>
            </a:r>
            <a:r>
              <a:rPr sz="1100">
                <a:latin typeface="Courier New"/>
              </a:rPr>
              <a:t>pricer.py</a:t>
            </a:r>
            <a:r>
              <a:t> — filename matches exactly, lowercase</a:t>
            </a:r>
          </a:p>
          <a:p>
            <a:r>
              <a:t>• [ ] Exercises 1–4 present as one runnable script, with </a:t>
            </a:r>
            <a:r>
              <a:rPr sz="1100">
                <a:latin typeface="Courier New"/>
              </a:rPr>
              <a:t>#</a:t>
            </a:r>
            <a:r>
              <a:t> comments separating each exercise</a:t>
            </a:r>
          </a:p>
          <a:p>
            <a:r>
              <a:t>• [ ] Exercise 5's written observations about </a:t>
            </a:r>
            <a:r>
              <a:rPr sz="1100">
                <a:latin typeface="Courier New"/>
              </a:rPr>
              <a:t>"5" + "3"</a:t>
            </a:r>
            <a:r>
              <a:t> vs </a:t>
            </a:r>
            <a:r>
              <a:rPr sz="1100">
                <a:latin typeface="Courier New"/>
              </a:rPr>
              <a:t>5 + 3</a:t>
            </a:r>
          </a:p>
          <a:p>
            <a:r>
              <a:t>• [ ] Three reflection questions answered honestly</a:t>
            </a:r>
          </a:p>
          <a:p>
            <a:r>
              <a:t>• [ ] Submitted to Canvas</a:t>
            </a:r>
          </a:p>
          <a:p>
            <a:r>
              <a:t> </a:t>
            </a:r>
          </a:p>
          <a:p>
            <a:r>
              <a:rPr b="1"/>
              <a:t>SLIDE NOTES</a:t>
            </a:r>
          </a:p>
          <a:p>
            <a:r>
              <a:t> </a:t>
            </a:r>
          </a:p>
          <a:p>
            <a:r>
              <a:t>Walk every item on screen before uploading to Canvas:</a:t>
            </a:r>
          </a:p>
          <a:p>
            <a:r>
              <a:t> </a:t>
            </a:r>
          </a:p>
          <a:p>
            <a:r>
              <a:t>Close the lab by re-stating the one file, one script rule: everything above lives inside pricer.py — there is no separate reflection file or interpreter transcript to submit; the Exercise 5 observations and the three reflection answers both belong as comments (or a clearly separated section) inside pricer.py itself, per the # comment convention used for Exercises 1–4.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