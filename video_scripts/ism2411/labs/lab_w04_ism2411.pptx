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9"/>
    <p:sldId id="265" r:id="rId11"/>
    <p:sldId id="266" r:id="rId12"/>
    <p:sldId id="267" r:id="rId13"/>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73562" autoAdjust="0"/>
  </p:normalViewPr>
  <p:slideViewPr>
    <p:cSldViewPr>
      <p:cViewPr varScale="1">
        <p:scale>
          <a:sx n="69" d="100"/>
          <a:sy n="69" d="100"/>
        </p:scale>
        <p:origin x="1552"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224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SLIDE 1 — INTRO</a:t>
            </a:r>
          </a:p>
          <a:p>
            <a:r>
              <a:t> </a:t>
            </a:r>
          </a:p>
          <a:p>
            <a:r>
              <a:rPr b="1"/>
              <a:t>SAY:</a:t>
            </a:r>
            <a:r>
              <a:t> </a:t>
            </a:r>
            <a:r>
              <a:t>"Lab 4 — revenue, margin, and a discount calculator. Today's operators — arithmetic, comparison, logical — are the building blocks of every business rule you'll ever encode: is this over budget, does this qualify for a discount, which of two options is better. All of it starts here."</a:t>
            </a:r>
          </a:p>
          <a:p>
            <a:r>
              <a:t> </a:t>
            </a:r>
          </a:p>
          <a:p>
            <a:r>
              <a:rPr b="1"/>
              <a:t>SLIDE NOTES</a:t>
            </a:r>
          </a:p>
          <a:p>
            <a:r>
              <a:t> </a:t>
            </a:r>
          </a:p>
          <a:p>
            <a:r>
              <a:t>Title slide — "Business Logic to Bytecode: Building Revenue, Margin, and Logistics Calculators in Python." ISM2411 Module 04.</a:t>
            </a:r>
          </a:p>
          <a:p>
            <a:r>
              <a:t> </a:t>
            </a:r>
          </a:p>
          <a:p>
            <a:r>
              <a:t>Everything students build today lands in one file, calculator.py, with a `# --- Exercise N ---` comment marking each section — that is the exact submission format required on Canvas.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SLIDE 2</a:t>
            </a:r>
            <a:endParaRPr lang="en-US" dirty="0"/>
          </a:p>
          <a:p>
            <a:r>
              <a:t> </a:t>
            </a:r>
          </a:p>
          <a:p>
            <a:r>
              <a:t>Framing slide: Business Rule + Python Operator = Automated Decision, with the three operator families shown as icons — Arithmetic (calculator), Comparison (balance scale), Logical (AND/OR gate).</a:t>
            </a:r>
          </a:p>
          <a:p>
            <a:r>
              <a:t> </a:t>
            </a:r>
          </a:p>
          <a:p>
            <a:r>
              <a:rPr b="1"/>
              <a:t>SAY:</a:t>
            </a:r>
            <a:r>
              <a:t> "Every business rule — whether checking budget limits, applying discounts, or boxing inventory — relies on three core operator families: Arithmetic, Comparison, and Logical. By the end of this lab you will have used all three inside one working calculator.py."</a:t>
            </a:r>
          </a:p>
          <a:p>
            <a:r>
              <a:t> </a:t>
            </a:r>
          </a:p>
          <a:p>
            <a:r>
              <a:t>Use this as the through-line for the whole session: Exercises 1 and 2 are Arithmetic (revenue, margin). Exercise 3 is Comparison (&gt;). Exercise 4 is Logical (and). Exercise 5 introduces a second arithmetic family — //, and % — that Exercise 7 puts to real use. Exercise 6 combines everything into one interactive tool.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SLIDE 3 — EXERCISE 1 — Revenue</a:t>
            </a:r>
          </a:p>
          <a:p>
            <a:r>
              <a:t> </a:t>
            </a:r>
          </a:p>
          <a:p>
            <a:r>
              <a:rPr b="1"/>
              <a:t>EXERCISE 1 — Revenue</a:t>
            </a:r>
          </a:p>
          <a:p>
            <a:r>
              <a:rPr b="1"/>
              <a:t>SAY:</a:t>
            </a:r>
            <a:r>
              <a:t> </a:t>
            </a:r>
            <a:r>
              <a:t>"The simplest possible business formula — price times quantity — formatted for a human to read."</a:t>
            </a:r>
          </a:p>
          <a:p>
            <a:r>
              <a:t> </a:t>
            </a:r>
          </a:p>
          <a:p>
            <a:r>
              <a:rPr b="1"/>
              <a:t>DO:</a:t>
            </a:r>
          </a:p>
          <a:p>
            <a:r>
              <a:rPr sz="1100">
                <a:latin typeface="Courier New"/>
              </a:rPr>
              <a:t># --- Exercise 1 ---</a:t>
            </a:r>
          </a:p>
          <a:p>
            <a:r>
              <a:rPr sz="1100">
                <a:latin typeface="Courier New"/>
              </a:rPr>
              <a:t>price = 50</a:t>
            </a:r>
          </a:p>
          <a:p>
            <a:r>
              <a:rPr sz="1100">
                <a:latin typeface="Courier New"/>
              </a:rPr>
              <a:t>quantity = 12</a:t>
            </a:r>
          </a:p>
          <a:p>
            <a:r>
              <a:rPr sz="1100">
                <a:latin typeface="Courier New"/>
              </a:rPr>
              <a:t>revenue = price * quantity</a:t>
            </a:r>
          </a:p>
          <a:p>
            <a:r>
              <a:rPr sz="1100">
                <a:latin typeface="Courier New"/>
              </a:rPr>
              <a:t>print(f"Revenue: ${revenue:,.2f}")</a:t>
            </a:r>
          </a:p>
          <a:p>
            <a:r>
              <a:t> </a:t>
            </a:r>
          </a:p>
          <a:p>
            <a:r>
              <a:rPr sz="1100">
                <a:latin typeface="Courier New"/>
              </a:rPr>
              <a:t>python3 calculator.py</a:t>
            </a:r>
          </a:p>
          <a:p>
            <a:r>
              <a:t> </a:t>
            </a:r>
          </a:p>
          <a:p>
            <a:r>
              <a:rPr b="1"/>
              <a:t>CHECK:</a:t>
            </a:r>
          </a:p>
          <a:p>
            <a:r>
              <a:rPr sz="1100">
                <a:latin typeface="Courier New"/>
              </a:rPr>
              <a:t>Revenue: $600.00</a:t>
            </a:r>
          </a:p>
          <a:p>
            <a:r>
              <a:rPr sz="1100">
                <a:latin typeface="Courier New"/>
              </a:rPr>
              <a:t>:,.2f</a:t>
            </a:r>
            <a:r>
              <a:t> does two things at once: adds thousands separators (not visible yet at $600, but it will matter soon) and forces exactly two decimal places.</a:t>
            </a:r>
          </a:p>
          <a:p>
            <a:r>
              <a:t> </a:t>
            </a:r>
          </a:p>
          <a:p>
            <a:r>
              <a:rPr b="1"/>
              <a:t>EXERCISE 2 — Margin</a:t>
            </a:r>
          </a:p>
          <a:p>
            <a:r>
              <a:rPr b="1"/>
              <a:t>SAY:</a:t>
            </a:r>
            <a:r>
              <a:t> </a:t>
            </a:r>
            <a:r>
              <a:t>"Margin — the same formula from last week's product card, now formatted with the </a:t>
            </a:r>
            <a:r>
              <a:rPr sz="1100">
                <a:latin typeface="Courier New"/>
              </a:rPr>
              <a:t>%</a:t>
            </a:r>
            <a:r>
              <a:t> format spec instead of computing a percentage by hand."</a:t>
            </a:r>
          </a:p>
          <a:p>
            <a:r>
              <a:t> </a:t>
            </a:r>
          </a:p>
          <a:p>
            <a:r>
              <a:rPr b="1"/>
              <a:t>DO:</a:t>
            </a:r>
          </a:p>
          <a:p>
            <a:r>
              <a:rPr sz="1100">
                <a:latin typeface="Courier New"/>
              </a:rPr>
              <a:t># --- Exercise 2 ---</a:t>
            </a:r>
          </a:p>
          <a:p>
            <a:r>
              <a:rPr sz="1100">
                <a:latin typeface="Courier New"/>
              </a:rPr>
              <a:t>cost = 32</a:t>
            </a:r>
          </a:p>
          <a:p>
            <a:r>
              <a:rPr sz="1100">
                <a:latin typeface="Courier New"/>
              </a:rPr>
              <a:t>price = 50</a:t>
            </a:r>
          </a:p>
          <a:p>
            <a:r>
              <a:rPr sz="1100">
                <a:latin typeface="Courier New"/>
              </a:rPr>
              <a:t>margin = (price - cost) / price</a:t>
            </a:r>
          </a:p>
          <a:p>
            <a:r>
              <a:rPr sz="1100">
                <a:latin typeface="Courier New"/>
              </a:rPr>
              <a:t>print(f"Margin: {margin:.1%}")</a:t>
            </a:r>
          </a:p>
          <a:p>
            <a:r>
              <a:t> </a:t>
            </a:r>
          </a:p>
          <a:p>
            <a:r>
              <a:rPr sz="1100">
                <a:latin typeface="Courier New"/>
              </a:rPr>
              <a:t>python3 calculator.py</a:t>
            </a:r>
          </a:p>
          <a:p>
            <a:r>
              <a:t> </a:t>
            </a:r>
          </a:p>
          <a:p>
            <a:r>
              <a:rPr b="1"/>
              <a:t>CHECK:</a:t>
            </a:r>
          </a:p>
          <a:p>
            <a:r>
              <a:rPr sz="1100">
                <a:latin typeface="Courier New"/>
              </a:rPr>
              <a:t>Margin: 36.0%</a:t>
            </a:r>
          </a:p>
          <a:p>
            <a:r>
              <a:t> </a:t>
            </a:r>
          </a:p>
          <a:p>
            <a:r>
              <a:rPr b="1"/>
              <a:t>SAY:</a:t>
            </a:r>
            <a:r>
              <a:t> </a:t>
            </a:r>
            <a:r>
              <a:t>"Notice </a:t>
            </a:r>
            <a:r>
              <a:rPr sz="1100">
                <a:latin typeface="Courier New"/>
              </a:rPr>
              <a:t>margin</a:t>
            </a:r>
            <a:r>
              <a:t> itself is </a:t>
            </a:r>
            <a:r>
              <a:rPr sz="1100">
                <a:latin typeface="Courier New"/>
              </a:rPr>
              <a:t>0.36</a:t>
            </a:r>
            <a:r>
              <a:t>, a plain decimal fraction — the </a:t>
            </a:r>
            <a:r>
              <a:rPr sz="1100">
                <a:latin typeface="Courier New"/>
              </a:rPr>
              <a:t>.1%</a:t>
            </a:r>
            <a:r>
              <a:t> format spec is what multiplies it by 100 and appends the </a:t>
            </a:r>
            <a:r>
              <a:rPr sz="1100">
                <a:latin typeface="Courier New"/>
              </a:rPr>
              <a:t>%</a:t>
            </a:r>
            <a:r>
              <a:t> sign for display. The underlying variable never actually becomes </a:t>
            </a:r>
            <a:r>
              <a:rPr sz="1100">
                <a:latin typeface="Courier New"/>
              </a:rPr>
              <a:t>36.0</a:t>
            </a:r>
            <a:r>
              <a:t>; only the printed text does."</a:t>
            </a:r>
          </a:p>
          <a:p>
            <a:r>
              <a:t> </a:t>
            </a:r>
          </a:p>
          <a:p>
            <a:r>
              <a:rPr b="1"/>
              <a:t>SLIDE NOTES</a:t>
            </a:r>
          </a:p>
          <a:p>
            <a:r>
              <a:t> </a:t>
            </a:r>
          </a:p>
          <a:p>
            <a:r>
              <a:t>"Margin — the same formula from last week's product card, now formatted with the `%` format spec instead of computing a percentage by hand."</a:t>
            </a:r>
          </a:p>
          <a:p>
            <a:r>
              <a:rPr b="1"/>
              <a:t>DO:</a:t>
            </a:r>
            <a:r>
              <a:t> cost = 32, price = 50, margin = (price - cost) / price, print(f"Margin: {margin:.1%}").</a:t>
            </a:r>
          </a:p>
          <a:p>
            <a:r>
              <a:t> </a:t>
            </a:r>
          </a:p>
          <a:p>
            <a:r>
              <a:t>CRITICAL INSIGHT on the slide: the underlying `margin` variable is still the plain decimal fraction 0.36111111 — the `.1%` format spec is what multiplies it by 100, rounds to one decimal, and appends the % sign for display. The variable in memory never actually becomes 36.0; only the printed text changes. Make sure students say this back to you before moving 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SLIDE 4 — EXERCISE 3 — Two Products</a:t>
            </a:r>
            <a:endParaRPr lang="en-US" dirty="0"/>
          </a:p>
          <a:p>
            <a:r>
              <a:t> </a:t>
            </a:r>
          </a:p>
          <a:p>
            <a:r>
              <a:rPr b="1"/>
              <a:t>EXERCISE 3 — Two Products</a:t>
            </a:r>
          </a:p>
          <a:p>
            <a:r>
              <a:rPr b="1"/>
              <a:t>SAY:</a:t>
            </a:r>
            <a:r>
              <a:t> </a:t>
            </a:r>
            <a:r>
              <a:t>"Now a comparison — which of two products has the better margin? Store the answer as a boolean, not just print it as a sentence."</a:t>
            </a:r>
          </a:p>
          <a:p>
            <a:r>
              <a:t> </a:t>
            </a:r>
          </a:p>
          <a:p>
            <a:r>
              <a:rPr b="1"/>
              <a:t>DO:</a:t>
            </a:r>
          </a:p>
          <a:p>
            <a:r>
              <a:rPr sz="1100">
                <a:latin typeface="Courier New"/>
              </a:rPr>
              <a:t># --- Exercise 3 ---</a:t>
            </a:r>
          </a:p>
          <a:p>
            <a:r>
              <a:rPr sz="1100">
                <a:latin typeface="Courier New"/>
              </a:rPr>
              <a:t>price_a, cost_a = 50, 32</a:t>
            </a:r>
          </a:p>
          <a:p>
            <a:r>
              <a:rPr sz="1100">
                <a:latin typeface="Courier New"/>
              </a:rPr>
              <a:t>price_b, cost_b = 80, 60</a:t>
            </a:r>
          </a:p>
          <a:p>
            <a:r>
              <a:rPr sz="1100">
                <a:latin typeface="Courier New"/>
              </a:rPr>
              <a:t> </a:t>
            </a:r>
          </a:p>
          <a:p>
            <a:r>
              <a:rPr sz="1100">
                <a:latin typeface="Courier New"/>
              </a:rPr>
              <a:t>margin_a = (price_a - cost_a) / price_a</a:t>
            </a:r>
          </a:p>
          <a:p>
            <a:r>
              <a:rPr sz="1100">
                <a:latin typeface="Courier New"/>
              </a:rPr>
              <a:t>margin_b = (price_b - cost_b) / price_b</a:t>
            </a:r>
          </a:p>
          <a:p>
            <a:r>
              <a:rPr sz="1100">
                <a:latin typeface="Courier New"/>
              </a:rPr>
              <a:t> </a:t>
            </a:r>
          </a:p>
          <a:p>
            <a:r>
              <a:rPr sz="1100">
                <a:latin typeface="Courier New"/>
              </a:rPr>
              <a:t>product_a_wins = margin_a &gt; margin_b</a:t>
            </a:r>
          </a:p>
          <a:p>
            <a:r>
              <a:rPr sz="1100">
                <a:latin typeface="Courier New"/>
              </a:rPr>
              <a:t> </a:t>
            </a:r>
          </a:p>
          <a:p>
            <a:r>
              <a:rPr sz="1100">
                <a:latin typeface="Courier New"/>
              </a:rPr>
              <a:t>print(f"Product A margin: {margin_a:.1%}")</a:t>
            </a:r>
          </a:p>
          <a:p>
            <a:r>
              <a:rPr sz="1100">
                <a:latin typeface="Courier New"/>
              </a:rPr>
              <a:t>print(f"Product B margin: {margin_b:.1%}")</a:t>
            </a:r>
          </a:p>
          <a:p>
            <a:r>
              <a:rPr sz="1100">
                <a:latin typeface="Courier New"/>
              </a:rPr>
              <a:t>print(f"Product A wins: {product_a_wins}")</a:t>
            </a:r>
          </a:p>
          <a:p>
            <a:r>
              <a:t> </a:t>
            </a:r>
          </a:p>
          <a:p>
            <a:r>
              <a:rPr sz="1100">
                <a:latin typeface="Courier New"/>
              </a:rPr>
              <a:t>python3 calculator.py</a:t>
            </a:r>
          </a:p>
          <a:p>
            <a:r>
              <a:t> </a:t>
            </a:r>
          </a:p>
          <a:p>
            <a:r>
              <a:rPr b="1"/>
              <a:t>CHECK:</a:t>
            </a:r>
          </a:p>
          <a:p>
            <a:r>
              <a:rPr sz="1100">
                <a:latin typeface="Courier New"/>
              </a:rPr>
              <a:t>Product A margin: 36.0%</a:t>
            </a:r>
          </a:p>
          <a:p>
            <a:r>
              <a:rPr sz="1100">
                <a:latin typeface="Courier New"/>
              </a:rPr>
              <a:t>Product B margin: 25.0%</a:t>
            </a:r>
          </a:p>
          <a:p>
            <a:r>
              <a:rPr sz="1100">
                <a:latin typeface="Courier New"/>
              </a:rPr>
              <a:t>Product A wins: True</a:t>
            </a:r>
          </a:p>
          <a:p>
            <a:r>
              <a:t>Confirm by hand: Product B's margin is </a:t>
            </a:r>
            <a:r>
              <a:rPr sz="1100">
                <a:latin typeface="Courier New"/>
              </a:rPr>
              <a:t>(80-60)/80 = 0.25</a:t>
            </a:r>
            <a:r>
              <a:t>, lower than A's </a:t>
            </a:r>
            <a:r>
              <a:rPr sz="1100">
                <a:latin typeface="Courier New"/>
              </a:rPr>
              <a:t>0.36</a:t>
            </a:r>
            <a:r>
              <a:t> — so </a:t>
            </a:r>
            <a:r>
              <a:rPr sz="1100">
                <a:latin typeface="Courier New"/>
              </a:rPr>
              <a:t>margin_a &gt; margin_b</a:t>
            </a:r>
            <a:r>
              <a:t> correctly evaluates to </a:t>
            </a:r>
            <a:r>
              <a:rPr sz="1100">
                <a:latin typeface="Courier New"/>
              </a:rPr>
              <a:t>True</a:t>
            </a:r>
            <a:r>
              <a:t>.</a:t>
            </a:r>
          </a:p>
          <a:p>
            <a:r>
              <a:t> </a:t>
            </a:r>
          </a:p>
          <a:p>
            <a:r>
              <a:rPr b="1"/>
              <a:t>EXERCISE 4 — Logical Combo</a:t>
            </a:r>
          </a:p>
          <a:p>
            <a:r>
              <a:rPr b="1"/>
              <a:t>SAY:</a:t>
            </a:r>
            <a:r>
              <a:t> </a:t>
            </a:r>
            <a:r>
              <a:t>"Now combine two conditions with </a:t>
            </a:r>
            <a:r>
              <a:rPr sz="1100">
                <a:latin typeface="Courier New"/>
              </a:rPr>
              <a:t>and</a:t>
            </a:r>
            <a:r>
              <a:t> — a product only counts as 'premium' if both the price is high enough and the margin is good enough."</a:t>
            </a:r>
          </a:p>
          <a:p>
            <a:r>
              <a:t> </a:t>
            </a:r>
          </a:p>
          <a:p>
            <a:r>
              <a:rPr b="1"/>
              <a:t>DO:</a:t>
            </a:r>
          </a:p>
          <a:p>
            <a:r>
              <a:rPr sz="1100">
                <a:latin typeface="Courier New"/>
              </a:rPr>
              <a:t># --- Exercise 4 ---</a:t>
            </a:r>
          </a:p>
          <a:p>
            <a:r>
              <a:rPr sz="1100">
                <a:latin typeface="Courier New"/>
              </a:rPr>
              <a:t>price = 150</a:t>
            </a:r>
          </a:p>
          <a:p>
            <a:r>
              <a:rPr sz="1100">
                <a:latin typeface="Courier New"/>
              </a:rPr>
              <a:t>margin = 0.35</a:t>
            </a:r>
          </a:p>
          <a:p>
            <a:r>
              <a:rPr sz="1100">
                <a:latin typeface="Courier New"/>
              </a:rPr>
              <a:t>is_premium = price &gt; 100 and margin &gt; 0.3</a:t>
            </a:r>
          </a:p>
          <a:p>
            <a:r>
              <a:rPr sz="1100">
                <a:latin typeface="Courier New"/>
              </a:rPr>
              <a:t>print(f"is_premium = {is_premium}")</a:t>
            </a:r>
          </a:p>
          <a:p>
            <a:r>
              <a:t> </a:t>
            </a:r>
          </a:p>
          <a:p>
            <a:r>
              <a:rPr sz="1100">
                <a:latin typeface="Courier New"/>
              </a:rPr>
              <a:t>python3 calculator.py</a:t>
            </a:r>
          </a:p>
          <a:p>
            <a:r>
              <a:t> </a:t>
            </a:r>
          </a:p>
          <a:p>
            <a:r>
              <a:rPr b="1"/>
              <a:t>CHECK:</a:t>
            </a:r>
          </a:p>
          <a:p>
            <a:r>
              <a:rPr sz="1100">
                <a:latin typeface="Courier New"/>
              </a:rPr>
              <a:t>is_premium = True</a:t>
            </a:r>
          </a:p>
          <a:p>
            <a:r>
              <a:t> </a:t>
            </a:r>
          </a:p>
          <a:p>
            <a:r>
              <a:rPr b="1"/>
              <a:t>SAY:</a:t>
            </a:r>
            <a:r>
              <a:t> </a:t>
            </a:r>
            <a:r>
              <a:t>"Now change the values so only one condition holds — say the margin drops to 0.2 while the price stays at 150."</a:t>
            </a:r>
          </a:p>
          <a:p>
            <a:r>
              <a:t> </a:t>
            </a:r>
          </a:p>
          <a:p>
            <a:r>
              <a:rPr b="1"/>
              <a:t>DO:</a:t>
            </a:r>
          </a:p>
          <a:p>
            <a:r>
              <a:rPr sz="1100">
                <a:latin typeface="Courier New"/>
              </a:rPr>
              <a:t>price = 150</a:t>
            </a:r>
          </a:p>
          <a:p>
            <a:r>
              <a:rPr sz="1100">
                <a:latin typeface="Courier New"/>
              </a:rPr>
              <a:t>margin = 0.2</a:t>
            </a:r>
          </a:p>
          <a:p>
            <a:r>
              <a:rPr sz="1100">
                <a:latin typeface="Courier New"/>
              </a:rPr>
              <a:t>is_premium = price &gt; 100 and margin &gt; 0.3</a:t>
            </a:r>
          </a:p>
          <a:p>
            <a:r>
              <a:rPr sz="1100">
                <a:latin typeface="Courier New"/>
              </a:rPr>
              <a:t>print(f"is_premium = {is_premium}")</a:t>
            </a:r>
          </a:p>
          <a:p>
            <a:r>
              <a:t> </a:t>
            </a:r>
          </a:p>
          <a:p>
            <a:r>
              <a:rPr b="1"/>
              <a:t>CHECK:</a:t>
            </a:r>
          </a:p>
          <a:p>
            <a:r>
              <a:rPr sz="1100">
                <a:latin typeface="Courier New"/>
              </a:rPr>
              <a:t>is_premium = False</a:t>
            </a:r>
          </a:p>
          <a:p>
            <a:r>
              <a:t>Even though </a:t>
            </a:r>
            <a:r>
              <a:rPr sz="1100">
                <a:latin typeface="Courier New"/>
              </a:rPr>
              <a:t>price &gt; 100</a:t>
            </a:r>
            <a:r>
              <a:t> is still </a:t>
            </a:r>
            <a:r>
              <a:rPr sz="1100">
                <a:latin typeface="Courier New"/>
              </a:rPr>
              <a:t>True</a:t>
            </a:r>
            <a:r>
              <a:t>, </a:t>
            </a:r>
            <a:r>
              <a:rPr sz="1100">
                <a:latin typeface="Courier New"/>
              </a:rPr>
              <a:t>and</a:t>
            </a:r>
            <a:r>
              <a:t> requires </a:t>
            </a:r>
            <a:r>
              <a:rPr b="1"/>
              <a:t>both</a:t>
            </a:r>
            <a:r>
              <a:t> sides to be </a:t>
            </a:r>
            <a:r>
              <a:rPr sz="1100">
                <a:latin typeface="Courier New"/>
              </a:rPr>
              <a:t>True</a:t>
            </a:r>
            <a:r>
              <a:t> — one failing condition is enough to make the whole expression </a:t>
            </a:r>
            <a:r>
              <a:rPr sz="1100">
                <a:latin typeface="Courier New"/>
              </a:rPr>
              <a:t>False</a:t>
            </a:r>
            <a:r>
              <a:t>.</a:t>
            </a:r>
          </a:p>
          <a:p>
            <a:r>
              <a:t> </a:t>
            </a:r>
          </a:p>
          <a:p>
            <a:r>
              <a:rPr b="1"/>
              <a:t>SLIDE NOTES</a:t>
            </a:r>
          </a:p>
          <a:p>
            <a:r>
              <a:t> </a:t>
            </a:r>
          </a:p>
          <a:p>
            <a:r>
              <a:t>Exercise 3 does not get its own slide — cover it verbally here before moving into the AND-logic diagram for Exercise 4.</a:t>
            </a:r>
          </a:p>
          <a:p>
            <a:r>
              <a:t> </a:t>
            </a:r>
          </a:p>
          <a:p>
            <a:r>
              <a:t>Slide content — "Automating Decisions: The Binary Reality" — is Exercise 4.</a:t>
            </a:r>
          </a:p>
          <a:p>
            <a:r>
              <a:rPr b="1"/>
              <a:t>CHECK:</a:t>
            </a:r>
            <a:r>
              <a:t> "is_premium = True" — matches the top half of the diagram (Price &gt; 100 → True, Margin &gt; 0.30 → True, AND → True (Premium Product)).</a:t>
            </a:r>
          </a:p>
          <a:p>
            <a:r>
              <a:t> </a:t>
            </a:r>
          </a:p>
          <a:p>
            <a:r>
              <a:t>DO (second run, shown in the bottom half of the diagram): change margin to 0.2 while price stays at 150 — is_premium = price &gt; 100 and margin &gt; 0.3.</a:t>
            </a:r>
          </a:p>
          <a:p>
            <a:r>
              <a:rPr b="1"/>
              <a:t>SAY:</a:t>
            </a:r>
            <a:r>
              <a:t> "Even though `price &gt; 100` is still True, `and` requires BOTH sides to be True — one failing condition is enough to make the whole expression False." Point at the crossed-out False box and the callout text: "If even one requirement fails, the entire expression evaluates to False.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SLIDE 5 — EXERCISE 5 — Common-Mistake Check</a:t>
            </a:r>
          </a:p>
          <a:p>
            <a:r>
              <a:t> </a:t>
            </a:r>
          </a:p>
          <a:p>
            <a:r>
              <a:rPr b="1"/>
              <a:t>SAY:</a:t>
            </a:r>
            <a:r>
              <a:t> </a:t>
            </a:r>
            <a:r>
              <a:t>"Before running anything, predict out loud what each of these three produces — then check yourself."</a:t>
            </a:r>
          </a:p>
          <a:p>
            <a:r>
              <a:t> </a:t>
            </a:r>
          </a:p>
          <a:p>
            <a:r>
              <a:rPr b="1"/>
              <a:t>DO:</a:t>
            </a:r>
            <a:r>
              <a:t> </a:t>
            </a:r>
            <a:r>
              <a:t>Predict, then run:</a:t>
            </a:r>
          </a:p>
          <a:p>
            <a:r>
              <a:rPr sz="1100">
                <a:latin typeface="Courier New"/>
              </a:rPr>
              <a:t># --- Exercise 5 ---</a:t>
            </a:r>
          </a:p>
          <a:p>
            <a:r>
              <a:rPr sz="1100">
                <a:latin typeface="Courier New"/>
              </a:rPr>
              <a:t>print(17 / 5)</a:t>
            </a:r>
          </a:p>
          <a:p>
            <a:r>
              <a:rPr sz="1100">
                <a:latin typeface="Courier New"/>
              </a:rPr>
              <a:t>print(17 // 5)</a:t>
            </a:r>
          </a:p>
          <a:p>
            <a:r>
              <a:rPr sz="1100">
                <a:latin typeface="Courier New"/>
              </a:rPr>
              <a:t>print(17 % 5)</a:t>
            </a:r>
          </a:p>
          <a:p>
            <a:r>
              <a:t> </a:t>
            </a:r>
          </a:p>
          <a:p>
            <a:r>
              <a:rPr sz="1100">
                <a:latin typeface="Courier New"/>
              </a:rPr>
              <a:t>python3 calculator.py</a:t>
            </a:r>
          </a:p>
          <a:p>
            <a:r>
              <a:t> </a:t>
            </a:r>
          </a:p>
          <a:p>
            <a:r>
              <a:rPr b="1"/>
              <a:t>CHECK:</a:t>
            </a:r>
          </a:p>
          <a:p>
            <a:r>
              <a:rPr sz="1100">
                <a:latin typeface="Courier New"/>
              </a:rPr>
              <a:t>3.4</a:t>
            </a:r>
          </a:p>
          <a:p>
            <a:r>
              <a:rPr sz="1100">
                <a:latin typeface="Courier New"/>
              </a:rPr>
              <a:t>3</a:t>
            </a:r>
          </a:p>
          <a:p>
            <a:r>
              <a:rPr sz="1100">
                <a:latin typeface="Courier New"/>
              </a:rPr>
              <a:t>2</a:t>
            </a:r>
          </a:p>
          <a:p>
            <a:r>
              <a:t> </a:t>
            </a:r>
          </a:p>
          <a:p>
            <a:r>
              <a:rPr b="1"/>
              <a:t>SAY:</a:t>
            </a:r>
            <a:r>
              <a:t> </a:t>
            </a:r>
            <a:r>
              <a:t>"</a:t>
            </a:r>
            <a:r>
              <a:rPr sz="1100">
                <a:latin typeface="Courier New"/>
              </a:rPr>
              <a:t>/</a:t>
            </a:r>
            <a:r>
              <a:t> is true division — always returns a float, </a:t>
            </a:r>
            <a:r>
              <a:rPr sz="1100">
                <a:latin typeface="Courier New"/>
              </a:rPr>
              <a:t>3.4</a:t>
            </a:r>
            <a:r>
              <a:t>. </a:t>
            </a:r>
            <a:r>
              <a:rPr sz="1100">
                <a:latin typeface="Courier New"/>
              </a:rPr>
              <a:t>//</a:t>
            </a:r>
            <a:r>
              <a:t> is floor division — drops everything after the decimal, keeping just the whole number, </a:t>
            </a:r>
            <a:r>
              <a:rPr sz="1100">
                <a:latin typeface="Courier New"/>
              </a:rPr>
              <a:t>3</a:t>
            </a:r>
            <a:r>
              <a:t>. </a:t>
            </a:r>
            <a:r>
              <a:rPr sz="1100">
                <a:latin typeface="Courier New"/>
              </a:rPr>
              <a:t>%</a:t>
            </a:r>
            <a:r>
              <a:t> is modulo — the remainder after floor division, </a:t>
            </a:r>
            <a:r>
              <a:rPr sz="1100">
                <a:latin typeface="Courier New"/>
              </a:rPr>
              <a:t>2</a:t>
            </a:r>
            <a:r>
              <a:t>, because </a:t>
            </a:r>
            <a:r>
              <a:rPr sz="1100">
                <a:latin typeface="Courier New"/>
              </a:rPr>
              <a:t>3 × 5 = 15</a:t>
            </a:r>
            <a:r>
              <a:t> and </a:t>
            </a:r>
            <a:r>
              <a:rPr sz="1100">
                <a:latin typeface="Courier New"/>
              </a:rPr>
              <a:t>17 − 15 = 2</a:t>
            </a:r>
            <a:r>
              <a:t>. In business terms: </a:t>
            </a:r>
            <a:r>
              <a:rPr sz="1100">
                <a:latin typeface="Courier New"/>
              </a:rPr>
              <a:t>//</a:t>
            </a:r>
            <a:r>
              <a:t> answers 'how many complete groups fit,' and </a:t>
            </a:r>
            <a:r>
              <a:rPr sz="1100">
                <a:latin typeface="Courier New"/>
              </a:rPr>
              <a:t>%</a:t>
            </a:r>
            <a:r>
              <a:t> answers 'what's left over that doesn't fill a complete group' — you'll use exactly that pairing in Exercise 7."</a:t>
            </a:r>
          </a:p>
          <a:p>
            <a:r>
              <a:t> </a:t>
            </a:r>
          </a:p>
          <a:p>
            <a:r>
              <a:rPr b="1"/>
              <a:t>SLIDE NOTES</a:t>
            </a:r>
          </a:p>
          <a:p>
            <a:r>
              <a:t> </a:t>
            </a:r>
          </a:p>
          <a:p>
            <a:r>
              <a:t>The Division Matrix — side-by-side comparison of / (true division), // (floor division), and % (modulo), each with 17 and 5 as the worked example.</a:t>
            </a:r>
          </a:p>
          <a:p>
            <a:r>
              <a:t> </a:t>
            </a:r>
          </a:p>
          <a:p>
            <a:r>
              <a:t>Tie it to the slide's "Business Use Case" row for each operator: `/` → general mathematical averages and financial ratios; `//` → how many complete, indivisible groups fit; `%` → what is left over. Land the transition line explicitly: "In business terms, `//` answers 'how many complete groups fit,' and `%` answers 'what's left over that doesn't fill a complete group' — you'll use exactly that pairing in Exercise 7," which is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SLIDE 6 — EXERCISE 7 — Packaging Problem</a:t>
            </a:r>
          </a:p>
          <a:p>
            <a:r>
              <a:t> </a:t>
            </a:r>
          </a:p>
          <a:p>
            <a:r>
              <a:rPr b="1"/>
              <a:t>SAY:</a:t>
            </a:r>
            <a:r>
              <a:t> </a:t>
            </a:r>
            <a:r>
              <a:t>"A logistics problem — how many full boxes, and how many loose items are left — using exactly the </a:t>
            </a:r>
            <a:r>
              <a:rPr sz="1100">
                <a:latin typeface="Courier New"/>
              </a:rPr>
              <a:t>//</a:t>
            </a:r>
            <a:r>
              <a:t> and </a:t>
            </a:r>
            <a:r>
              <a:rPr sz="1100">
                <a:latin typeface="Courier New"/>
              </a:rPr>
              <a:t>%</a:t>
            </a:r>
            <a:r>
              <a:t> pairing from Exercise 5."</a:t>
            </a:r>
          </a:p>
          <a:p>
            <a:r>
              <a:t> </a:t>
            </a:r>
          </a:p>
          <a:p>
            <a:r>
              <a:rPr b="1"/>
              <a:t>DO:</a:t>
            </a:r>
          </a:p>
          <a:p>
            <a:r>
              <a:rPr sz="1100">
                <a:latin typeface="Courier New"/>
              </a:rPr>
              <a:t># --- Exercise 7 ---</a:t>
            </a:r>
          </a:p>
          <a:p>
            <a:r>
              <a:rPr sz="1100">
                <a:latin typeface="Courier New"/>
              </a:rPr>
              <a:t>BOX_SIZE = 24</a:t>
            </a:r>
          </a:p>
          <a:p>
            <a:r>
              <a:rPr sz="1100">
                <a:latin typeface="Courier New"/>
              </a:rPr>
              <a:t>items_ordered = int(input("Number of items ordered: "))</a:t>
            </a:r>
          </a:p>
          <a:p>
            <a:r>
              <a:rPr sz="1100">
                <a:latin typeface="Courier New"/>
              </a:rPr>
              <a:t> </a:t>
            </a:r>
          </a:p>
          <a:p>
            <a:r>
              <a:rPr sz="1100">
                <a:latin typeface="Courier New"/>
              </a:rPr>
              <a:t>full_boxes   = items_ordered // BOX_SIZE</a:t>
            </a:r>
          </a:p>
          <a:p>
            <a:r>
              <a:rPr sz="1100">
                <a:latin typeface="Courier New"/>
              </a:rPr>
              <a:t>loose_items  = items_ordered % BOX_SIZE</a:t>
            </a:r>
          </a:p>
          <a:p>
            <a:r>
              <a:rPr sz="1100">
                <a:latin typeface="Courier New"/>
              </a:rPr>
              <a:t>exact_fit    = loose_items == 0</a:t>
            </a:r>
          </a:p>
          <a:p>
            <a:r>
              <a:rPr sz="1100">
                <a:latin typeface="Courier New"/>
              </a:rPr>
              <a:t> </a:t>
            </a:r>
          </a:p>
          <a:p>
            <a:r>
              <a:rPr sz="1100">
                <a:latin typeface="Courier New"/>
              </a:rPr>
              <a:t>print(f"Full boxes: {full_boxes}")</a:t>
            </a:r>
          </a:p>
          <a:p>
            <a:r>
              <a:rPr sz="1100">
                <a:latin typeface="Courier New"/>
              </a:rPr>
              <a:t>print(f"Loose items: {loose_items}")</a:t>
            </a:r>
          </a:p>
          <a:p>
            <a:r>
              <a:rPr sz="1100">
                <a:latin typeface="Courier New"/>
              </a:rPr>
              <a:t>print(f"Exact fit: {exact_fit}")</a:t>
            </a:r>
          </a:p>
          <a:p>
            <a:r>
              <a:t> </a:t>
            </a:r>
          </a:p>
          <a:p>
            <a:r>
              <a:rPr sz="1100">
                <a:latin typeface="Courier New"/>
              </a:rPr>
              <a:t>python3 calculator.py</a:t>
            </a:r>
          </a:p>
          <a:p>
            <a:r>
              <a:t>Enter </a:t>
            </a:r>
            <a:r>
              <a:rPr sz="1100">
                <a:latin typeface="Courier New"/>
              </a:rPr>
              <a:t>100</a:t>
            </a:r>
            <a:r>
              <a:t>.</a:t>
            </a:r>
          </a:p>
          <a:p>
            <a:r>
              <a:t> </a:t>
            </a:r>
          </a:p>
          <a:p>
            <a:r>
              <a:rPr b="1"/>
              <a:t>CHECK:</a:t>
            </a:r>
          </a:p>
          <a:p>
            <a:r>
              <a:rPr sz="1100">
                <a:latin typeface="Courier New"/>
              </a:rPr>
              <a:t>Number of items ordered: 100</a:t>
            </a:r>
          </a:p>
          <a:p>
            <a:r>
              <a:rPr sz="1100">
                <a:latin typeface="Courier New"/>
              </a:rPr>
              <a:t>Full boxes: 4</a:t>
            </a:r>
          </a:p>
          <a:p>
            <a:r>
              <a:rPr sz="1100">
                <a:latin typeface="Courier New"/>
              </a:rPr>
              <a:t>Loose items: 4</a:t>
            </a:r>
          </a:p>
          <a:p>
            <a:r>
              <a:rPr sz="1100">
                <a:latin typeface="Courier New"/>
              </a:rPr>
              <a:t>Exact fit: False</a:t>
            </a:r>
          </a:p>
          <a:p>
            <a:r>
              <a:t>Confirm: </a:t>
            </a:r>
            <a:r>
              <a:rPr sz="1100">
                <a:latin typeface="Courier New"/>
              </a:rPr>
              <a:t>100 // 24 = 4</a:t>
            </a:r>
            <a:r>
              <a:t> (since </a:t>
            </a:r>
            <a:r>
              <a:rPr sz="1100">
                <a:latin typeface="Courier New"/>
              </a:rPr>
              <a:t>4 × 24 = 96</a:t>
            </a:r>
            <a:r>
              <a:t>), </a:t>
            </a:r>
            <a:r>
              <a:rPr sz="1100">
                <a:latin typeface="Courier New"/>
              </a:rPr>
              <a:t>100 % 24 = 4</a:t>
            </a:r>
            <a:r>
              <a:t> (the leftover), and since the remainder isn't zero, </a:t>
            </a:r>
            <a:r>
              <a:rPr sz="1100">
                <a:latin typeface="Courier New"/>
              </a:rPr>
              <a:t>exact_fit</a:t>
            </a:r>
            <a:r>
              <a:t> is </a:t>
            </a:r>
            <a:r>
              <a:rPr sz="1100">
                <a:latin typeface="Courier New"/>
              </a:rPr>
              <a:t>False</a:t>
            </a:r>
            <a:r>
              <a:t>.</a:t>
            </a:r>
          </a:p>
          <a:p>
            <a:r>
              <a:t> </a:t>
            </a:r>
          </a:p>
          <a:p>
            <a:r>
              <a:rPr b="1"/>
              <a:t>SLIDE NOTES</a:t>
            </a:r>
          </a:p>
          <a:p>
            <a:r>
              <a:t> </a:t>
            </a:r>
          </a:p>
          <a:p>
            <a:r>
              <a:t>Modulo: The Logistics Problem — a pallet of boxes (each holding 24 items) illustrating 100 // 24 = 4 full boxes and 100 % 24 = 4 leftover items.</a:t>
            </a:r>
          </a:p>
          <a:p>
            <a:r>
              <a:t> </a:t>
            </a:r>
          </a:p>
          <a:p>
            <a:r>
              <a:t>"A logistics problem — how many full boxes, and how many loose items are left — using exactly the `//` and `%` pairing from Exercise 5."</a:t>
            </a:r>
          </a:p>
          <a:p>
            <a:r>
              <a:rPr b="1"/>
              <a:t>DO:</a:t>
            </a:r>
            <a:r>
              <a:t> BOX_SIZE = 24; items_ordered = int(input("Number of items ordered: ")); full_boxes = items_ordered // BOX_SIZE; loose_items = items_ordered % BOX_SIZE; exact_fit = loose_items == 0; print the three values.</a:t>
            </a:r>
          </a:p>
          <a:p>
            <a:r>
              <a:t> </a:t>
            </a:r>
          </a:p>
          <a:p>
            <a:r>
              <a:t>Confirm out loud: 100 // 24 = 4 (since 4 × 24 = 96), 100 % 24 = 4 (the leftover), and since the remainder is not zero, exact_fit is False — exactly matching the slide's callouts and its closing line: "Modulo isn't abstract math; it's the ultimate packaging tool.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SLIDE 7 — EXERCISE 6 — Full Pricing Calculator</a:t>
            </a:r>
            <a:endParaRPr lang="en-US" dirty="0"/>
          </a:p>
          <a:p>
            <a:r>
              <a:t> </a:t>
            </a:r>
          </a:p>
          <a:p>
            <a:r>
              <a:rPr b="1"/>
              <a:t>FIX:</a:t>
            </a:r>
            <a:r>
              <a:t> </a:t>
            </a:r>
            <a:r>
              <a:t>If your discounted revenue is way too small (or negative), you likely forgot to divide </a:t>
            </a:r>
            <a:r>
              <a:rPr sz="1100">
                <a:latin typeface="Courier New"/>
              </a:rPr>
              <a:t>discount_pct</a:t>
            </a:r>
            <a:r>
              <a:t> by 100 — using </a:t>
            </a:r>
            <a:r>
              <a:rPr sz="1100">
                <a:latin typeface="Courier New"/>
              </a:rPr>
              <a:t>10</a:t>
            </a:r>
            <a:r>
              <a:t> directly instead of </a:t>
            </a:r>
            <a:r>
              <a:rPr sz="1100">
                <a:latin typeface="Courier New"/>
              </a:rPr>
              <a:t>0.10</a:t>
            </a:r>
            <a:r>
              <a:t> would compute </a:t>
            </a:r>
            <a:r>
              <a:rPr sz="1100">
                <a:latin typeface="Courier New"/>
              </a:rPr>
              <a:t>5000 × (1 - 10) = 5000 × -9 = -45,000</a:t>
            </a:r>
            <a:r>
              <a:t>, a silently wrong but not crashing answer. That's the trap Reflection Question 1 asks about.</a:t>
            </a:r>
          </a:p>
          <a:p>
            <a:r>
              <a:t> </a:t>
            </a:r>
          </a:p>
          <a:p>
            <a:r>
              <a:rPr b="1"/>
              <a:t>SLIDE NOTES</a:t>
            </a:r>
          </a:p>
          <a:p>
            <a:r>
              <a:t> </a:t>
            </a:r>
          </a:p>
          <a:p>
            <a:r>
              <a:t>The Danger of Silently Wrong Code — "Safe Failure" (a TypeError traceback that crashes immediately) contrasted with "Dangerous Success" (code that runs fine but silently prints "Discounted Revenue: -$45,000"), plus a boxed callout: "The Discount Trap."</a:t>
            </a:r>
          </a:p>
          <a:p>
            <a:r>
              <a:t> </a:t>
            </a:r>
          </a:p>
          <a:p>
            <a:r>
              <a:t>This is the FIX for Exercise 6, and it is the heart of Reflection Question 1.</a:t>
            </a:r>
          </a:p>
          <a:p>
            <a:r>
              <a:t> </a:t>
            </a:r>
          </a:p>
          <a:p>
            <a:r>
              <a:t>"On the left, code that crashes — easy to spot, easy to fix, because Python tells you immediately with a TypeError. That silence is exactly why this kind of bug is dangerous in real business code — nothing on screen tells you it's wrong unless you already know what the right answer should look like."</a:t>
            </a:r>
          </a:p>
          <a:p>
            <a:r>
              <a:t> </a:t>
            </a:r>
          </a:p>
          <a:p>
            <a:r>
              <a:t>Bridge directly into Reflection Question 1: "In Exercise 6, what would happen if you forgot to divide the discount percentage by 100 — used 10 instead of 0.10? Describe the error this causes — does Python crash, or does it produce a wrong answer silently?" The expected answer is exactly what this slide shows: Python does NOT crash — it silently computes a wildly wrong, often negative, discounted revenue.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SLIDE 8 — EXERCISE 6 — Full Pricing Calculator</a:t>
            </a:r>
          </a:p>
          <a:p>
            <a:r>
              <a:t> </a:t>
            </a:r>
          </a:p>
          <a:p>
            <a:r>
              <a:rPr b="1"/>
              <a:t>SAY:</a:t>
            </a:r>
            <a:r>
              <a:t> </a:t>
            </a:r>
            <a:r>
              <a:t>"Now the real tool — five inputs from the user, four calculations, a five-line formatted report."</a:t>
            </a:r>
          </a:p>
          <a:p>
            <a:r>
              <a:t> </a:t>
            </a:r>
          </a:p>
          <a:p>
            <a:r>
              <a:rPr b="1"/>
              <a:t>DO:</a:t>
            </a:r>
          </a:p>
          <a:p>
            <a:r>
              <a:rPr sz="1100">
                <a:latin typeface="Courier New"/>
              </a:rPr>
              <a:t># --- Exercise 6 ---</a:t>
            </a:r>
          </a:p>
          <a:p>
            <a:r>
              <a:rPr sz="1100">
                <a:latin typeface="Courier New"/>
              </a:rPr>
              <a:t>name          = input("Product name: ")</a:t>
            </a:r>
          </a:p>
          <a:p>
            <a:r>
              <a:rPr sz="1100">
                <a:latin typeface="Courier New"/>
              </a:rPr>
              <a:t>retail_price  = float(input("Retail price: "))</a:t>
            </a:r>
          </a:p>
          <a:p>
            <a:r>
              <a:rPr sz="1100">
                <a:latin typeface="Courier New"/>
              </a:rPr>
              <a:t>unit_cost     = float(input("Unit cost: "))</a:t>
            </a:r>
          </a:p>
          <a:p>
            <a:r>
              <a:rPr sz="1100">
                <a:latin typeface="Courier New"/>
              </a:rPr>
              <a:t>quantity_sold = int(input("Quantity sold: "))</a:t>
            </a:r>
          </a:p>
          <a:p>
            <a:r>
              <a:rPr sz="1100">
                <a:latin typeface="Courier New"/>
              </a:rPr>
              <a:t>discount_pct  = float(input("Discount percent (e.g., 10 for 10%): "))</a:t>
            </a:r>
          </a:p>
          <a:p>
            <a:r>
              <a:rPr sz="1100">
                <a:latin typeface="Courier New"/>
              </a:rPr>
              <a:t> </a:t>
            </a:r>
          </a:p>
          <a:p>
            <a:r>
              <a:rPr sz="1100">
                <a:latin typeface="Courier New"/>
              </a:rPr>
              <a:t>revenue             = retail_price * quantity_sold</a:t>
            </a:r>
          </a:p>
          <a:p>
            <a:r>
              <a:rPr sz="1100">
                <a:latin typeface="Courier New"/>
              </a:rPr>
              <a:t>discounted_revenue  = revenue * (1 - discount_pct / 100)</a:t>
            </a:r>
          </a:p>
          <a:p>
            <a:r>
              <a:rPr sz="1100">
                <a:latin typeface="Courier New"/>
              </a:rPr>
              <a:t>gross_margin        = (retail_price - unit_cost) / retail_price</a:t>
            </a:r>
          </a:p>
          <a:p>
            <a:r>
              <a:rPr sz="1100">
                <a:latin typeface="Courier New"/>
              </a:rPr>
              <a:t>net_profit          = discounted_revenue - (unit_cost * quantity_sold)</a:t>
            </a:r>
          </a:p>
          <a:p>
            <a:r>
              <a:rPr sz="1100">
                <a:latin typeface="Courier New"/>
              </a:rPr>
              <a:t> </a:t>
            </a:r>
          </a:p>
          <a:p>
            <a:r>
              <a:rPr sz="1100">
                <a:latin typeface="Courier New"/>
              </a:rPr>
              <a:t>print(f"Product:            {name}")</a:t>
            </a:r>
          </a:p>
          <a:p>
            <a:r>
              <a:rPr sz="1100">
                <a:latin typeface="Courier New"/>
              </a:rPr>
              <a:t>print(f"Revenue:             ${revenue:,.2f}")</a:t>
            </a:r>
          </a:p>
          <a:p>
            <a:r>
              <a:rPr sz="1100">
                <a:latin typeface="Courier New"/>
              </a:rPr>
              <a:t>print(f"Discounted Revenue:  ${discounted_revenue:,.2f}")</a:t>
            </a:r>
          </a:p>
          <a:p>
            <a:r>
              <a:rPr sz="1100">
                <a:latin typeface="Courier New"/>
              </a:rPr>
              <a:t>print(f"Gross Margin:        {gross_margin:.1%}")</a:t>
            </a:r>
          </a:p>
          <a:p>
            <a:r>
              <a:rPr sz="1100">
                <a:latin typeface="Courier New"/>
              </a:rPr>
              <a:t>print(f"Net Profit:          ${net_profit:,.2f}")</a:t>
            </a:r>
          </a:p>
          <a:p>
            <a:r>
              <a:t> </a:t>
            </a:r>
          </a:p>
          <a:p>
            <a:r>
              <a:rPr sz="1100">
                <a:latin typeface="Courier New"/>
              </a:rPr>
              <a:t>python3 calculator.py</a:t>
            </a:r>
          </a:p>
          <a:p>
            <a:r>
              <a:t>Enter: </a:t>
            </a:r>
            <a:r>
              <a:rPr sz="1100">
                <a:latin typeface="Courier New"/>
              </a:rPr>
              <a:t>Widget</a:t>
            </a:r>
            <a:r>
              <a:t>, </a:t>
            </a:r>
            <a:r>
              <a:rPr sz="1100">
                <a:latin typeface="Courier New"/>
              </a:rPr>
              <a:t>25</a:t>
            </a:r>
            <a:r>
              <a:t>, </a:t>
            </a:r>
            <a:r>
              <a:rPr sz="1100">
                <a:latin typeface="Courier New"/>
              </a:rPr>
              <a:t>15</a:t>
            </a:r>
            <a:r>
              <a:t>, </a:t>
            </a:r>
            <a:r>
              <a:rPr sz="1100">
                <a:latin typeface="Courier New"/>
              </a:rPr>
              <a:t>200</a:t>
            </a:r>
            <a:r>
              <a:t>, </a:t>
            </a:r>
            <a:r>
              <a:rPr sz="1100">
                <a:latin typeface="Courier New"/>
              </a:rPr>
              <a:t>10</a:t>
            </a:r>
            <a:r>
              <a:t>.</a:t>
            </a:r>
          </a:p>
          <a:p>
            <a:r>
              <a:t> </a:t>
            </a:r>
          </a:p>
          <a:p>
            <a:r>
              <a:rPr b="1"/>
              <a:t>CHECK:</a:t>
            </a:r>
          </a:p>
          <a:p>
            <a:r>
              <a:rPr sz="1100">
                <a:latin typeface="Courier New"/>
              </a:rPr>
              <a:t>Product name: Widget</a:t>
            </a:r>
          </a:p>
          <a:p>
            <a:r>
              <a:rPr sz="1100">
                <a:latin typeface="Courier New"/>
              </a:rPr>
              <a:t>Retail price: 25</a:t>
            </a:r>
          </a:p>
          <a:p>
            <a:r>
              <a:rPr sz="1100">
                <a:latin typeface="Courier New"/>
              </a:rPr>
              <a:t>Unit cost: 15</a:t>
            </a:r>
          </a:p>
          <a:p>
            <a:r>
              <a:rPr sz="1100">
                <a:latin typeface="Courier New"/>
              </a:rPr>
              <a:t>Quantity sold: 200</a:t>
            </a:r>
          </a:p>
          <a:p>
            <a:r>
              <a:rPr sz="1100">
                <a:latin typeface="Courier New"/>
              </a:rPr>
              <a:t>Discount percent (e.g., 10 for 10%): 10</a:t>
            </a:r>
          </a:p>
          <a:p>
            <a:r>
              <a:rPr sz="1100">
                <a:latin typeface="Courier New"/>
              </a:rPr>
              <a:t>Product:            Widget</a:t>
            </a:r>
          </a:p>
          <a:p>
            <a:r>
              <a:rPr sz="1100">
                <a:latin typeface="Courier New"/>
              </a:rPr>
              <a:t>Revenue:             $5,000.00</a:t>
            </a:r>
          </a:p>
          <a:p>
            <a:r>
              <a:rPr sz="1100">
                <a:latin typeface="Courier New"/>
              </a:rPr>
              <a:t>Discounted Revenue:  $4,500.00</a:t>
            </a:r>
          </a:p>
          <a:p>
            <a:r>
              <a:rPr sz="1100">
                <a:latin typeface="Courier New"/>
              </a:rPr>
              <a:t>Gross Margin:        40.0%</a:t>
            </a:r>
          </a:p>
          <a:p>
            <a:r>
              <a:rPr sz="1100">
                <a:latin typeface="Courier New"/>
              </a:rPr>
              <a:t>Net Profit:          $1,500.00</a:t>
            </a:r>
          </a:p>
          <a:p>
            <a:r>
              <a:t> </a:t>
            </a:r>
          </a:p>
          <a:p>
            <a:r>
              <a:rPr b="1"/>
              <a:t>SAY:</a:t>
            </a:r>
            <a:r>
              <a:t> </a:t>
            </a:r>
            <a:r>
              <a:t>"Trace it: revenue is </a:t>
            </a:r>
            <a:r>
              <a:rPr sz="1100">
                <a:latin typeface="Courier New"/>
              </a:rPr>
              <a:t>25 × 200 = 5,000</a:t>
            </a:r>
            <a:r>
              <a:t>. Discounted revenue applies the 10% discount: </a:t>
            </a:r>
            <a:r>
              <a:rPr sz="1100">
                <a:latin typeface="Courier New"/>
              </a:rPr>
              <a:t>5,000 × 0.90 = 4,500</a:t>
            </a:r>
            <a:r>
              <a:t>. Gross margin is </a:t>
            </a:r>
            <a:r>
              <a:rPr sz="1100">
                <a:latin typeface="Courier New"/>
              </a:rPr>
              <a:t>(25-15)/25 = 40.0%</a:t>
            </a:r>
            <a:r>
              <a:t>. Net profit subtracts total cost from discounted revenue: </a:t>
            </a:r>
            <a:r>
              <a:rPr sz="1100">
                <a:latin typeface="Courier New"/>
              </a:rPr>
              <a:t>4,500 − (15 × 200) = 4,500 − 3,000 = 1,500</a:t>
            </a:r>
            <a:r>
              <a:t>."</a:t>
            </a:r>
          </a:p>
          <a:p>
            <a:r>
              <a:t> </a:t>
            </a:r>
          </a:p>
          <a:p>
            <a:r>
              <a:rPr b="1"/>
              <a:t>FIX:</a:t>
            </a:r>
            <a:r>
              <a:t> </a:t>
            </a:r>
            <a:r>
              <a:t>If your discounted revenue is way too small (or negative), you likely forgot to divide </a:t>
            </a:r>
            <a:r>
              <a:rPr sz="1100">
                <a:latin typeface="Courier New"/>
              </a:rPr>
              <a:t>discount_pct</a:t>
            </a:r>
            <a:r>
              <a:t> by 100 — using </a:t>
            </a:r>
            <a:r>
              <a:rPr sz="1100">
                <a:latin typeface="Courier New"/>
              </a:rPr>
              <a:t>10</a:t>
            </a:r>
            <a:r>
              <a:t> directly instead of </a:t>
            </a:r>
            <a:r>
              <a:rPr sz="1100">
                <a:latin typeface="Courier New"/>
              </a:rPr>
              <a:t>0.10</a:t>
            </a:r>
            <a:r>
              <a:t> would compute </a:t>
            </a:r>
            <a:r>
              <a:rPr sz="1100">
                <a:latin typeface="Courier New"/>
              </a:rPr>
              <a:t>5000 × (1 - 10) = 5000 × -9 = -45,000</a:t>
            </a:r>
            <a:r>
              <a:t>, a silently wrong but not crashing answer. That's the trap Reflection Question 1 asks about.</a:t>
            </a:r>
          </a:p>
          <a:p>
            <a:r>
              <a:t> </a:t>
            </a:r>
          </a:p>
          <a:p>
            <a:r>
              <a:rPr b="1"/>
              <a:t>SLIDE NOTES</a:t>
            </a:r>
          </a:p>
          <a:p>
            <a:r>
              <a:t> </a:t>
            </a:r>
          </a:p>
          <a:p>
            <a:r>
              <a:t>Synthesis: The Interactive Pricing Calculator — a three-stage pipeline diagram: Stage 1 Inputs (Product: Widget, Price: $25, Cost: $15, Qty: 200, Discount: 10%) → Stage 2 Calculations (Revenue → Discounted Rev → Gross Margin → Net Profit, highlighted) → Stage 3 Output (the full formatted report).</a:t>
            </a:r>
          </a:p>
          <a:p>
            <a:r>
              <a:t> </a:t>
            </a:r>
          </a:p>
          <a:p>
            <a:r>
              <a:t>Run and enter exactly: Widget, 25, 15, 200, 10 (matching every value shown on this slide).</a:t>
            </a:r>
          </a:p>
          <a:p>
            <a:r>
              <a:t> </a:t>
            </a:r>
          </a:p>
          <a:p>
            <a:r>
              <a:t>Net profit subtracts total cost from discounted revenue: 4,500 − (15 × 200) = 4,500 − 3,000 = 1,500." Walk the room to make sure every student's terminal matches this exact output before moving on — this is the slide right before the discount-trap FIX slide, so flag that a wrong discount_pct entry is the most likely thing to break this exact chain.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SLIDE 9</a:t>
            </a:r>
            <a:endParaRPr lang="en-US" dirty="0"/>
          </a:p>
          <a:p>
            <a:r>
              <a:t> </a:t>
            </a:r>
          </a:p>
          <a:p>
            <a:r>
              <a:t>Summary Framework: The Operator Toolkit — a 2×2 grid: Formatting (`:,.2f` `:.1%`) = the presentation layer; Evaluation (`&gt; &lt; == and`) = the decision layer; Grouping (`// %`) = the logistics layer; Control (`( )`) = the priority layer, i.e. parentheses for overriding standard precedence.</a:t>
            </a:r>
          </a:p>
          <a:p>
            <a:r>
              <a:t> </a:t>
            </a:r>
          </a:p>
          <a:p>
            <a:r>
              <a:t>Use this as the lab's recap before the checklist. Walk all four quadrants and tie each back to an exercise students just finished: Formatting → Exercises 1, 2, and 6 (currency, decimals, percentages via `:,.2f` and `:.1%`). Evaluation → Exercises 3 and 4 (comparison operators and the logical `and`). Grouping → Exercises 5 and 7 (`//` and `%` for floor division and remainders). Control → parentheses for precedence — this one is not covered by a dedicated exercise this week, so mention it briefly as a forward-looking concept (operator precedence matters whenever you mix these families in one expression) rather than walking a worked example.</a:t>
            </a:r>
          </a:p>
          <a:p>
            <a:r>
              <a:t> </a:t>
            </a:r>
          </a:p>
          <a:p>
            <a:r>
              <a:rPr b="1"/>
              <a:t>SAY (wrap-up line):</a:t>
            </a:r>
            <a:r>
              <a:t> "Four layers, one toolkit: formatting makes numbers readable, evaluation makes decisions, grouping solves logistics problems, and parentheses make sure Python evaluates your business rule the way you actually mean it." Transition into the submission checklist next.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SLIDE 10 — REFLECTION QUESTIONS</a:t>
            </a:r>
          </a:p>
          <a:p>
            <a:r>
              <a:t> </a:t>
            </a:r>
          </a:p>
          <a:p>
            <a:r>
              <a:rPr b="1"/>
              <a:t>REFLECTION QUESTIONS</a:t>
            </a:r>
          </a:p>
          <a:p>
            <a:r>
              <a:rPr b="1"/>
              <a:t>DO:</a:t>
            </a:r>
            <a:r>
              <a:t> </a:t>
            </a:r>
            <a:r>
              <a:t>Answer honestly:</a:t>
            </a:r>
          </a:p>
          <a:p>
            <a:r>
              <a:t>1. In Exercise 6, what would happen if you forgot to divide the discount percentage by 100 — used </a:t>
            </a:r>
            <a:r>
              <a:rPr sz="1100">
                <a:latin typeface="Courier New"/>
              </a:rPr>
              <a:t>10</a:t>
            </a:r>
            <a:r>
              <a:t> instead of </a:t>
            </a:r>
            <a:r>
              <a:rPr sz="1100">
                <a:latin typeface="Courier New"/>
              </a:rPr>
              <a:t>0.10</a:t>
            </a:r>
            <a:r>
              <a:t>? Describe the error this causes — does Python crash, or does it produce a wrong answer silently?</a:t>
            </a:r>
          </a:p>
          <a:p>
            <a:r>
              <a:t>2. The modulo operator (</a:t>
            </a:r>
            <a:r>
              <a:rPr sz="1100">
                <a:latin typeface="Courier New"/>
              </a:rPr>
              <a:t>%</a:t>
            </a:r>
            <a:r>
              <a:t>) might seem obscure, but Exercise 7 shows it solving a real logistics problem. Describe another business scenario where you'd need to know both "how many full groups" and "how many are left over."</a:t>
            </a:r>
          </a:p>
          <a:p>
            <a:r>
              <a:t>3. Looking back at Modules 01–04, you've gone from "what is a computer" to writing a working pricing calculator that handles user input and produces formatted financial output. What concept from these four modules do you feel least confident about, and what would help you strengthen it?</a:t>
            </a:r>
          </a:p>
          <a:p>
            <a:r>
              <a:t> </a:t>
            </a:r>
          </a:p>
          <a:p>
            <a:r>
              <a:rPr b="1"/>
              <a:t>CHECK:</a:t>
            </a:r>
            <a:r>
              <a:t> </a:t>
            </a:r>
            <a:r>
              <a:t>Question 1's answer should be specific: Python does </a:t>
            </a:r>
            <a:r>
              <a:rPr b="1"/>
              <a:t>not</a:t>
            </a:r>
            <a:r>
              <a:t> crash — it silently computes a wildly wrong (often negative) discounted revenue. That silence is precisely why this kind of bug is dangerous in real business code.</a:t>
            </a:r>
          </a:p>
          <a:p>
            <a:r>
              <a:t> </a:t>
            </a:r>
          </a:p>
          <a:p>
            <a:r>
              <a:rPr b="1"/>
              <a:t>SUBMISSION CHECKLIST</a:t>
            </a:r>
          </a:p>
          <a:p>
            <a:r>
              <a:t>• [ ] </a:t>
            </a:r>
            <a:r>
              <a:rPr sz="1100">
                <a:latin typeface="Courier New"/>
              </a:rPr>
              <a:t>calculator.py</a:t>
            </a:r>
            <a:r>
              <a:t> — filename matches exactly, lowercase</a:t>
            </a:r>
          </a:p>
          <a:p>
            <a:r>
              <a:t>• [ ] All exercises 1–7 present as one runnable script</a:t>
            </a:r>
          </a:p>
          <a:p>
            <a:r>
              <a:t>• [ ] Each exercise marked with a </a:t>
            </a:r>
            <a:r>
              <a:rPr sz="1100">
                <a:latin typeface="Courier New"/>
              </a:rPr>
              <a:t># --- Exercise N ---</a:t>
            </a:r>
            <a:r>
              <a:t> comment</a:t>
            </a:r>
          </a:p>
          <a:p>
            <a:r>
              <a:t>• [ ] All numeric output uses appropriate f-string format specs (</a:t>
            </a:r>
            <a:r>
              <a:rPr sz="1100">
                <a:latin typeface="Courier New"/>
              </a:rPr>
              <a:t>:,.2f</a:t>
            </a:r>
            <a:r>
              <a:t>, </a:t>
            </a:r>
            <a:r>
              <a:rPr sz="1100">
                <a:latin typeface="Courier New"/>
              </a:rPr>
              <a:t>:.1%</a:t>
            </a:r>
            <a:r>
              <a:t>, etc.)</a:t>
            </a:r>
          </a:p>
          <a:p>
            <a:r>
              <a:t>• [ ] Three reflection questions answered honestly</a:t>
            </a:r>
          </a:p>
          <a:p>
            <a:r>
              <a:t>• [ ] Submitted to Canvas</a:t>
            </a:r>
          </a:p>
          <a:p>
            <a:r>
              <a:t> </a:t>
            </a:r>
          </a:p>
          <a:p>
            <a:r>
              <a:rPr b="1"/>
              <a:t>SLIDE NOTES</a:t>
            </a:r>
          </a:p>
          <a:p>
            <a:r>
              <a:t> </a:t>
            </a:r>
          </a:p>
          <a:p>
            <a:r>
              <a:t>Lab Submission Checklist — five checked items: script named exactly calculator.py; Exercises 1–7 in one runnable script marked sequentially with `# --- Exercise N ---`; all numeric outputs use appropriate f-string format specs; answer the 3 reflection questions truthfully (Silent errors, Modulo, Weakest concept); submit finalized script to Canvas.</a:t>
            </a:r>
          </a:p>
          <a:p>
            <a:r>
              <a:t> </a:t>
            </a:r>
          </a:p>
          <a:p>
            <a:r>
              <a:t>Walk the checklist item by item exactly as shown: (1) calculator.py — filename matches exactly, lowercase. (2) All exercises 1–7 present as one runnable script. (3) Each exercise marked with a `# --- Exercise N ---` comment. (4) All numeric output uses appropriate f-string format specs (`:,.2f`, `:.1%`, etc.) — spot-check that students did not hardcode formatted strings by hand. (5) Three reflection questions answered honestly. (6) Submitted to Canvas.</a:t>
            </a:r>
          </a:p>
          <a:p>
            <a:r>
              <a:t> </a:t>
            </a:r>
          </a:p>
          <a:p>
            <a:r>
              <a:t>Describe the error this causes — does Python crash, or does it produce a wrong answer silently?" — this is the "Silent errors" checklist item; the expected answer is the discount-trap slide from earlier: no crash, silently wrong negative revenue.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1370</Words>
  <Application>Microsoft Macintosh PowerPoint</Application>
  <PresentationFormat>Custom</PresentationFormat>
  <Paragraphs>91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Markum Reed</cp:lastModifiedBy>
  <cp:revision>5</cp:revision>
  <dcterms:created xsi:type="dcterms:W3CDTF">2006-08-16T00:00:00Z</dcterms:created>
  <dcterms:modified xsi:type="dcterms:W3CDTF">2026-09-14T18:26:46Z</dcterms:modified>
</cp:coreProperties>
</file>